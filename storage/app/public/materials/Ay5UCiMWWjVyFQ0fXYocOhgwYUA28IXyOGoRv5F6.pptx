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4"/>
  </p:notesMasterIdLst>
  <p:sldIdLst>
    <p:sldId id="265" r:id="rId2"/>
    <p:sldId id="391" r:id="rId3"/>
    <p:sldId id="383" r:id="rId4"/>
    <p:sldId id="401" r:id="rId5"/>
    <p:sldId id="384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7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66" r:id="rId41"/>
    <p:sldId id="438" r:id="rId42"/>
    <p:sldId id="439" r:id="rId43"/>
    <p:sldId id="440" r:id="rId44"/>
    <p:sldId id="441" r:id="rId45"/>
    <p:sldId id="442" r:id="rId46"/>
    <p:sldId id="443" r:id="rId47"/>
    <p:sldId id="444" r:id="rId48"/>
    <p:sldId id="445" r:id="rId49"/>
    <p:sldId id="446" r:id="rId50"/>
    <p:sldId id="447" r:id="rId51"/>
    <p:sldId id="448" r:id="rId52"/>
    <p:sldId id="449" r:id="rId53"/>
    <p:sldId id="450" r:id="rId54"/>
    <p:sldId id="451" r:id="rId55"/>
    <p:sldId id="452" r:id="rId56"/>
    <p:sldId id="453" r:id="rId57"/>
    <p:sldId id="454" r:id="rId58"/>
    <p:sldId id="455" r:id="rId59"/>
    <p:sldId id="456" r:id="rId60"/>
    <p:sldId id="457" r:id="rId61"/>
    <p:sldId id="458" r:id="rId62"/>
    <p:sldId id="459" r:id="rId63"/>
    <p:sldId id="460" r:id="rId64"/>
    <p:sldId id="461" r:id="rId65"/>
    <p:sldId id="462" r:id="rId66"/>
    <p:sldId id="463" r:id="rId67"/>
    <p:sldId id="467" r:id="rId68"/>
    <p:sldId id="464" r:id="rId69"/>
    <p:sldId id="465" r:id="rId70"/>
    <p:sldId id="469" r:id="rId71"/>
    <p:sldId id="468" r:id="rId72"/>
    <p:sldId id="292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  <a:srgbClr val="CE3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623" autoAdjust="0"/>
  </p:normalViewPr>
  <p:slideViewPr>
    <p:cSldViewPr snapToGrid="0" snapToObjects="1">
      <p:cViewPr varScale="1">
        <p:scale>
          <a:sx n="68" d="100"/>
          <a:sy n="68" d="100"/>
        </p:scale>
        <p:origin x="1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4F789-0FA7-3E4C-A14F-CA174F2AAB0F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1293E-4221-5544-A7A1-3EABF6038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9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5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5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9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3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5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9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3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00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6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3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1F45B-7A2E-5840-9AA8-B06A2BE2A13C}" type="datetimeFigureOut">
              <a:rPr lang="en-US" smtClean="0"/>
              <a:t>16-Jul-20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Dr</a:t>
            </a:r>
            <a:r>
              <a:rPr lang="en-US" dirty="0"/>
              <a:t> </a:t>
            </a:r>
            <a:r>
              <a:rPr lang="en-US" dirty="0" err="1"/>
              <a:t>Azwan</a:t>
            </a:r>
            <a:r>
              <a:rPr lang="en-US" dirty="0"/>
              <a:t> &amp; </a:t>
            </a:r>
            <a:r>
              <a:rPr lang="en-US" dirty="0" err="1"/>
              <a:t>Dr</a:t>
            </a:r>
            <a:r>
              <a:rPr lang="en-US" dirty="0"/>
              <a:t> </a:t>
            </a:r>
            <a:r>
              <a:rPr lang="en-US" dirty="0" err="1"/>
              <a:t>Suryanti</a:t>
            </a:r>
            <a:r>
              <a:rPr lang="en-US" dirty="0"/>
              <a:t>,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54429-1FE3-514D-B3EB-415AE22A08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-9236"/>
            <a:ext cx="353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Dr</a:t>
            </a:r>
            <a:r>
              <a:rPr lang="en-US" sz="1400" dirty="0"/>
              <a:t> </a:t>
            </a:r>
            <a:r>
              <a:rPr lang="en-US" sz="1400" dirty="0" err="1"/>
              <a:t>Azwan</a:t>
            </a:r>
            <a:r>
              <a:rPr lang="en-US" sz="1400" dirty="0"/>
              <a:t> &amp; </a:t>
            </a:r>
            <a:r>
              <a:rPr lang="en-US" sz="1400" dirty="0" err="1"/>
              <a:t>Dr</a:t>
            </a:r>
            <a:r>
              <a:rPr lang="en-US" sz="1400" dirty="0"/>
              <a:t> </a:t>
            </a:r>
            <a:r>
              <a:rPr lang="en-US" sz="1400" dirty="0" err="1"/>
              <a:t>Suryanti</a:t>
            </a:r>
            <a:r>
              <a:rPr lang="en-US" sz="1400" dirty="0"/>
              <a:t>, Faculty of Computing</a:t>
            </a:r>
          </a:p>
        </p:txBody>
      </p:sp>
    </p:spTree>
    <p:extLst>
      <p:ext uri="{BB962C8B-B14F-4D97-AF65-F5344CB8AC3E}">
        <p14:creationId xmlns:p14="http://schemas.microsoft.com/office/powerpoint/2010/main" val="183779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3418" y="2499106"/>
            <a:ext cx="5116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Chapter 5: </a:t>
            </a:r>
            <a:r>
              <a:rPr lang="en-US" sz="2800">
                <a:solidFill>
                  <a:schemeClr val="bg1"/>
                </a:solidFill>
              </a:rPr>
              <a:t>Regular Expression</a:t>
            </a:r>
            <a:endParaRPr lang="en-US" sz="28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83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in this Chapter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know what is regular expression</a:t>
            </a:r>
          </a:p>
          <a:p>
            <a:r>
              <a:rPr lang="en-US" dirty="0"/>
              <a:t>To know what is Strings and Languages</a:t>
            </a:r>
          </a:p>
          <a:p>
            <a:r>
              <a:rPr lang="en-US" dirty="0"/>
              <a:t>To know how to implement Finite Specification of Languages</a:t>
            </a:r>
          </a:p>
          <a:p>
            <a:r>
              <a:rPr lang="en-US" dirty="0"/>
              <a:t>To implement Regular Sets and Expression</a:t>
            </a:r>
          </a:p>
          <a:p>
            <a:r>
              <a:rPr lang="en-US" dirty="0"/>
              <a:t>Will not focus on the time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70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Regular Expression (regex)?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7985961" cy="4584800"/>
          </a:xfrm>
        </p:spPr>
        <p:txBody>
          <a:bodyPr>
            <a:normAutofit/>
          </a:bodyPr>
          <a:lstStyle/>
          <a:p>
            <a:r>
              <a:rPr lang="en-US" dirty="0"/>
              <a:t>Language </a:t>
            </a:r>
            <a:r>
              <a:rPr lang="en-US" dirty="0">
                <a:sym typeface="Wingdings" panose="05000000000000000000" pitchFamily="2" charset="2"/>
              </a:rPr>
              <a:t> Regex</a:t>
            </a:r>
            <a:endParaRPr lang="en-US" dirty="0"/>
          </a:p>
          <a:p>
            <a:r>
              <a:rPr lang="en-US" dirty="0"/>
              <a:t>A special text string for describing a search pattern in a code, also to write a code</a:t>
            </a:r>
          </a:p>
          <a:p>
            <a:r>
              <a:rPr lang="en-US" dirty="0"/>
              <a:t>Useful in extracting information from text such as code, log files, spreadsheets, or even documents. </a:t>
            </a:r>
          </a:p>
          <a:p>
            <a:r>
              <a:rPr lang="en-US" dirty="0"/>
              <a:t>Used on a wide range of platforms and programming environments.</a:t>
            </a:r>
          </a:p>
          <a:p>
            <a:r>
              <a:rPr lang="en-US" dirty="0"/>
              <a:t>everything is essentially a character, and we</a:t>
            </a:r>
            <a:r>
              <a:rPr lang="en-US" i="1" dirty="0"/>
              <a:t> </a:t>
            </a:r>
            <a:r>
              <a:rPr lang="en-US" dirty="0"/>
              <a:t>writing patterns to match a specific sequence of characters (also known as a string)</a:t>
            </a:r>
          </a:p>
        </p:txBody>
      </p:sp>
    </p:spTree>
    <p:extLst>
      <p:ext uri="{BB962C8B-B14F-4D97-AF65-F5344CB8AC3E}">
        <p14:creationId xmlns:p14="http://schemas.microsoft.com/office/powerpoint/2010/main" val="418970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Regular Expression (regex)?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6"/>
            <a:ext cx="7985961" cy="455561"/>
          </a:xfrm>
        </p:spPr>
        <p:txBody>
          <a:bodyPr>
            <a:normAutofit fontScale="92500"/>
          </a:bodyPr>
          <a:lstStyle/>
          <a:p>
            <a:r>
              <a:rPr lang="en-US" dirty="0">
                <a:sym typeface="Wingdings" panose="05000000000000000000" pitchFamily="2" charset="2"/>
              </a:rPr>
              <a:t>Ex: the regular expression to search for email address.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10" y="2358555"/>
            <a:ext cx="6872435" cy="327259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28650" y="2964581"/>
            <a:ext cx="7985961" cy="35709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They are a powerful way to find and replace strings that take a defined format.</a:t>
            </a:r>
          </a:p>
          <a:p>
            <a:r>
              <a:rPr lang="en-US" sz="2000" dirty="0"/>
              <a:t>For example, regular expressions can be used to parse dates, </a:t>
            </a:r>
            <a:r>
              <a:rPr lang="en-US" sz="2000" dirty="0" err="1"/>
              <a:t>urls</a:t>
            </a:r>
            <a:r>
              <a:rPr lang="en-US" sz="2000" dirty="0"/>
              <a:t> and email addresses, log files, configuration files, command line switches or programming scripts</a:t>
            </a:r>
          </a:p>
          <a:p>
            <a:r>
              <a:rPr lang="en-US" sz="2000" dirty="0"/>
              <a:t>Regex: Rules FSM </a:t>
            </a:r>
            <a:r>
              <a:rPr lang="en-US" sz="2000" dirty="0">
                <a:sym typeface="Wingdings" panose="05000000000000000000" pitchFamily="2" charset="2"/>
              </a:rPr>
              <a:t> Language  Regex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  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Regex consist of symbols/letters/characters, alphabet and string/word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78" y="4818061"/>
            <a:ext cx="4705408" cy="1057805"/>
          </a:xfrm>
          <a:prstGeom prst="rect">
            <a:avLst/>
          </a:prstGeom>
          <a:ln w="25400" cmpd="sng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8968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Alphabet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97" y="1430989"/>
            <a:ext cx="8828371" cy="210148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Symbols</a:t>
            </a:r>
            <a:r>
              <a:rPr lang="en-US" dirty="0"/>
              <a:t> / Letters / Characters </a:t>
            </a:r>
            <a:r>
              <a:rPr lang="en-US" dirty="0">
                <a:sym typeface="Wingdings" panose="05000000000000000000" pitchFamily="2" charset="2"/>
              </a:rPr>
              <a:t> a single element of the alphabets that has a unique meaning; i.e.: symbol A and B have different meanings</a:t>
            </a:r>
          </a:p>
          <a:p>
            <a:r>
              <a:rPr lang="en-US" dirty="0">
                <a:solidFill>
                  <a:srgbClr val="FF0000"/>
                </a:solidFill>
              </a:rPr>
              <a:t>Alphabet </a:t>
            </a:r>
            <a:r>
              <a:rPr lang="en-US" dirty="0">
                <a:sym typeface="Wingdings" panose="05000000000000000000" pitchFamily="2" charset="2"/>
              </a:rPr>
              <a:t> denoted by </a:t>
            </a:r>
            <a:r>
              <a:rPr lang="en-US" b="1" dirty="0">
                <a:solidFill>
                  <a:srgbClr val="0000CC"/>
                </a:solidFill>
                <a:latin typeface="Symbol"/>
                <a:cs typeface="Symbol"/>
              </a:rPr>
              <a:t> </a:t>
            </a:r>
            <a:r>
              <a:rPr lang="en-US" dirty="0"/>
              <a:t>is a finite set, whose elements are symbols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59" y="3399855"/>
            <a:ext cx="7528623" cy="1890166"/>
          </a:xfrm>
          <a:prstGeom prst="rect">
            <a:avLst/>
          </a:prstGeom>
          <a:ln w="15875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59" y="5370095"/>
            <a:ext cx="7528623" cy="1032945"/>
          </a:xfrm>
          <a:prstGeom prst="rect">
            <a:avLst/>
          </a:prstGeom>
          <a:ln w="158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5317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Alphabet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97" y="1430990"/>
            <a:ext cx="8828371" cy="9704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/ Word </a:t>
            </a:r>
            <a:r>
              <a:rPr lang="en-US" dirty="0">
                <a:sym typeface="Wingdings" panose="05000000000000000000" pitchFamily="2" charset="2"/>
              </a:rPr>
              <a:t> a finite sequence of symbols from alphabets, and written without punctuation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7" y="2401456"/>
            <a:ext cx="8317490" cy="744333"/>
          </a:xfrm>
          <a:prstGeom prst="rect">
            <a:avLst/>
          </a:prstGeom>
          <a:solidFill>
            <a:schemeClr val="accent2"/>
          </a:solidFill>
          <a:ln w="15875">
            <a:solidFill>
              <a:srgbClr val="FF0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843699" y="3371922"/>
            <a:ext cx="3024635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355600" algn="l"/>
                <a:tab pos="1841500" algn="l"/>
              </a:tabLst>
            </a:pPr>
            <a:r>
              <a:rPr lang="en-US" sz="2800" b="1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lang="en-US" sz="2800" baseline="-25000" dirty="0">
                <a:solidFill>
                  <a:srgbClr val="0000CC"/>
                </a:solidFill>
                <a:cs typeface="Symbol"/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 = {a, b, c, 1, 2, 3}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468" y="3989255"/>
            <a:ext cx="8775063" cy="2285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b="1" spc="-5" dirty="0">
                <a:solidFill>
                  <a:srgbClr val="C00000"/>
                </a:solidFill>
                <a:cs typeface="Calibri"/>
              </a:rPr>
              <a:t>Alphabet </a:t>
            </a:r>
            <a:r>
              <a:rPr lang="en-US" sz="2400" b="1" dirty="0">
                <a:cs typeface="Calibri"/>
              </a:rPr>
              <a:t>C </a:t>
            </a:r>
            <a:r>
              <a:rPr lang="en-US" sz="2400" b="1" spc="-5" dirty="0">
                <a:cs typeface="Calibri"/>
              </a:rPr>
              <a:t>with </a:t>
            </a:r>
            <a:r>
              <a:rPr lang="en-US" sz="2400" b="1" dirty="0">
                <a:cs typeface="Calibri"/>
              </a:rPr>
              <a:t>6 units of</a:t>
            </a:r>
            <a:r>
              <a:rPr lang="en-US" sz="2400" b="1" spc="10" dirty="0">
                <a:cs typeface="Calibri"/>
              </a:rPr>
              <a:t> </a:t>
            </a:r>
            <a:r>
              <a:rPr lang="en-US" sz="2400" b="1" spc="-10" dirty="0">
                <a:solidFill>
                  <a:srgbClr val="C00000"/>
                </a:solidFill>
                <a:cs typeface="Calibri"/>
              </a:rPr>
              <a:t>symbols</a:t>
            </a:r>
            <a:endParaRPr lang="en-US" sz="2400" dirty="0"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865"/>
              </a:spcBef>
            </a:pPr>
            <a:r>
              <a:rPr lang="en-US" sz="2400" b="1" dirty="0">
                <a:cs typeface="Calibri"/>
              </a:rPr>
              <a:t>An </a:t>
            </a:r>
            <a:r>
              <a:rPr lang="en-US" sz="2400" b="1" spc="-20" dirty="0">
                <a:cs typeface="Calibri"/>
              </a:rPr>
              <a:t>example </a:t>
            </a:r>
            <a:r>
              <a:rPr lang="en-US" sz="2400" b="1" dirty="0">
                <a:cs typeface="Calibri"/>
              </a:rPr>
              <a:t>of a </a:t>
            </a:r>
            <a:r>
              <a:rPr lang="en-US" sz="2400" b="1" spc="-20" dirty="0">
                <a:cs typeface="Calibri"/>
              </a:rPr>
              <a:t>word </a:t>
            </a:r>
            <a:r>
              <a:rPr lang="en-US" sz="2400" b="1" dirty="0">
                <a:cs typeface="Calibri"/>
              </a:rPr>
              <a:t>/ </a:t>
            </a:r>
            <a:r>
              <a:rPr lang="en-US" sz="2400" b="1" spc="-5" dirty="0">
                <a:cs typeface="Calibri"/>
              </a:rPr>
              <a:t>string </a:t>
            </a:r>
            <a:r>
              <a:rPr lang="en-US" sz="2400" b="1" spc="-15" dirty="0">
                <a:cs typeface="Calibri"/>
              </a:rPr>
              <a:t>from </a:t>
            </a:r>
            <a:r>
              <a:rPr lang="en-US" sz="2400" b="1" dirty="0">
                <a:cs typeface="Calibri"/>
              </a:rPr>
              <a:t>the  </a:t>
            </a:r>
            <a:r>
              <a:rPr lang="en-US" sz="2400" b="1" spc="-5" dirty="0">
                <a:cs typeface="Calibri"/>
              </a:rPr>
              <a:t>alphabet </a:t>
            </a:r>
            <a:r>
              <a:rPr lang="en-US" sz="2400" b="1" dirty="0">
                <a:cs typeface="Calibri"/>
              </a:rPr>
              <a:t>C : </a:t>
            </a:r>
            <a:r>
              <a:rPr lang="en-US" sz="2400" b="1" spc="-5" dirty="0" err="1">
                <a:solidFill>
                  <a:srgbClr val="0000CC"/>
                </a:solidFill>
                <a:cs typeface="Calibri"/>
              </a:rPr>
              <a:t>acca</a:t>
            </a:r>
            <a:r>
              <a:rPr lang="en-US" sz="2400" b="1" spc="-5" dirty="0">
                <a:cs typeface="Calibri"/>
              </a:rPr>
              <a:t>, </a:t>
            </a:r>
            <a:r>
              <a:rPr lang="en-US" sz="2400" b="1" spc="-10" dirty="0" err="1">
                <a:solidFill>
                  <a:srgbClr val="0000CC"/>
                </a:solidFill>
                <a:cs typeface="Calibri"/>
              </a:rPr>
              <a:t>baca</a:t>
            </a:r>
            <a:r>
              <a:rPr lang="en-US" sz="2400" b="1" spc="-10" dirty="0">
                <a:cs typeface="Calibri"/>
              </a:rPr>
              <a:t>, </a:t>
            </a:r>
            <a:r>
              <a:rPr lang="en-US" sz="2400" b="1" spc="-5" dirty="0">
                <a:solidFill>
                  <a:srgbClr val="0000CC"/>
                </a:solidFill>
                <a:cs typeface="Calibri"/>
              </a:rPr>
              <a:t>132</a:t>
            </a:r>
            <a:r>
              <a:rPr lang="en-US" sz="2400" b="1" spc="-5" dirty="0">
                <a:cs typeface="Calibri"/>
              </a:rPr>
              <a:t>, </a:t>
            </a:r>
            <a:r>
              <a:rPr lang="en-US" sz="2400" b="1" spc="-5" dirty="0">
                <a:solidFill>
                  <a:srgbClr val="0000CC"/>
                </a:solidFill>
                <a:cs typeface="Calibri"/>
              </a:rPr>
              <a:t>a12</a:t>
            </a:r>
            <a:r>
              <a:rPr lang="en-US" sz="2400" b="1" spc="-5" dirty="0">
                <a:cs typeface="Calibri"/>
              </a:rPr>
              <a:t>,</a:t>
            </a:r>
            <a:r>
              <a:rPr lang="en-US" sz="2400" b="1" spc="-25" dirty="0">
                <a:cs typeface="Calibri"/>
              </a:rPr>
              <a:t> etc.</a:t>
            </a:r>
            <a:endParaRPr lang="en-US" sz="2400" dirty="0">
              <a:cs typeface="Calibri"/>
            </a:endParaRPr>
          </a:p>
          <a:p>
            <a:pPr marL="355600" marR="935355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b="1" dirty="0">
                <a:solidFill>
                  <a:srgbClr val="C00000"/>
                </a:solidFill>
                <a:cs typeface="Calibri"/>
              </a:rPr>
              <a:t>String </a:t>
            </a:r>
            <a:r>
              <a:rPr lang="en-US" sz="2400" b="1" spc="-5" dirty="0" err="1">
                <a:solidFill>
                  <a:srgbClr val="0000CC"/>
                </a:solidFill>
                <a:cs typeface="Calibri"/>
              </a:rPr>
              <a:t>acca</a:t>
            </a:r>
            <a:r>
              <a:rPr lang="en-US" sz="2400" b="1" spc="-5" dirty="0">
                <a:solidFill>
                  <a:srgbClr val="0000CC"/>
                </a:solidFill>
                <a:cs typeface="Calibri"/>
              </a:rPr>
              <a:t> </a:t>
            </a:r>
            <a:r>
              <a:rPr lang="en-US" sz="2400" b="1" dirty="0">
                <a:cs typeface="Calibri"/>
              </a:rPr>
              <a:t>and </a:t>
            </a:r>
            <a:r>
              <a:rPr lang="en-US" sz="2400" b="1" spc="-5" dirty="0" err="1">
                <a:solidFill>
                  <a:srgbClr val="0000CC"/>
                </a:solidFill>
                <a:cs typeface="Calibri"/>
              </a:rPr>
              <a:t>caac</a:t>
            </a:r>
            <a:r>
              <a:rPr lang="en-US" sz="2400" b="1" spc="-5" dirty="0">
                <a:solidFill>
                  <a:srgbClr val="0000CC"/>
                </a:solidFill>
                <a:cs typeface="Calibri"/>
              </a:rPr>
              <a:t> </a:t>
            </a:r>
            <a:r>
              <a:rPr lang="en-US" sz="2400" b="1" spc="-25" dirty="0">
                <a:cs typeface="Calibri"/>
              </a:rPr>
              <a:t>have </a:t>
            </a:r>
            <a:r>
              <a:rPr lang="en-US" sz="2400" b="1" spc="-15" dirty="0">
                <a:cs typeface="Calibri"/>
              </a:rPr>
              <a:t>different  </a:t>
            </a:r>
            <a:r>
              <a:rPr lang="en-US" sz="2400" b="1" spc="-5" dirty="0">
                <a:cs typeface="Calibri"/>
              </a:rPr>
              <a:t>meanings.</a:t>
            </a:r>
            <a:endParaRPr lang="en-US" sz="2400" dirty="0"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b="1" dirty="0">
                <a:solidFill>
                  <a:srgbClr val="C00000"/>
                </a:solidFill>
                <a:cs typeface="Calibri"/>
              </a:rPr>
              <a:t>String </a:t>
            </a:r>
            <a:r>
              <a:rPr lang="en-US" sz="2400" b="1" spc="-5" dirty="0" err="1">
                <a:solidFill>
                  <a:srgbClr val="0000CC"/>
                </a:solidFill>
                <a:cs typeface="Calibri"/>
              </a:rPr>
              <a:t>acca</a:t>
            </a:r>
            <a:r>
              <a:rPr lang="en-US" sz="2400" b="1" spc="-5" dirty="0">
                <a:cs typeface="Calibri"/>
              </a:rPr>
              <a:t>, </a:t>
            </a:r>
            <a:r>
              <a:rPr lang="en-US" sz="2400" b="1" spc="-5" dirty="0">
                <a:solidFill>
                  <a:srgbClr val="0000CC"/>
                </a:solidFill>
                <a:cs typeface="Calibri"/>
              </a:rPr>
              <a:t>121</a:t>
            </a:r>
            <a:r>
              <a:rPr lang="en-US" sz="2400" b="1" spc="-5" dirty="0">
                <a:cs typeface="Calibri"/>
              </a:rPr>
              <a:t>, </a:t>
            </a:r>
            <a:r>
              <a:rPr lang="en-US" sz="2400" b="1" dirty="0" err="1">
                <a:solidFill>
                  <a:srgbClr val="0000CC"/>
                </a:solidFill>
                <a:cs typeface="Calibri"/>
              </a:rPr>
              <a:t>abba</a:t>
            </a:r>
            <a:r>
              <a:rPr lang="en-US" sz="2400" b="1" dirty="0">
                <a:solidFill>
                  <a:srgbClr val="0000CC"/>
                </a:solidFill>
                <a:cs typeface="Calibri"/>
              </a:rPr>
              <a:t> </a:t>
            </a:r>
            <a:r>
              <a:rPr lang="en-US" sz="2400" b="1" spc="-15" dirty="0">
                <a:cs typeface="Calibri"/>
              </a:rPr>
              <a:t>are</a:t>
            </a:r>
            <a:r>
              <a:rPr lang="en-US" sz="2400" b="1" spc="-70" dirty="0">
                <a:cs typeface="Calibri"/>
              </a:rPr>
              <a:t> </a:t>
            </a:r>
            <a:r>
              <a:rPr lang="en-US" sz="2400" b="1" spc="-5" dirty="0">
                <a:cs typeface="Calibri"/>
              </a:rPr>
              <a:t>palindromes.</a:t>
            </a:r>
            <a:endParaRPr lang="en-US" sz="2400" dirty="0">
              <a:cs typeface="Calibri"/>
            </a:endParaRPr>
          </a:p>
        </p:txBody>
      </p:sp>
      <p:sp>
        <p:nvSpPr>
          <p:cNvPr id="7" name="Line Callout 1 (No Border) 6"/>
          <p:cNvSpPr/>
          <p:nvPr/>
        </p:nvSpPr>
        <p:spPr>
          <a:xfrm>
            <a:off x="6288563" y="5715000"/>
            <a:ext cx="2397864" cy="728134"/>
          </a:xfrm>
          <a:prstGeom prst="callout1">
            <a:avLst>
              <a:gd name="adj1" fmla="val 18750"/>
              <a:gd name="adj2" fmla="val -8333"/>
              <a:gd name="adj3" fmla="val 41637"/>
              <a:gd name="adj4" fmla="val -3098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string with a sequence that reads the same backwards or forwards</a:t>
            </a:r>
          </a:p>
        </p:txBody>
      </p:sp>
      <p:sp>
        <p:nvSpPr>
          <p:cNvPr id="8" name="Oval 7"/>
          <p:cNvSpPr/>
          <p:nvPr/>
        </p:nvSpPr>
        <p:spPr>
          <a:xfrm>
            <a:off x="3877733" y="5833533"/>
            <a:ext cx="1693334" cy="440963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6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Alphabet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99" y="2249586"/>
            <a:ext cx="8280401" cy="13773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800" b="1" spc="-15" dirty="0">
                <a:cs typeface="Calibri"/>
              </a:rPr>
              <a:t>Important</a:t>
            </a:r>
            <a:r>
              <a:rPr lang="en-US" sz="2800" b="1" dirty="0">
                <a:cs typeface="Calibri"/>
              </a:rPr>
              <a:t> </a:t>
            </a:r>
            <a:r>
              <a:rPr lang="en-US" sz="2800" b="1" spc="-5" dirty="0">
                <a:cs typeface="Calibri"/>
              </a:rPr>
              <a:t>:</a:t>
            </a:r>
            <a:endParaRPr lang="en-US" sz="2800" dirty="0"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890"/>
              </a:spcBef>
            </a:pPr>
            <a:r>
              <a:rPr lang="en-US" sz="2400" spc="30" dirty="0">
                <a:solidFill>
                  <a:srgbClr val="0000CC"/>
                </a:solidFill>
                <a:latin typeface="Arial"/>
                <a:cs typeface="Arial"/>
              </a:rPr>
              <a:t>–</a:t>
            </a:r>
            <a:r>
              <a:rPr lang="en-US" sz="2400" b="1" spc="30" dirty="0">
                <a:solidFill>
                  <a:srgbClr val="FF0000"/>
                </a:solidFill>
                <a:cs typeface="Calibri"/>
              </a:rPr>
              <a:t>Strings</a:t>
            </a:r>
            <a:r>
              <a:rPr lang="en-US" sz="2400" b="1" spc="30" dirty="0">
                <a:solidFill>
                  <a:srgbClr val="0000CC"/>
                </a:solidFill>
                <a:cs typeface="Calibri"/>
              </a:rPr>
              <a:t> </a:t>
            </a:r>
            <a:r>
              <a:rPr lang="en-US" sz="2400" b="1" dirty="0">
                <a:cs typeface="Calibri"/>
              </a:rPr>
              <a:t>of </a:t>
            </a:r>
            <a:r>
              <a:rPr lang="en-US" sz="2400" b="1" spc="-20" dirty="0">
                <a:cs typeface="Calibri"/>
              </a:rPr>
              <a:t>characters </a:t>
            </a:r>
            <a:r>
              <a:rPr lang="en-US" sz="2400" b="1" spc="-15" dirty="0">
                <a:cs typeface="Calibri"/>
              </a:rPr>
              <a:t>are fundamental  </a:t>
            </a:r>
            <a:r>
              <a:rPr lang="en-US" sz="2400" b="1" dirty="0">
                <a:cs typeface="Calibri"/>
              </a:rPr>
              <a:t>building </a:t>
            </a:r>
            <a:r>
              <a:rPr lang="en-US" sz="2400" b="1" spc="-5" dirty="0">
                <a:cs typeface="Calibri"/>
              </a:rPr>
              <a:t>blocks </a:t>
            </a:r>
            <a:r>
              <a:rPr lang="en-US" sz="2400" b="1" dirty="0">
                <a:cs typeface="Calibri"/>
              </a:rPr>
              <a:t>in </a:t>
            </a:r>
            <a:r>
              <a:rPr lang="en-US" sz="2400" b="1" spc="-15" dirty="0">
                <a:cs typeface="Calibri"/>
              </a:rPr>
              <a:t>computer</a:t>
            </a:r>
            <a:r>
              <a:rPr lang="en-US" sz="2400" b="1" spc="-5" dirty="0">
                <a:cs typeface="Calibri"/>
              </a:rPr>
              <a:t> </a:t>
            </a:r>
            <a:r>
              <a:rPr lang="en-US" sz="2400" b="1" dirty="0">
                <a:cs typeface="Calibri"/>
              </a:rPr>
              <a:t>science.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978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Alphabet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535940" y="1508201"/>
            <a:ext cx="7924165" cy="2527486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94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String </a:t>
            </a:r>
            <a:r>
              <a:rPr sz="2800" b="1" spc="-15" dirty="0">
                <a:latin typeface="Calibri"/>
                <a:cs typeface="Calibri"/>
              </a:rPr>
              <a:t>over </a:t>
            </a:r>
            <a:r>
              <a:rPr sz="2800" b="1" dirty="0">
                <a:latin typeface="Calibri"/>
                <a:cs typeface="Calibri"/>
              </a:rPr>
              <a:t>an </a:t>
            </a:r>
            <a:r>
              <a:rPr sz="2800" b="1" spc="-5" dirty="0">
                <a:latin typeface="Calibri"/>
                <a:cs typeface="Calibri"/>
              </a:rPr>
              <a:t>alphabet </a:t>
            </a:r>
            <a:r>
              <a:rPr sz="2800" b="1" dirty="0">
                <a:latin typeface="Calibri"/>
                <a:cs typeface="Calibri"/>
              </a:rPr>
              <a:t>is a </a:t>
            </a:r>
            <a:r>
              <a:rPr sz="2800" b="1" spc="-15" dirty="0">
                <a:latin typeface="Calibri"/>
                <a:cs typeface="Calibri"/>
              </a:rPr>
              <a:t>finite </a:t>
            </a: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sequence of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symbols </a:t>
            </a:r>
            <a:r>
              <a:rPr sz="2800" b="1" spc="-15" dirty="0">
                <a:latin typeface="Calibri"/>
                <a:cs typeface="Calibri"/>
              </a:rPr>
              <a:t>from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5" dirty="0">
                <a:latin typeface="Calibri"/>
                <a:cs typeface="Calibri"/>
              </a:rPr>
              <a:t>alphabet,  </a:t>
            </a:r>
            <a:r>
              <a:rPr sz="2800" b="1" spc="-15" dirty="0">
                <a:latin typeface="Calibri"/>
                <a:cs typeface="Calibri"/>
              </a:rPr>
              <a:t>written </a:t>
            </a:r>
            <a:r>
              <a:rPr sz="2800" b="1" spc="-20" dirty="0">
                <a:latin typeface="Calibri"/>
                <a:cs typeface="Calibri"/>
              </a:rPr>
              <a:t>next to </a:t>
            </a:r>
            <a:r>
              <a:rPr sz="2800" b="1" dirty="0">
                <a:latin typeface="Calibri"/>
                <a:cs typeface="Calibri"/>
              </a:rPr>
              <a:t>one </a:t>
            </a:r>
            <a:r>
              <a:rPr sz="2800" b="1" spc="-5" dirty="0">
                <a:latin typeface="Calibri"/>
                <a:cs typeface="Calibri"/>
              </a:rPr>
              <a:t>another </a:t>
            </a:r>
            <a:r>
              <a:rPr sz="2800" b="1" dirty="0">
                <a:latin typeface="Calibri"/>
                <a:cs typeface="Calibri"/>
              </a:rPr>
              <a:t>and not  </a:t>
            </a:r>
            <a:r>
              <a:rPr sz="2800" b="1" spc="-20" dirty="0">
                <a:latin typeface="Calibri"/>
                <a:cs typeface="Calibri"/>
              </a:rPr>
              <a:t>separated </a:t>
            </a:r>
            <a:r>
              <a:rPr sz="2800" b="1" spc="-10" dirty="0">
                <a:latin typeface="Calibri"/>
                <a:cs typeface="Calibri"/>
              </a:rPr>
              <a:t>by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commas.</a:t>
            </a:r>
            <a:endParaRPr sz="2800" dirty="0">
              <a:latin typeface="Calibri"/>
              <a:cs typeface="Calibri"/>
            </a:endParaRPr>
          </a:p>
          <a:p>
            <a:pPr marL="436245">
              <a:lnSpc>
                <a:spcPts val="3354"/>
              </a:lnSpc>
              <a:spcBef>
                <a:spcPts val="30"/>
              </a:spcBef>
            </a:pPr>
            <a:r>
              <a:rPr sz="2800" b="1" dirty="0">
                <a:latin typeface="Calibri"/>
                <a:cs typeface="Calibri"/>
              </a:rPr>
              <a:t>E.g.:</a:t>
            </a:r>
            <a:endParaRPr sz="2800" dirty="0">
              <a:latin typeface="Calibri"/>
              <a:cs typeface="Calibri"/>
            </a:endParaRPr>
          </a:p>
          <a:p>
            <a:pPr marL="927100" marR="1143000">
              <a:lnSpc>
                <a:spcPts val="3600"/>
              </a:lnSpc>
              <a:spcBef>
                <a:spcPts val="114"/>
              </a:spcBef>
              <a:tabLst>
                <a:tab pos="1580515" algn="l"/>
                <a:tab pos="1841500" algn="l"/>
                <a:tab pos="2755900" algn="l"/>
                <a:tab pos="3670300" algn="l"/>
                <a:tab pos="4585335" algn="l"/>
                <a:tab pos="5499735" algn="l"/>
              </a:tabLst>
            </a:pPr>
            <a:r>
              <a:rPr sz="3000" b="1" spc="-10" dirty="0">
                <a:latin typeface="Calibri"/>
                <a:cs typeface="Calibri"/>
              </a:rPr>
              <a:t>Let	</a:t>
            </a:r>
            <a:r>
              <a:rPr sz="3000" b="1" spc="-5" dirty="0">
                <a:solidFill>
                  <a:srgbClr val="2931E9"/>
                </a:solidFill>
                <a:latin typeface="Symbol"/>
                <a:cs typeface="Symbol"/>
              </a:rPr>
              <a:t></a:t>
            </a:r>
            <a:r>
              <a:rPr sz="3000" b="1" spc="-5" dirty="0">
                <a:solidFill>
                  <a:srgbClr val="2931E9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= {0</a:t>
            </a:r>
            <a:r>
              <a:rPr lang="en-US" sz="3000" b="1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1}, </a:t>
            </a:r>
            <a:r>
              <a:rPr sz="3000" b="1" dirty="0">
                <a:latin typeface="Calibri"/>
                <a:cs typeface="Calibri"/>
              </a:rPr>
              <a:t>then </a:t>
            </a:r>
            <a:r>
              <a:rPr sz="3000" b="1" spc="-5" dirty="0">
                <a:latin typeface="Calibri"/>
                <a:cs typeface="Calibri"/>
              </a:rPr>
              <a:t>strings </a:t>
            </a:r>
            <a:r>
              <a:rPr sz="3000" b="1" spc="-15" dirty="0">
                <a:latin typeface="Calibri"/>
                <a:cs typeface="Calibri"/>
              </a:rPr>
              <a:t>over </a:t>
            </a:r>
            <a:r>
              <a:rPr sz="30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000" b="1" spc="-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are: 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0		1	00	01	10	11</a:t>
            </a:r>
            <a:r>
              <a:rPr sz="3000" b="1" spc="-20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…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432122" y="4002238"/>
            <a:ext cx="24180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1010</a:t>
            </a:r>
            <a:r>
              <a:rPr sz="3000" b="1" spc="-10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…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1110100111</a:t>
            </a:r>
            <a:r>
              <a:rPr sz="3000" b="1" spc="-95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…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1111111111</a:t>
            </a:r>
            <a:r>
              <a:rPr sz="3000" b="1" spc="-95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931E9"/>
                </a:solidFill>
                <a:latin typeface="Calibri"/>
                <a:cs typeface="Calibri"/>
              </a:rPr>
              <a:t>…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5703" y="4916587"/>
            <a:ext cx="12865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2931E9"/>
                </a:solidFill>
                <a:latin typeface="Calibri"/>
                <a:cs typeface="Calibri"/>
              </a:rPr>
              <a:t>and</a:t>
            </a:r>
            <a:r>
              <a:rPr sz="3000" b="1" spc="-70" dirty="0">
                <a:solidFill>
                  <a:srgbClr val="2931E9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2931E9"/>
                </a:solidFill>
                <a:latin typeface="Calibri"/>
                <a:cs typeface="Calibri"/>
              </a:rPr>
              <a:t>etc.</a:t>
            </a:r>
            <a:endParaRPr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241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0680" y="466166"/>
            <a:ext cx="4345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Length </a:t>
            </a:r>
            <a:r>
              <a:rPr spc="-5" dirty="0">
                <a:latin typeface="Arial"/>
                <a:cs typeface="Arial"/>
              </a:rPr>
              <a:t>of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90"/>
            <a:ext cx="7244080" cy="206628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2900">
              <a:lnSpc>
                <a:spcPct val="99600"/>
              </a:lnSpc>
              <a:spcBef>
                <a:spcPts val="1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latin typeface="Calibri"/>
                <a:cs typeface="Calibri"/>
              </a:rPr>
              <a:t>If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w </a:t>
            </a:r>
            <a:r>
              <a:rPr sz="3400" b="1" spc="-5" dirty="0">
                <a:latin typeface="Calibri"/>
                <a:cs typeface="Calibri"/>
              </a:rPr>
              <a:t>is a </a:t>
            </a:r>
            <a:r>
              <a:rPr sz="3400" b="1" spc="-10" dirty="0">
                <a:latin typeface="Calibri"/>
                <a:cs typeface="Calibri"/>
              </a:rPr>
              <a:t>string </a:t>
            </a:r>
            <a:r>
              <a:rPr sz="3400" b="1" spc="-15" dirty="0">
                <a:latin typeface="Calibri"/>
                <a:cs typeface="Calibri"/>
              </a:rPr>
              <a:t>over </a:t>
            </a:r>
            <a:r>
              <a:rPr sz="34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400" b="1" spc="-5" dirty="0">
                <a:latin typeface="Calibri"/>
                <a:cs typeface="Calibri"/>
              </a:rPr>
              <a:t>, the </a:t>
            </a:r>
            <a:r>
              <a:rPr sz="3400" b="1" spc="-10" dirty="0">
                <a:solidFill>
                  <a:srgbClr val="6F2F9F"/>
                </a:solidFill>
                <a:latin typeface="Calibri"/>
                <a:cs typeface="Calibri"/>
              </a:rPr>
              <a:t>length </a:t>
            </a:r>
            <a:r>
              <a:rPr sz="3400" b="1" spc="-5" dirty="0">
                <a:solidFill>
                  <a:srgbClr val="6F2F9F"/>
                </a:solidFill>
                <a:latin typeface="Calibri"/>
                <a:cs typeface="Calibri"/>
              </a:rPr>
              <a:t>of </a:t>
            </a:r>
            <a:r>
              <a:rPr sz="3400" b="1" spc="-135" dirty="0">
                <a:solidFill>
                  <a:srgbClr val="6F2F9F"/>
                </a:solidFill>
                <a:latin typeface="Calibri"/>
                <a:cs typeface="Calibri"/>
              </a:rPr>
              <a:t>w</a:t>
            </a:r>
            <a:r>
              <a:rPr sz="3400" b="1" spc="-135" dirty="0">
                <a:latin typeface="Calibri"/>
                <a:cs typeface="Calibri"/>
              </a:rPr>
              <a:t>,  </a:t>
            </a:r>
            <a:r>
              <a:rPr sz="3400" b="1" spc="-15" dirty="0">
                <a:latin typeface="Calibri"/>
                <a:cs typeface="Calibri"/>
              </a:rPr>
              <a:t>written </a:t>
            </a:r>
            <a:r>
              <a:rPr sz="3400" b="1" spc="-10" dirty="0">
                <a:solidFill>
                  <a:srgbClr val="6F2F9F"/>
                </a:solidFill>
                <a:latin typeface="Calibri"/>
                <a:cs typeface="Calibri"/>
              </a:rPr>
              <a:t>|w|, </a:t>
            </a:r>
            <a:r>
              <a:rPr sz="3400" b="1" spc="-5" dirty="0">
                <a:latin typeface="Calibri"/>
                <a:cs typeface="Calibri"/>
              </a:rPr>
              <a:t>is the number of </a:t>
            </a:r>
            <a:r>
              <a:rPr sz="3400" b="1" spc="-10" dirty="0">
                <a:latin typeface="Calibri"/>
                <a:cs typeface="Calibri"/>
              </a:rPr>
              <a:t>symbols  </a:t>
            </a:r>
            <a:r>
              <a:rPr sz="3400" b="1" spc="-15" dirty="0">
                <a:latin typeface="Calibri"/>
                <a:cs typeface="Calibri"/>
              </a:rPr>
              <a:t>that </a:t>
            </a:r>
            <a:r>
              <a:rPr sz="3400" b="1" spc="-5" dirty="0">
                <a:latin typeface="Calibri"/>
                <a:cs typeface="Calibri"/>
              </a:rPr>
              <a:t>it </a:t>
            </a:r>
            <a:r>
              <a:rPr sz="3400" b="1" spc="-15" dirty="0">
                <a:latin typeface="Calibri"/>
                <a:cs typeface="Calibri"/>
              </a:rPr>
              <a:t>contains.</a:t>
            </a:r>
            <a:endParaRPr sz="3400" dirty="0">
              <a:latin typeface="Calibri"/>
              <a:cs typeface="Calibri"/>
            </a:endParaRPr>
          </a:p>
          <a:p>
            <a:pPr marL="453390">
              <a:lnSpc>
                <a:spcPts val="3865"/>
              </a:lnSpc>
            </a:pPr>
            <a:r>
              <a:rPr sz="3400" b="1" dirty="0">
                <a:latin typeface="Calibri"/>
                <a:cs typeface="Calibri"/>
              </a:rPr>
              <a:t>E.g.:</a:t>
            </a:r>
            <a:endParaRPr sz="3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937948"/>
              </p:ext>
            </p:extLst>
          </p:nvPr>
        </p:nvGraphicFramePr>
        <p:xfrm>
          <a:off x="1529080" y="3659730"/>
          <a:ext cx="2929253" cy="2357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79">
                <a:tc>
                  <a:txBody>
                    <a:bodyPr/>
                    <a:lstStyle/>
                    <a:p>
                      <a:pPr marL="31750">
                        <a:lnSpc>
                          <a:spcPts val="3704"/>
                        </a:lnSpc>
                      </a:pPr>
                      <a:r>
                        <a:rPr sz="34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lang="el-GR" sz="3400" b="1" kern="1200" spc="-15" dirty="0">
                          <a:solidFill>
                            <a:srgbClr val="6F2F9F"/>
                          </a:solidFill>
                          <a:latin typeface="Calibri"/>
                          <a:ea typeface="+mn-ea"/>
                          <a:cs typeface="Calibri"/>
                        </a:rPr>
                        <a:t>λ</a:t>
                      </a:r>
                      <a:r>
                        <a:rPr sz="34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</a:t>
                      </a:r>
                      <a:endParaRPr sz="3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3704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704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20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4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|0|</a:t>
                      </a:r>
                      <a:endParaRPr sz="3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86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4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|1|</a:t>
                      </a:r>
                      <a:endParaRPr sz="3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6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400" b="1" spc="-15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|1010|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83">
                <a:tc>
                  <a:txBody>
                    <a:bodyPr/>
                    <a:lstStyle/>
                    <a:p>
                      <a:pPr marL="31750">
                        <a:lnSpc>
                          <a:spcPts val="3365"/>
                        </a:lnSpc>
                      </a:pPr>
                      <a:r>
                        <a:rPr sz="34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|001101|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65"/>
                        </a:lnSpc>
                      </a:pPr>
                      <a:r>
                        <a:rPr sz="3400" b="1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3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81661" y="2923647"/>
            <a:ext cx="181043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sz="3600" b="1" spc="-5" dirty="0">
                <a:solidFill>
                  <a:srgbClr val="2931E9"/>
                </a:solidFill>
                <a:latin typeface="Symbol"/>
                <a:cs typeface="Symbol"/>
              </a:rPr>
              <a:t></a:t>
            </a:r>
            <a:r>
              <a:rPr lang="en-US" sz="3600" b="1" spc="-5" dirty="0">
                <a:solidFill>
                  <a:srgbClr val="2931E9"/>
                </a:solidFill>
                <a:latin typeface="Times New Roman"/>
                <a:cs typeface="Times New Roman"/>
              </a:rPr>
              <a:t> </a:t>
            </a:r>
            <a:r>
              <a:rPr lang="en-US" sz="3600" b="1" dirty="0">
                <a:solidFill>
                  <a:srgbClr val="2931E9"/>
                </a:solidFill>
                <a:cs typeface="Calibri"/>
              </a:rPr>
              <a:t>= {0,1}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4789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041" y="466166"/>
            <a:ext cx="6203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Length of String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4005"/>
            <a:ext cx="6900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3120390" algn="l"/>
              </a:tabLst>
            </a:pP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15" dirty="0">
                <a:latin typeface="Calibri"/>
                <a:cs typeface="Calibri"/>
              </a:rPr>
              <a:t>set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of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strings,	</a:t>
            </a:r>
            <a:r>
              <a:rPr sz="3600" b="1" spc="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600" b="1" spc="5" dirty="0">
                <a:solidFill>
                  <a:srgbClr val="0000CC"/>
                </a:solidFill>
                <a:latin typeface="Calibri"/>
                <a:cs typeface="Calibri"/>
              </a:rPr>
              <a:t>*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{a</a:t>
            </a:r>
            <a:r>
              <a:rPr lang="en-US" sz="36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b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c}</a:t>
            </a:r>
            <a:r>
              <a:rPr sz="3600" b="1" spc="-1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includes: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356230"/>
            <a:ext cx="1322070" cy="160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length</a:t>
            </a:r>
            <a:r>
              <a:rPr sz="28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0: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length</a:t>
            </a:r>
            <a:r>
              <a:rPr sz="28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length</a:t>
            </a:r>
            <a:r>
              <a:rPr sz="28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2: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length</a:t>
            </a:r>
            <a:r>
              <a:rPr sz="28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3: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5415483"/>
            <a:ext cx="351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6F2F9F"/>
                </a:solidFill>
                <a:latin typeface="Calibri"/>
                <a:cs typeface="Calibri"/>
              </a:rPr>
              <a:t>…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775" y="2356230"/>
            <a:ext cx="4415155" cy="363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lang="el-GR" sz="2800" b="1" spc="-5" dirty="0">
                <a:solidFill>
                  <a:srgbClr val="6F2F9F"/>
                </a:solidFill>
                <a:latin typeface="Calibri"/>
                <a:cs typeface="Calibri"/>
              </a:rPr>
              <a:t>λ</a:t>
            </a:r>
            <a:endParaRPr sz="2800" b="1" spc="-5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  <a:tabLst>
                <a:tab pos="349885" algn="l"/>
                <a:tab pos="702310" algn="l"/>
              </a:tabLst>
            </a:pP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	b	c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70"/>
              </a:spcBef>
              <a:tabLst>
                <a:tab pos="525780" algn="l"/>
                <a:tab pos="673735" algn="l"/>
                <a:tab pos="702945" algn="l"/>
                <a:tab pos="731520" algn="l"/>
                <a:tab pos="1054735" algn="l"/>
                <a:tab pos="1348740" algn="l"/>
                <a:tab pos="1408430" algn="l"/>
                <a:tab pos="1464945" algn="l"/>
                <a:tab pos="1542415" algn="l"/>
                <a:tab pos="1984375" algn="l"/>
                <a:tab pos="2071370" algn="l"/>
                <a:tab pos="2157095" algn="l"/>
                <a:tab pos="2614295" algn="l"/>
                <a:tab pos="2662555" algn="l"/>
                <a:tab pos="2693035" algn="l"/>
                <a:tab pos="2776855" algn="l"/>
                <a:tab pos="2833370" algn="l"/>
                <a:tab pos="3115310" algn="l"/>
                <a:tab pos="3354704" algn="l"/>
                <a:tab pos="3413125" algn="l"/>
                <a:tab pos="3495040" algn="l"/>
                <a:tab pos="3525520" algn="l"/>
                <a:tab pos="3601720" algn="l"/>
                <a:tab pos="4103370" algn="l"/>
              </a:tabLst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b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ac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		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b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	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bb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b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		c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b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	cc 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aaa		aab		aac		aba				abb			abc 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aca		acb	acc	baa			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bab		bac  </a:t>
            </a:r>
            <a:r>
              <a:rPr sz="2800" b="1" spc="-5" dirty="0">
                <a:solidFill>
                  <a:srgbClr val="6F2F9F"/>
                </a:solidFill>
                <a:latin typeface="Calibri"/>
                <a:cs typeface="Calibri"/>
              </a:rPr>
              <a:t>bba			bbb			bbc		bca			bcb			bcc 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caa		cab	cac	cba		cbb	cbc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805"/>
              </a:lnSpc>
              <a:tabLst>
                <a:tab pos="646430" algn="l"/>
                <a:tab pos="1297305" algn="l"/>
              </a:tabLst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cca	</a:t>
            </a:r>
            <a:r>
              <a:rPr sz="2800" b="1" dirty="0">
                <a:solidFill>
                  <a:srgbClr val="6F2F9F"/>
                </a:solidFill>
                <a:latin typeface="Calibri"/>
                <a:cs typeface="Calibri"/>
              </a:rPr>
              <a:t>ccb	ccc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4100"/>
              </a:lnSpc>
            </a:pPr>
            <a:r>
              <a:rPr sz="3600" b="1" dirty="0">
                <a:solidFill>
                  <a:srgbClr val="6F2F9F"/>
                </a:solidFill>
                <a:latin typeface="Calibri"/>
                <a:cs typeface="Calibri"/>
              </a:rPr>
              <a:t>…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0633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792" y="466166"/>
            <a:ext cx="6365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Concatenation of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606118"/>
            <a:ext cx="7767320" cy="153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8300" marR="17780" indent="-342900">
              <a:lnSpc>
                <a:spcPct val="100299"/>
              </a:lnSpc>
              <a:spcBef>
                <a:spcPts val="9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300" b="1" dirty="0">
                <a:latin typeface="Calibri"/>
                <a:cs typeface="Calibri"/>
              </a:rPr>
              <a:t>If </a:t>
            </a:r>
            <a:r>
              <a:rPr sz="3300" b="1" spc="-15" dirty="0">
                <a:latin typeface="Calibri"/>
                <a:cs typeface="Calibri"/>
              </a:rPr>
              <a:t>we </a:t>
            </a:r>
            <a:r>
              <a:rPr sz="3300" b="1" spc="-20" dirty="0">
                <a:latin typeface="Calibri"/>
                <a:cs typeface="Calibri"/>
              </a:rPr>
              <a:t>have </a:t>
            </a:r>
            <a:r>
              <a:rPr sz="3300" b="1" spc="-5" dirty="0">
                <a:latin typeface="Calibri"/>
                <a:cs typeface="Calibri"/>
              </a:rPr>
              <a:t>string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3300" b="1" dirty="0">
                <a:latin typeface="Calibri"/>
                <a:cs typeface="Calibri"/>
              </a:rPr>
              <a:t>of </a:t>
            </a:r>
            <a:r>
              <a:rPr sz="3300" b="1" spc="-5" dirty="0">
                <a:latin typeface="Calibri"/>
                <a:cs typeface="Calibri"/>
              </a:rPr>
              <a:t>length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m </a:t>
            </a:r>
            <a:r>
              <a:rPr lang="en-US" sz="3300" b="1" dirty="0">
                <a:latin typeface="Calibri"/>
                <a:cs typeface="Calibri"/>
              </a:rPr>
              <a:t>,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and </a:t>
            </a:r>
            <a:r>
              <a:rPr sz="3300" b="1" spc="-5" dirty="0">
                <a:latin typeface="Calibri"/>
                <a:cs typeface="Calibri"/>
              </a:rPr>
              <a:t>string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y </a:t>
            </a:r>
            <a:r>
              <a:rPr sz="3300" b="1" dirty="0">
                <a:latin typeface="Calibri"/>
                <a:cs typeface="Calibri"/>
              </a:rPr>
              <a:t> of </a:t>
            </a:r>
            <a:r>
              <a:rPr sz="3300" b="1" spc="-5" dirty="0">
                <a:latin typeface="Calibri"/>
                <a:cs typeface="Calibri"/>
              </a:rPr>
              <a:t>length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3300" b="1" dirty="0">
                <a:latin typeface="Calibri"/>
                <a:cs typeface="Calibri"/>
              </a:rPr>
              <a:t>, the </a:t>
            </a:r>
            <a:r>
              <a:rPr sz="3300" b="1" spc="-15" dirty="0">
                <a:solidFill>
                  <a:srgbClr val="0000CC"/>
                </a:solidFill>
                <a:latin typeface="Calibri"/>
                <a:cs typeface="Calibri"/>
              </a:rPr>
              <a:t>concatenation </a:t>
            </a:r>
            <a:r>
              <a:rPr sz="3300" b="1" dirty="0">
                <a:latin typeface="Calibri"/>
                <a:cs typeface="Calibri"/>
              </a:rPr>
              <a:t>of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3300" b="1" dirty="0">
                <a:latin typeface="Calibri"/>
                <a:cs typeface="Calibri"/>
              </a:rPr>
              <a:t>and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y </a:t>
            </a:r>
            <a:r>
              <a:rPr sz="3300" b="1" dirty="0">
                <a:latin typeface="Calibri"/>
                <a:cs typeface="Calibri"/>
              </a:rPr>
              <a:t> </a:t>
            </a:r>
            <a:r>
              <a:rPr sz="3300" b="1" spc="-15" dirty="0">
                <a:latin typeface="Calibri"/>
                <a:cs typeface="Calibri"/>
              </a:rPr>
              <a:t>written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xy </a:t>
            </a:r>
            <a:r>
              <a:rPr sz="3300" b="1" dirty="0">
                <a:latin typeface="Calibri"/>
                <a:cs typeface="Calibri"/>
              </a:rPr>
              <a:t>is</a:t>
            </a:r>
            <a:r>
              <a:rPr sz="3300" b="1" spc="35" dirty="0">
                <a:latin typeface="Calibri"/>
                <a:cs typeface="Calibri"/>
              </a:rPr>
              <a:t> </a:t>
            </a:r>
            <a:r>
              <a:rPr sz="3300" b="1" spc="-10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15" baseline="-20202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33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r>
              <a:rPr sz="3300" b="1" spc="-10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15" baseline="-20202" dirty="0">
                <a:solidFill>
                  <a:srgbClr val="0000CC"/>
                </a:solidFill>
                <a:latin typeface="Calibri"/>
                <a:cs typeface="Calibri"/>
              </a:rPr>
              <a:t>m</a:t>
            </a:r>
            <a:r>
              <a:rPr sz="3300" b="1" spc="-10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r>
              <a:rPr sz="3300" b="1" spc="-15" baseline="-20202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33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r>
              <a:rPr sz="3300" b="1" spc="-10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r>
              <a:rPr sz="3300" b="1" spc="-15" baseline="-20202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3300" b="1" spc="-10" dirty="0">
                <a:latin typeface="Calibri"/>
                <a:cs typeface="Calibri"/>
              </a:rPr>
              <a:t>.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24276"/>
            <a:ext cx="12052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latin typeface="Calibri"/>
                <a:cs typeface="Calibri"/>
              </a:rPr>
              <a:t>E</a:t>
            </a:r>
            <a:r>
              <a:rPr sz="3700" b="1" spc="30" dirty="0">
                <a:latin typeface="Calibri"/>
                <a:cs typeface="Calibri"/>
              </a:rPr>
              <a:t>.</a:t>
            </a:r>
            <a:r>
              <a:rPr sz="3700" b="1" spc="-10" dirty="0">
                <a:latin typeface="Calibri"/>
                <a:cs typeface="Calibri"/>
              </a:rPr>
              <a:t>g.: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4192600"/>
            <a:ext cx="8940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5" dirty="0">
                <a:latin typeface="Calibri"/>
                <a:cs typeface="Calibri"/>
              </a:rPr>
              <a:t>Then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776" y="3236577"/>
            <a:ext cx="1837170" cy="10278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Calibri"/>
                <a:cs typeface="Calibri"/>
              </a:rPr>
              <a:t>x =</a:t>
            </a:r>
            <a:r>
              <a:rPr sz="3300" b="1" spc="-15" dirty="0">
                <a:latin typeface="Calibri"/>
                <a:cs typeface="Calibri"/>
              </a:rPr>
              <a:t> </a:t>
            </a:r>
            <a:r>
              <a:rPr sz="3300" b="1" spc="-5" dirty="0">
                <a:solidFill>
                  <a:srgbClr val="CC00FF"/>
                </a:solidFill>
                <a:latin typeface="Calibri"/>
                <a:cs typeface="Calibri"/>
              </a:rPr>
              <a:t>aba</a:t>
            </a:r>
            <a:endParaRPr sz="3300" dirty="0">
              <a:solidFill>
                <a:srgbClr val="CC00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300" b="1" dirty="0">
                <a:latin typeface="Calibri"/>
                <a:cs typeface="Calibri"/>
              </a:rPr>
              <a:t>y =</a:t>
            </a:r>
            <a:r>
              <a:rPr sz="3300" b="1" spc="-10" dirty="0">
                <a:latin typeface="Calibri"/>
                <a:cs typeface="Calibri"/>
              </a:rPr>
              <a:t> </a:t>
            </a:r>
            <a:r>
              <a:rPr sz="3300" b="1" dirty="0" err="1">
                <a:solidFill>
                  <a:srgbClr val="C00000"/>
                </a:solidFill>
                <a:latin typeface="Calibri"/>
                <a:cs typeface="Calibri"/>
              </a:rPr>
              <a:t>bbbab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55347" y="4575547"/>
            <a:ext cx="3567126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2700" marR="836930">
              <a:lnSpc>
                <a:spcPct val="100000"/>
              </a:lnSpc>
            </a:pPr>
            <a:r>
              <a:rPr lang="en-US" sz="3200" b="1" spc="-5" dirty="0" err="1">
                <a:cs typeface="Calibri"/>
              </a:rPr>
              <a:t>xy</a:t>
            </a:r>
            <a:r>
              <a:rPr lang="en-US" sz="3200" b="1" spc="-5" dirty="0">
                <a:cs typeface="Calibri"/>
              </a:rPr>
              <a:t> </a:t>
            </a:r>
            <a:r>
              <a:rPr lang="en-US" sz="3200" b="1" dirty="0">
                <a:cs typeface="Calibri"/>
              </a:rPr>
              <a:t>=</a:t>
            </a:r>
            <a:r>
              <a:rPr lang="en-US" sz="3200" b="1" spc="-75" dirty="0">
                <a:cs typeface="Calibri"/>
              </a:rPr>
              <a:t> </a:t>
            </a:r>
            <a:r>
              <a:rPr lang="en-US" sz="3200" b="1" dirty="0" err="1">
                <a:solidFill>
                  <a:srgbClr val="CC00FF"/>
                </a:solidFill>
                <a:cs typeface="Calibri"/>
              </a:rPr>
              <a:t>aba</a:t>
            </a:r>
            <a:r>
              <a:rPr lang="en-US" sz="3200" b="1" dirty="0" err="1">
                <a:solidFill>
                  <a:srgbClr val="C00000"/>
                </a:solidFill>
                <a:cs typeface="Calibri"/>
              </a:rPr>
              <a:t>bbbab</a:t>
            </a:r>
            <a:r>
              <a:rPr lang="en-US" sz="3200" b="1" dirty="0">
                <a:solidFill>
                  <a:srgbClr val="C00000"/>
                </a:solidFill>
                <a:cs typeface="Calibri"/>
              </a:rPr>
              <a:t>  </a:t>
            </a:r>
          </a:p>
          <a:p>
            <a:pPr marL="12700" marR="836930">
              <a:lnSpc>
                <a:spcPct val="100000"/>
              </a:lnSpc>
            </a:pPr>
            <a:r>
              <a:rPr lang="en-US" sz="3200" b="1" spc="-5" dirty="0" err="1">
                <a:cs typeface="Calibri"/>
              </a:rPr>
              <a:t>yx</a:t>
            </a:r>
            <a:r>
              <a:rPr lang="en-US" sz="3200" b="1" spc="-5" dirty="0">
                <a:cs typeface="Calibri"/>
              </a:rPr>
              <a:t> </a:t>
            </a:r>
            <a:r>
              <a:rPr lang="en-US" sz="3200" b="1" dirty="0">
                <a:cs typeface="Calibri"/>
              </a:rPr>
              <a:t>=</a:t>
            </a:r>
            <a:r>
              <a:rPr lang="en-US" sz="3200" b="1" spc="-70" dirty="0">
                <a:cs typeface="Calibri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cs typeface="Calibri"/>
              </a:rPr>
              <a:t>bbbab</a:t>
            </a:r>
            <a:r>
              <a:rPr lang="en-US" sz="3200" b="1" dirty="0" err="1">
                <a:solidFill>
                  <a:srgbClr val="CC00FF"/>
                </a:solidFill>
                <a:cs typeface="Calibri"/>
              </a:rPr>
              <a:t>aba</a:t>
            </a:r>
            <a:endParaRPr lang="en-US" sz="3200" dirty="0">
              <a:solidFill>
                <a:srgbClr val="CC00FF"/>
              </a:solidFill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3200" b="1" spc="-5" dirty="0" err="1">
                <a:cs typeface="Calibri"/>
              </a:rPr>
              <a:t>xyx</a:t>
            </a:r>
            <a:r>
              <a:rPr lang="en-US" sz="3200" b="1" spc="-5" dirty="0">
                <a:cs typeface="Calibri"/>
              </a:rPr>
              <a:t> </a:t>
            </a:r>
            <a:r>
              <a:rPr lang="en-US" sz="3200" b="1" dirty="0">
                <a:cs typeface="Calibri"/>
              </a:rPr>
              <a:t>=</a:t>
            </a:r>
            <a:r>
              <a:rPr lang="en-US" sz="3200" b="1" spc="-65" dirty="0">
                <a:cs typeface="Calibri"/>
              </a:rPr>
              <a:t> </a:t>
            </a:r>
            <a:r>
              <a:rPr lang="en-US" sz="3200" b="1" dirty="0" err="1">
                <a:solidFill>
                  <a:srgbClr val="CC00FF"/>
                </a:solidFill>
                <a:cs typeface="Calibri"/>
              </a:rPr>
              <a:t>aba</a:t>
            </a:r>
            <a:r>
              <a:rPr lang="en-US" sz="3200" b="1" dirty="0" err="1">
                <a:solidFill>
                  <a:srgbClr val="C00000"/>
                </a:solidFill>
                <a:cs typeface="Calibri"/>
              </a:rPr>
              <a:t>bbbab</a:t>
            </a:r>
            <a:r>
              <a:rPr lang="en-US" sz="3200" b="1" dirty="0" err="1">
                <a:solidFill>
                  <a:srgbClr val="CC00FF"/>
                </a:solidFill>
                <a:cs typeface="Calibri"/>
              </a:rPr>
              <a:t>aba</a:t>
            </a:r>
            <a:endParaRPr lang="en-US" sz="3200" dirty="0">
              <a:solidFill>
                <a:srgbClr val="CC00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752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301" y="466166"/>
            <a:ext cx="5089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Self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Concatenation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309"/>
            <a:ext cx="7719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If </a:t>
            </a:r>
            <a:r>
              <a:rPr sz="2800" b="1" spc="-15" dirty="0">
                <a:latin typeface="Calibri"/>
                <a:cs typeface="Calibri"/>
              </a:rPr>
              <a:t>we </a:t>
            </a:r>
            <a:r>
              <a:rPr sz="2800" b="1" spc="-20" dirty="0">
                <a:latin typeface="Calibri"/>
                <a:cs typeface="Calibri"/>
              </a:rPr>
              <a:t>have </a:t>
            </a:r>
            <a:r>
              <a:rPr sz="2800" b="1" spc="-10" dirty="0">
                <a:latin typeface="Calibri"/>
                <a:cs typeface="Calibri"/>
              </a:rPr>
              <a:t>string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2800" b="1" spc="-5" dirty="0">
                <a:latin typeface="Calibri"/>
                <a:cs typeface="Calibri"/>
              </a:rPr>
              <a:t>, the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concatenation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2800" b="1" spc="204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037714"/>
            <a:ext cx="3071495" cy="89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ts val="325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self</a:t>
            </a: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concatenation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ts val="361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dirty="0">
                <a:latin typeface="Calibri"/>
                <a:cs typeface="Calibri"/>
              </a:rPr>
              <a:t>E.g.: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5194" y="2670835"/>
            <a:ext cx="1215390" cy="192341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4650" b="1" spc="7" baseline="-17025" dirty="0">
                <a:latin typeface="Calibri"/>
                <a:cs typeface="Calibri"/>
              </a:rPr>
              <a:t>x</a:t>
            </a:r>
            <a:r>
              <a:rPr sz="2050" b="1" spc="5" dirty="0">
                <a:latin typeface="Calibri"/>
                <a:cs typeface="Calibri"/>
              </a:rPr>
              <a:t>0</a:t>
            </a:r>
            <a:endParaRPr sz="2050">
              <a:latin typeface="Calibri"/>
              <a:cs typeface="Calibri"/>
            </a:endParaRPr>
          </a:p>
          <a:p>
            <a:pPr marL="38100" marR="30480">
              <a:lnSpc>
                <a:spcPct val="90100"/>
              </a:lnSpc>
              <a:spcBef>
                <a:spcPts val="935"/>
              </a:spcBef>
            </a:pPr>
            <a:r>
              <a:rPr sz="3100" b="1" spc="5" dirty="0">
                <a:latin typeface="Calibri"/>
                <a:cs typeface="Calibri"/>
              </a:rPr>
              <a:t>x</a:t>
            </a:r>
            <a:r>
              <a:rPr sz="3075" b="1" spc="7" baseline="25745" dirty="0">
                <a:latin typeface="Calibri"/>
                <a:cs typeface="Calibri"/>
              </a:rPr>
              <a:t>1 </a:t>
            </a:r>
            <a:r>
              <a:rPr sz="3100" b="1" spc="-5" dirty="0">
                <a:latin typeface="Calibri"/>
                <a:cs typeface="Calibri"/>
              </a:rPr>
              <a:t>= x  </a:t>
            </a:r>
            <a:r>
              <a:rPr sz="3100" b="1" spc="5" dirty="0">
                <a:latin typeface="Calibri"/>
                <a:cs typeface="Calibri"/>
              </a:rPr>
              <a:t>x</a:t>
            </a:r>
            <a:r>
              <a:rPr sz="3075" b="1" spc="7" baseline="25745" dirty="0">
                <a:latin typeface="Calibri"/>
                <a:cs typeface="Calibri"/>
              </a:rPr>
              <a:t>2 </a:t>
            </a:r>
            <a:r>
              <a:rPr sz="3100" b="1" spc="-5" dirty="0">
                <a:latin typeface="Calibri"/>
                <a:cs typeface="Calibri"/>
              </a:rPr>
              <a:t>= </a:t>
            </a:r>
            <a:r>
              <a:rPr sz="3100" b="1" spc="-10" dirty="0">
                <a:latin typeface="Calibri"/>
                <a:cs typeface="Calibri"/>
              </a:rPr>
              <a:t>xx  </a:t>
            </a:r>
            <a:r>
              <a:rPr sz="2800" b="1" dirty="0">
                <a:latin typeface="Calibri"/>
                <a:cs typeface="Calibri"/>
              </a:rPr>
              <a:t>x</a:t>
            </a:r>
            <a:r>
              <a:rPr sz="2775" b="1" baseline="25525" dirty="0">
                <a:latin typeface="Calibri"/>
                <a:cs typeface="Calibri"/>
              </a:rPr>
              <a:t>3 </a:t>
            </a:r>
            <a:r>
              <a:rPr sz="2800" b="1" spc="-5" dirty="0">
                <a:latin typeface="Calibri"/>
                <a:cs typeface="Calibri"/>
              </a:rPr>
              <a:t>=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xxx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775" y="2862198"/>
            <a:ext cx="190817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535"/>
              </a:lnSpc>
              <a:spcBef>
                <a:spcPts val="95"/>
              </a:spcBef>
            </a:pPr>
            <a:r>
              <a:rPr sz="3100" b="1" spc="-5" dirty="0">
                <a:latin typeface="Calibri"/>
                <a:cs typeface="Calibri"/>
              </a:rPr>
              <a:t>=</a:t>
            </a:r>
            <a:r>
              <a:rPr sz="3100" b="1" spc="-10" dirty="0">
                <a:latin typeface="Calibri"/>
                <a:cs typeface="Calibri"/>
              </a:rPr>
              <a:t> </a:t>
            </a:r>
            <a:r>
              <a:rPr lang="el-GR" sz="3200" b="1" spc="-5" dirty="0">
                <a:cs typeface="Calibri"/>
              </a:rPr>
              <a:t>λ</a:t>
            </a:r>
            <a:endParaRPr sz="3100" dirty="0">
              <a:latin typeface="Symbol"/>
              <a:cs typeface="Symbol"/>
            </a:endParaRPr>
          </a:p>
          <a:p>
            <a:pPr marL="12700">
              <a:lnSpc>
                <a:spcPts val="3350"/>
              </a:lnSpc>
            </a:pPr>
            <a:r>
              <a:rPr sz="3100" b="1" spc="-5" dirty="0">
                <a:latin typeface="Calibri"/>
                <a:cs typeface="Calibri"/>
              </a:rPr>
              <a:t>=</a:t>
            </a:r>
            <a:r>
              <a:rPr sz="3100" b="1" spc="-10" dirty="0"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CC00FF"/>
                </a:solidFill>
                <a:latin typeface="Calibri"/>
                <a:cs typeface="Calibri"/>
              </a:rPr>
              <a:t>aba</a:t>
            </a:r>
            <a:endParaRPr sz="3100" dirty="0">
              <a:solidFill>
                <a:srgbClr val="CC00FF"/>
              </a:solidFill>
              <a:latin typeface="Calibri"/>
              <a:cs typeface="Calibri"/>
            </a:endParaRPr>
          </a:p>
          <a:p>
            <a:pPr marL="12700">
              <a:lnSpc>
                <a:spcPts val="3365"/>
              </a:lnSpc>
            </a:pPr>
            <a:r>
              <a:rPr sz="3100" b="1" spc="-5" dirty="0">
                <a:latin typeface="Calibri"/>
                <a:cs typeface="Calibri"/>
              </a:rPr>
              <a:t>=</a:t>
            </a:r>
            <a:r>
              <a:rPr sz="3100" b="1" spc="-15" dirty="0"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CC00FF"/>
                </a:solidFill>
                <a:latin typeface="Calibri"/>
                <a:cs typeface="Calibri"/>
              </a:rPr>
              <a:t>aba</a:t>
            </a:r>
            <a:r>
              <a:rPr sz="3100" b="1" spc="-10" dirty="0">
                <a:solidFill>
                  <a:srgbClr val="00B050"/>
                </a:solidFill>
                <a:latin typeface="Calibri"/>
                <a:cs typeface="Calibri"/>
              </a:rPr>
              <a:t>aba</a:t>
            </a:r>
            <a:endParaRPr sz="31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</a:pPr>
            <a:r>
              <a:rPr sz="2800" b="1" spc="-5" dirty="0">
                <a:latin typeface="Calibri"/>
                <a:cs typeface="Calibri"/>
              </a:rPr>
              <a:t>=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C00FF"/>
                </a:solidFill>
                <a:latin typeface="Calibri"/>
                <a:cs typeface="Calibri"/>
              </a:rPr>
              <a:t>aba</a:t>
            </a:r>
            <a:r>
              <a:rPr sz="2800" b="1" spc="-10" dirty="0">
                <a:solidFill>
                  <a:srgbClr val="00B050"/>
                </a:solidFill>
                <a:latin typeface="Calibri"/>
                <a:cs typeface="Calibri"/>
              </a:rPr>
              <a:t>aba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aba</a:t>
            </a:r>
            <a:endParaRPr sz="28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540" y="4906517"/>
            <a:ext cx="751713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3100" b="1" dirty="0">
                <a:latin typeface="Calibri"/>
                <a:cs typeface="Calibri"/>
              </a:rPr>
              <a:t>x</a:t>
            </a:r>
            <a:r>
              <a:rPr sz="3075" b="1" baseline="25745" dirty="0">
                <a:latin typeface="Calibri"/>
                <a:cs typeface="Calibri"/>
              </a:rPr>
              <a:t>k </a:t>
            </a:r>
            <a:r>
              <a:rPr sz="3100" b="1" spc="-5" dirty="0">
                <a:latin typeface="Calibri"/>
                <a:cs typeface="Calibri"/>
              </a:rPr>
              <a:t>= xx</a:t>
            </a:r>
            <a:r>
              <a:rPr sz="3100" b="1" spc="-5" dirty="0">
                <a:latin typeface="Times New Roman"/>
                <a:cs typeface="Times New Roman"/>
              </a:rPr>
              <a:t>…</a:t>
            </a:r>
            <a:r>
              <a:rPr sz="3100" b="1" spc="-5" dirty="0">
                <a:latin typeface="Calibri"/>
                <a:cs typeface="Calibri"/>
              </a:rPr>
              <a:t>x : </a:t>
            </a:r>
            <a:r>
              <a:rPr sz="3100" b="1" spc="-15" dirty="0">
                <a:latin typeface="Calibri"/>
                <a:cs typeface="Calibri"/>
              </a:rPr>
              <a:t>self-concatenated </a:t>
            </a:r>
            <a:r>
              <a:rPr sz="3100" b="1" spc="-10" dirty="0">
                <a:latin typeface="Calibri"/>
                <a:cs typeface="Calibri"/>
              </a:rPr>
              <a:t>string </a:t>
            </a:r>
            <a:r>
              <a:rPr sz="3100" b="1" i="1" spc="-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3100" b="1" i="1" spc="-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times</a:t>
            </a:r>
            <a:endParaRPr sz="3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48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8994" y="466166"/>
            <a:ext cx="3908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Conc</a:t>
            </a:r>
            <a:r>
              <a:rPr spc="-15" dirty="0">
                <a:latin typeface="Arial"/>
                <a:cs typeface="Arial"/>
              </a:rPr>
              <a:t>a</a:t>
            </a:r>
            <a:r>
              <a:rPr dirty="0">
                <a:latin typeface="Arial"/>
                <a:cs typeface="Arial"/>
              </a:rPr>
              <a:t>tena</a:t>
            </a:r>
            <a:r>
              <a:rPr spc="-15" dirty="0">
                <a:latin typeface="Arial"/>
                <a:cs typeface="Arial"/>
              </a:rPr>
              <a:t>t</a:t>
            </a:r>
            <a:r>
              <a:rPr dirty="0">
                <a:latin typeface="Arial"/>
                <a:cs typeface="Arial"/>
              </a:rPr>
              <a:t>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9978"/>
            <a:ext cx="7936865" cy="431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73120">
              <a:lnSpc>
                <a:spcPct val="1101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3200" b="1" spc="-10" dirty="0">
                <a:latin typeface="Calibri"/>
                <a:cs typeface="Calibri"/>
              </a:rPr>
              <a:t>Let	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u = ab, v =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ca,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w =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bb</a:t>
            </a:r>
            <a:r>
              <a:rPr sz="3200" b="1" spc="-5" dirty="0">
                <a:latin typeface="Calibri"/>
                <a:cs typeface="Calibri"/>
              </a:rPr>
              <a:t>.  Then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15" dirty="0">
                <a:latin typeface="Calibri"/>
                <a:cs typeface="Calibri"/>
              </a:rPr>
              <a:t>concatenation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of:</a:t>
            </a:r>
            <a:endParaRPr sz="3200" dirty="0">
              <a:latin typeface="Calibri"/>
              <a:cs typeface="Calibri"/>
            </a:endParaRPr>
          </a:p>
          <a:p>
            <a:pPr marL="927100" marR="5309870">
              <a:lnSpc>
                <a:spcPts val="4230"/>
              </a:lnSpc>
              <a:spcBef>
                <a:spcPts val="200"/>
              </a:spcBef>
            </a:pP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uv =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abca  </a:t>
            </a:r>
            <a:r>
              <a:rPr sz="3200" b="1" spc="10" dirty="0">
                <a:solidFill>
                  <a:srgbClr val="0000CC"/>
                </a:solidFill>
                <a:latin typeface="Calibri"/>
                <a:cs typeface="Calibri"/>
              </a:rPr>
              <a:t>vw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spc="-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cabb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75"/>
              </a:spcBef>
            </a:pP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(uv)w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abcabb</a:t>
            </a:r>
            <a:endParaRPr sz="32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u(vw) =</a:t>
            </a:r>
            <a:r>
              <a:rPr sz="3200" b="1" spc="-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abcabb</a:t>
            </a:r>
            <a:endParaRPr sz="3200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</a:pPr>
            <a:r>
              <a:rPr sz="3200" b="1" spc="-5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result </a:t>
            </a:r>
            <a:r>
              <a:rPr sz="3200" b="1" dirty="0">
                <a:latin typeface="Calibri"/>
                <a:cs typeface="Calibri"/>
              </a:rPr>
              <a:t>is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independent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of the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order </a:t>
            </a:r>
            <a:r>
              <a:rPr sz="3200" b="1" dirty="0">
                <a:latin typeface="Calibri"/>
                <a:cs typeface="Calibri"/>
              </a:rPr>
              <a:t>in </a:t>
            </a:r>
            <a:r>
              <a:rPr sz="3200" b="1" spc="-5" dirty="0">
                <a:latin typeface="Calibri"/>
                <a:cs typeface="Calibri"/>
              </a:rPr>
              <a:t>which 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operations are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performed.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501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4502" y="466166"/>
            <a:ext cx="2634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Substri</a:t>
            </a:r>
            <a:r>
              <a:rPr spc="-20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59433"/>
            <a:ext cx="7888605" cy="278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3775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latin typeface="Calibri"/>
                <a:cs typeface="Calibri"/>
              </a:rPr>
              <a:t>String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z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solidFill>
                  <a:srgbClr val="C00000"/>
                </a:solidFill>
                <a:latin typeface="Calibri"/>
                <a:cs typeface="Calibri"/>
              </a:rPr>
              <a:t>substring </a:t>
            </a:r>
            <a:r>
              <a:rPr sz="3700" b="1" spc="-5" dirty="0">
                <a:latin typeface="Calibri"/>
                <a:cs typeface="Calibri"/>
              </a:rPr>
              <a:t>of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w </a:t>
            </a:r>
            <a:r>
              <a:rPr sz="3700" b="1" spc="-5" dirty="0">
                <a:latin typeface="Calibri"/>
                <a:cs typeface="Calibri"/>
              </a:rPr>
              <a:t>if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z</a:t>
            </a:r>
            <a:r>
              <a:rPr sz="3700" b="1" spc="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15" dirty="0">
                <a:latin typeface="Calibri"/>
                <a:cs typeface="Calibri"/>
              </a:rPr>
              <a:t>appears</a:t>
            </a:r>
            <a:endParaRPr sz="3700" dirty="0">
              <a:latin typeface="Calibri"/>
              <a:cs typeface="Calibri"/>
            </a:endParaRPr>
          </a:p>
          <a:p>
            <a:pPr marL="355600" marR="5080">
              <a:lnSpc>
                <a:spcPct val="70000"/>
              </a:lnSpc>
              <a:spcBef>
                <a:spcPts val="670"/>
              </a:spcBef>
            </a:pPr>
            <a:r>
              <a:rPr sz="3700" b="1" spc="-10" dirty="0">
                <a:latin typeface="Calibri"/>
                <a:cs typeface="Calibri"/>
              </a:rPr>
              <a:t>consecutively within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w </a:t>
            </a:r>
            <a:r>
              <a:rPr sz="3700" b="1" spc="-5" dirty="0">
                <a:latin typeface="Calibri"/>
                <a:cs typeface="Calibri"/>
              </a:rPr>
              <a:t>(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z </a:t>
            </a:r>
            <a:r>
              <a:rPr sz="3700" b="1" spc="-15" dirty="0">
                <a:latin typeface="Calibri"/>
                <a:cs typeface="Calibri"/>
              </a:rPr>
              <a:t>occurs </a:t>
            </a:r>
            <a:r>
              <a:rPr sz="3700" b="1" spc="-5" dirty="0">
                <a:latin typeface="Calibri"/>
                <a:cs typeface="Calibri"/>
              </a:rPr>
              <a:t>inside  of 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3700" b="1" dirty="0">
                <a:latin typeface="Calibri"/>
                <a:cs typeface="Calibri"/>
              </a:rPr>
              <a:t>)</a:t>
            </a:r>
            <a:endParaRPr sz="3700" dirty="0">
              <a:latin typeface="Calibri"/>
              <a:cs typeface="Calibri"/>
            </a:endParaRPr>
          </a:p>
          <a:p>
            <a:pPr marL="355600" marR="1184275" indent="-3429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10" dirty="0">
                <a:latin typeface="Calibri"/>
                <a:cs typeface="Calibri"/>
              </a:rPr>
              <a:t>Thus, </a:t>
            </a:r>
            <a:r>
              <a:rPr sz="3700" b="1" spc="-10" dirty="0">
                <a:solidFill>
                  <a:srgbClr val="C00000"/>
                </a:solidFill>
                <a:latin typeface="Calibri"/>
                <a:cs typeface="Calibri"/>
              </a:rPr>
              <a:t>substring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latin typeface="Calibri"/>
                <a:cs typeface="Calibri"/>
              </a:rPr>
              <a:t>subset </a:t>
            </a:r>
            <a:r>
              <a:rPr sz="3700" b="1" spc="-5" dirty="0">
                <a:latin typeface="Calibri"/>
                <a:cs typeface="Calibri"/>
              </a:rPr>
              <a:t>of the  </a:t>
            </a:r>
            <a:r>
              <a:rPr sz="3700" b="1" spc="-10" dirty="0">
                <a:latin typeface="Calibri"/>
                <a:cs typeface="Calibri"/>
              </a:rPr>
              <a:t>symbols </a:t>
            </a:r>
            <a:r>
              <a:rPr sz="3700" b="1" spc="-5" dirty="0">
                <a:latin typeface="Calibri"/>
                <a:cs typeface="Calibri"/>
              </a:rPr>
              <a:t>in a</a:t>
            </a:r>
            <a:r>
              <a:rPr sz="3700" b="1" spc="20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string.</a:t>
            </a:r>
            <a:endParaRPr sz="3700" dirty="0">
              <a:latin typeface="Calibri"/>
              <a:cs typeface="Calibri"/>
            </a:endParaRPr>
          </a:p>
          <a:p>
            <a:pPr marL="355600">
              <a:lnSpc>
                <a:spcPts val="3995"/>
              </a:lnSpc>
              <a:tabLst>
                <a:tab pos="1841500" algn="l"/>
              </a:tabLst>
            </a:pPr>
            <a:r>
              <a:rPr sz="3700" b="1" dirty="0">
                <a:latin typeface="Calibri"/>
                <a:cs typeface="Calibri"/>
              </a:rPr>
              <a:t>E.g.:	</a:t>
            </a:r>
            <a:r>
              <a:rPr sz="3700" b="1" spc="-5" dirty="0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sz="3700" b="1" spc="-5" dirty="0">
                <a:latin typeface="Calibri"/>
                <a:cs typeface="Calibri"/>
              </a:rPr>
              <a:t> =</a:t>
            </a:r>
            <a:r>
              <a:rPr sz="3700" b="1" spc="10" dirty="0"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3700" b="1" spc="-10" dirty="0">
                <a:solidFill>
                  <a:srgbClr val="FF0000"/>
                </a:solidFill>
                <a:latin typeface="Calibri"/>
                <a:cs typeface="Calibri"/>
              </a:rPr>
              <a:t>bba</a:t>
            </a:r>
            <a:r>
              <a:rPr sz="3700" b="1" spc="-1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3700" b="1" spc="-10" dirty="0">
                <a:solidFill>
                  <a:srgbClr val="FF0000"/>
                </a:solidFill>
                <a:latin typeface="Calibri"/>
                <a:cs typeface="Calibri"/>
              </a:rPr>
              <a:t>abab</a:t>
            </a:r>
            <a:r>
              <a:rPr sz="3700" b="1" spc="-10" dirty="0">
                <a:solidFill>
                  <a:srgbClr val="00B050"/>
                </a:solidFill>
                <a:latin typeface="Calibri"/>
                <a:cs typeface="Calibri"/>
              </a:rPr>
              <a:t>b</a:t>
            </a:r>
            <a:endParaRPr sz="3700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4166692"/>
            <a:ext cx="993775" cy="16046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40"/>
              </a:spcBef>
            </a:pPr>
            <a:r>
              <a:rPr sz="3700" b="1" spc="-10" dirty="0">
                <a:solidFill>
                  <a:srgbClr val="FF0000"/>
                </a:solidFill>
                <a:latin typeface="Calibri"/>
                <a:cs typeface="Calibri"/>
              </a:rPr>
              <a:t>bba  </a:t>
            </a:r>
            <a:r>
              <a:rPr sz="3700" b="1" spc="-5" dirty="0">
                <a:solidFill>
                  <a:srgbClr val="FF0000"/>
                </a:solidFill>
                <a:latin typeface="Calibri"/>
                <a:cs typeface="Calibri"/>
              </a:rPr>
              <a:t>abab  ba</a:t>
            </a:r>
            <a:r>
              <a:rPr sz="3700" b="1" spc="-1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37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37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4175" y="4166692"/>
            <a:ext cx="4487545" cy="16046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961390">
              <a:lnSpc>
                <a:spcPts val="4000"/>
              </a:lnSpc>
              <a:spcBef>
                <a:spcPts val="595"/>
              </a:spcBef>
            </a:pP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latin typeface="Calibri"/>
                <a:cs typeface="Calibri"/>
              </a:rPr>
              <a:t>substring </a:t>
            </a:r>
            <a:r>
              <a:rPr sz="3700" b="1" spc="-5" dirty="0">
                <a:latin typeface="Calibri"/>
                <a:cs typeface="Calibri"/>
              </a:rPr>
              <a:t>of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w 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latin typeface="Calibri"/>
                <a:cs typeface="Calibri"/>
              </a:rPr>
              <a:t>substring </a:t>
            </a:r>
            <a:r>
              <a:rPr sz="3700" b="1" spc="-5" dirty="0">
                <a:latin typeface="Calibri"/>
                <a:cs typeface="Calibri"/>
              </a:rPr>
              <a:t>of</a:t>
            </a:r>
            <a:r>
              <a:rPr sz="3700" b="1" spc="-40" dirty="0"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endParaRPr sz="3700">
              <a:latin typeface="Calibri"/>
              <a:cs typeface="Calibri"/>
            </a:endParaRPr>
          </a:p>
          <a:p>
            <a:pPr marL="12700">
              <a:lnSpc>
                <a:spcPts val="3935"/>
              </a:lnSpc>
            </a:pPr>
            <a:r>
              <a:rPr sz="3700" b="1" spc="-5" dirty="0">
                <a:latin typeface="Calibri"/>
                <a:cs typeface="Calibri"/>
              </a:rPr>
              <a:t>is </a:t>
            </a:r>
            <a:r>
              <a:rPr sz="3700" b="1" spc="-30" dirty="0">
                <a:latin typeface="Calibri"/>
                <a:cs typeface="Calibri"/>
              </a:rPr>
              <a:t>NOT </a:t>
            </a:r>
            <a:r>
              <a:rPr sz="3700" b="1" spc="-5" dirty="0">
                <a:latin typeface="Calibri"/>
                <a:cs typeface="Calibri"/>
              </a:rPr>
              <a:t>a </a:t>
            </a:r>
            <a:r>
              <a:rPr sz="3700" b="1" spc="-10" dirty="0">
                <a:latin typeface="Calibri"/>
                <a:cs typeface="Calibri"/>
              </a:rPr>
              <a:t>substring </a:t>
            </a:r>
            <a:r>
              <a:rPr sz="3700" b="1" spc="-5" dirty="0">
                <a:latin typeface="Calibri"/>
                <a:cs typeface="Calibri"/>
              </a:rPr>
              <a:t>of</a:t>
            </a:r>
            <a:r>
              <a:rPr sz="3700" b="1" spc="10" dirty="0"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endParaRPr sz="3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3810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1805" y="466166"/>
            <a:ext cx="1580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Prefix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441"/>
            <a:ext cx="7590790" cy="333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0007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927100" algn="l"/>
                <a:tab pos="1285240" algn="l"/>
                <a:tab pos="1659889" algn="l"/>
                <a:tab pos="2422525" algn="l"/>
                <a:tab pos="3246755" algn="l"/>
                <a:tab pos="3629660" algn="l"/>
                <a:tab pos="4004310" algn="l"/>
              </a:tabLst>
            </a:pPr>
            <a:r>
              <a:rPr sz="3100" b="1" spc="-15" dirty="0">
                <a:solidFill>
                  <a:srgbClr val="C00000"/>
                </a:solidFill>
                <a:latin typeface="Calibri"/>
                <a:cs typeface="Calibri"/>
              </a:rPr>
              <a:t>Prefix </a:t>
            </a:r>
            <a:r>
              <a:rPr sz="3100" b="1" spc="-20" dirty="0">
                <a:latin typeface="Calibri"/>
                <a:cs typeface="Calibri"/>
              </a:rPr>
              <a:t>for </a:t>
            </a:r>
            <a:r>
              <a:rPr sz="3100" b="1" spc="-15" dirty="0">
                <a:latin typeface="Calibri"/>
                <a:cs typeface="Calibri"/>
              </a:rPr>
              <a:t>string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v </a:t>
            </a:r>
            <a:r>
              <a:rPr sz="3100" b="1" spc="-5" dirty="0">
                <a:latin typeface="Calibri"/>
                <a:cs typeface="Calibri"/>
              </a:rPr>
              <a:t>is a </a:t>
            </a:r>
            <a:r>
              <a:rPr sz="3100" b="1" spc="-15" dirty="0">
                <a:latin typeface="Calibri"/>
                <a:cs typeface="Calibri"/>
              </a:rPr>
              <a:t>substring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u </a:t>
            </a:r>
            <a:r>
              <a:rPr sz="3100" b="1" spc="-15" dirty="0">
                <a:latin typeface="Calibri"/>
                <a:cs typeface="Calibri"/>
              </a:rPr>
              <a:t>where </a:t>
            </a:r>
            <a:r>
              <a:rPr sz="3100" b="1" spc="-5" dirty="0">
                <a:latin typeface="Calibri"/>
                <a:cs typeface="Calibri"/>
              </a:rPr>
              <a:t>:  if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x	=	</a:t>
            </a:r>
            <a:r>
              <a:rPr lang="el-GR" sz="3200" b="1" spc="-5" dirty="0">
                <a:solidFill>
                  <a:srgbClr val="0000CC"/>
                </a:solidFill>
                <a:cs typeface="Calibri"/>
              </a:rPr>
              <a:t> λ</a:t>
            </a:r>
            <a:r>
              <a:rPr sz="3100" b="1" spc="5" dirty="0">
                <a:latin typeface="Calibri"/>
                <a:cs typeface="Calibri"/>
              </a:rPr>
              <a:t>,	</a:t>
            </a:r>
            <a:r>
              <a:rPr sz="3100" b="1" spc="-20" dirty="0">
                <a:latin typeface="Calibri"/>
                <a:cs typeface="Calibri"/>
              </a:rPr>
              <a:t>for	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</a:t>
            </a:r>
            <a:r>
              <a:rPr sz="3100" spc="-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=	</a:t>
            </a:r>
            <a:r>
              <a:rPr sz="3100" b="1" spc="-20" dirty="0">
                <a:solidFill>
                  <a:srgbClr val="0000CC"/>
                </a:solidFill>
                <a:latin typeface="Calibri"/>
                <a:cs typeface="Calibri"/>
              </a:rPr>
              <a:t>xuy</a:t>
            </a:r>
            <a:endParaRPr sz="31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  <a:tabLst>
                <a:tab pos="1349375" algn="l"/>
              </a:tabLst>
            </a:pPr>
            <a:r>
              <a:rPr sz="3100" b="1" spc="-10" dirty="0">
                <a:latin typeface="Calibri"/>
                <a:cs typeface="Calibri"/>
              </a:rPr>
              <a:t>Then	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</a:t>
            </a:r>
            <a:r>
              <a:rPr sz="31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= uy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(string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v </a:t>
            </a:r>
            <a:r>
              <a:rPr sz="3100" b="1" spc="-20" dirty="0">
                <a:solidFill>
                  <a:srgbClr val="C00000"/>
                </a:solidFill>
                <a:latin typeface="Calibri"/>
                <a:cs typeface="Calibri"/>
              </a:rPr>
              <a:t>starts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with substring</a:t>
            </a:r>
            <a:r>
              <a:rPr sz="31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u)</a:t>
            </a:r>
            <a:endParaRPr sz="3100" dirty="0">
              <a:latin typeface="Calibri"/>
              <a:cs typeface="Calibri"/>
            </a:endParaRPr>
          </a:p>
          <a:p>
            <a:pPr marL="355600" marR="507365" indent="-342900">
              <a:lnSpc>
                <a:spcPts val="29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5" dirty="0">
                <a:latin typeface="Calibri"/>
                <a:cs typeface="Calibri"/>
              </a:rPr>
              <a:t>A </a:t>
            </a:r>
            <a:r>
              <a:rPr sz="3100" b="1" spc="-15" dirty="0">
                <a:latin typeface="Calibri"/>
                <a:cs typeface="Calibri"/>
              </a:rPr>
              <a:t>prefix </a:t>
            </a:r>
            <a:r>
              <a:rPr sz="3100" b="1" spc="-10" dirty="0">
                <a:latin typeface="Calibri"/>
                <a:cs typeface="Calibri"/>
              </a:rPr>
              <a:t>can </a:t>
            </a:r>
            <a:r>
              <a:rPr sz="3100" b="1" spc="-5" dirty="0">
                <a:latin typeface="Calibri"/>
                <a:cs typeface="Calibri"/>
              </a:rPr>
              <a:t>be seen as a </a:t>
            </a:r>
            <a:r>
              <a:rPr sz="3100" b="1" spc="-10" dirty="0">
                <a:latin typeface="Calibri"/>
                <a:cs typeface="Calibri"/>
              </a:rPr>
              <a:t>special </a:t>
            </a:r>
            <a:r>
              <a:rPr sz="3100" b="1" spc="-5" dirty="0">
                <a:latin typeface="Calibri"/>
                <a:cs typeface="Calibri"/>
              </a:rPr>
              <a:t>case of a  </a:t>
            </a:r>
            <a:r>
              <a:rPr sz="3100" b="1" spc="-15" dirty="0">
                <a:latin typeface="Calibri"/>
                <a:cs typeface="Calibri"/>
              </a:rPr>
              <a:t>substring.</a:t>
            </a:r>
            <a:endParaRPr sz="3100" dirty="0">
              <a:latin typeface="Calibri"/>
              <a:cs typeface="Calibri"/>
            </a:endParaRPr>
          </a:p>
          <a:p>
            <a:pPr marL="927100" marR="2451100" indent="-483234">
              <a:lnSpc>
                <a:spcPts val="3350"/>
              </a:lnSpc>
              <a:spcBef>
                <a:spcPts val="160"/>
              </a:spcBef>
              <a:tabLst>
                <a:tab pos="1841500" algn="l"/>
                <a:tab pos="2239010" algn="l"/>
                <a:tab pos="2755900" algn="l"/>
              </a:tabLst>
            </a:pPr>
            <a:r>
              <a:rPr sz="3100" b="1" dirty="0">
                <a:latin typeface="Calibri"/>
                <a:cs typeface="Calibri"/>
              </a:rPr>
              <a:t>E.g.:	</a:t>
            </a:r>
            <a:r>
              <a:rPr sz="3100" b="1" spc="-5" dirty="0">
                <a:latin typeface="Calibri"/>
                <a:cs typeface="Calibri"/>
              </a:rPr>
              <a:t>if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w = 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abbaaababb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a			</a:t>
            </a:r>
            <a:r>
              <a:rPr sz="3100" b="1" spc="-5" dirty="0">
                <a:latin typeface="Calibri"/>
                <a:cs typeface="Calibri"/>
              </a:rPr>
              <a:t>is a </a:t>
            </a:r>
            <a:r>
              <a:rPr sz="3100" b="1" spc="-20" dirty="0">
                <a:latin typeface="Calibri"/>
                <a:cs typeface="Calibri"/>
              </a:rPr>
              <a:t>prefix </a:t>
            </a:r>
            <a:r>
              <a:rPr sz="3100" b="1" spc="-5" dirty="0">
                <a:latin typeface="Calibri"/>
                <a:cs typeface="Calibri"/>
              </a:rPr>
              <a:t>of</a:t>
            </a:r>
            <a:r>
              <a:rPr sz="3100" b="1" spc="-25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4607814"/>
            <a:ext cx="1027430" cy="9226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515"/>
              </a:spcBef>
            </a:pP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100" b="1" spc="-2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1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a  </a:t>
            </a:r>
            <a:r>
              <a:rPr sz="3100" b="1" spc="-15" dirty="0">
                <a:solidFill>
                  <a:srgbClr val="C00000"/>
                </a:solidFill>
                <a:latin typeface="Calibri"/>
                <a:cs typeface="Calibri"/>
              </a:rPr>
              <a:t>bba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9775" y="4607814"/>
            <a:ext cx="3202305" cy="922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535"/>
              </a:lnSpc>
              <a:spcBef>
                <a:spcPts val="95"/>
              </a:spcBef>
            </a:pPr>
            <a:r>
              <a:rPr sz="3100" b="1" spc="-5" dirty="0">
                <a:latin typeface="Calibri"/>
                <a:cs typeface="Calibri"/>
              </a:rPr>
              <a:t>is a </a:t>
            </a:r>
            <a:r>
              <a:rPr sz="3100" b="1" spc="-20" dirty="0">
                <a:latin typeface="Calibri"/>
                <a:cs typeface="Calibri"/>
              </a:rPr>
              <a:t>prefix </a:t>
            </a:r>
            <a:r>
              <a:rPr sz="3100" b="1" spc="-5" dirty="0">
                <a:latin typeface="Calibri"/>
                <a:cs typeface="Calibri"/>
              </a:rPr>
              <a:t>of</a:t>
            </a:r>
            <a:r>
              <a:rPr sz="3100" b="1" spc="10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3535"/>
              </a:lnSpc>
            </a:pPr>
            <a:r>
              <a:rPr sz="3100" b="1" spc="-5" dirty="0">
                <a:latin typeface="Calibri"/>
                <a:cs typeface="Calibri"/>
              </a:rPr>
              <a:t>is </a:t>
            </a:r>
            <a:r>
              <a:rPr sz="3100" b="1" spc="-30" dirty="0">
                <a:latin typeface="Calibri"/>
                <a:cs typeface="Calibri"/>
              </a:rPr>
              <a:t>NOT </a:t>
            </a:r>
            <a:r>
              <a:rPr sz="3100" b="1" spc="-5" dirty="0">
                <a:latin typeface="Calibri"/>
                <a:cs typeface="Calibri"/>
              </a:rPr>
              <a:t>a </a:t>
            </a:r>
            <a:r>
              <a:rPr sz="3100" b="1" spc="-20" dirty="0">
                <a:latin typeface="Calibri"/>
                <a:cs typeface="Calibri"/>
              </a:rPr>
              <a:t>prefix </a:t>
            </a:r>
            <a:r>
              <a:rPr sz="3100" b="1" spc="-5" dirty="0">
                <a:latin typeface="Calibri"/>
                <a:cs typeface="Calibri"/>
              </a:rPr>
              <a:t>of</a:t>
            </a:r>
            <a:r>
              <a:rPr sz="3100" b="1" spc="25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3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3065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329" y="466166"/>
            <a:ext cx="1579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Suffix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441"/>
            <a:ext cx="8027034" cy="2766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5600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927100" algn="l"/>
                <a:tab pos="1290955" algn="l"/>
                <a:tab pos="1664335" algn="l"/>
                <a:tab pos="2426970" algn="l"/>
                <a:tab pos="3251200" algn="l"/>
                <a:tab pos="3634104" algn="l"/>
                <a:tab pos="4008754" algn="l"/>
              </a:tabLst>
            </a:pP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Suffix </a:t>
            </a:r>
            <a:r>
              <a:rPr sz="3100" b="1" spc="-20" dirty="0">
                <a:latin typeface="Calibri"/>
                <a:cs typeface="Calibri"/>
              </a:rPr>
              <a:t>for </a:t>
            </a:r>
            <a:r>
              <a:rPr sz="3100" b="1" spc="-15" dirty="0">
                <a:latin typeface="Calibri"/>
                <a:cs typeface="Calibri"/>
              </a:rPr>
              <a:t>string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v </a:t>
            </a:r>
            <a:r>
              <a:rPr sz="3100" b="1" spc="-5" dirty="0">
                <a:latin typeface="Calibri"/>
                <a:cs typeface="Calibri"/>
              </a:rPr>
              <a:t>is a </a:t>
            </a:r>
            <a:r>
              <a:rPr sz="3100" b="1" spc="-15" dirty="0">
                <a:latin typeface="Calibri"/>
                <a:cs typeface="Calibri"/>
              </a:rPr>
              <a:t>substring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u </a:t>
            </a:r>
            <a:r>
              <a:rPr sz="3100" b="1" spc="-15" dirty="0">
                <a:latin typeface="Calibri"/>
                <a:cs typeface="Calibri"/>
              </a:rPr>
              <a:t>where </a:t>
            </a:r>
            <a:r>
              <a:rPr sz="3100" b="1" spc="-5" dirty="0">
                <a:latin typeface="Calibri"/>
                <a:cs typeface="Calibri"/>
              </a:rPr>
              <a:t>:  if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y	=	</a:t>
            </a:r>
            <a:r>
              <a:rPr lang="en-US" sz="3100" b="1" spc="-5" dirty="0">
                <a:solidFill>
                  <a:srgbClr val="0000CC"/>
                </a:solidFill>
                <a:cs typeface="Calibri"/>
                <a:sym typeface="Symbol" panose="05050102010706020507" pitchFamily="18" charset="2"/>
              </a:rPr>
              <a:t> </a:t>
            </a:r>
            <a:r>
              <a:rPr lang="el-GR" sz="32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100" b="1" spc="5" dirty="0">
                <a:latin typeface="Calibri"/>
                <a:cs typeface="Calibri"/>
              </a:rPr>
              <a:t>,	</a:t>
            </a:r>
            <a:r>
              <a:rPr sz="3100" b="1" spc="-20" dirty="0">
                <a:latin typeface="Calibri"/>
                <a:cs typeface="Calibri"/>
              </a:rPr>
              <a:t>for	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</a:t>
            </a:r>
            <a:r>
              <a:rPr sz="3100" spc="-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=	</a:t>
            </a:r>
            <a:r>
              <a:rPr sz="3100" b="1" spc="-20" dirty="0">
                <a:solidFill>
                  <a:srgbClr val="0000CC"/>
                </a:solidFill>
                <a:latin typeface="Calibri"/>
                <a:cs typeface="Calibri"/>
              </a:rPr>
              <a:t>xuy</a:t>
            </a:r>
            <a:endParaRPr sz="31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  <a:tabLst>
                <a:tab pos="1929764" algn="l"/>
              </a:tabLst>
            </a:pPr>
            <a:r>
              <a:rPr sz="3100" b="1" spc="-10" dirty="0">
                <a:latin typeface="Calibri"/>
                <a:cs typeface="Calibri"/>
              </a:rPr>
              <a:t>Then	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</a:t>
            </a:r>
            <a:r>
              <a:rPr sz="31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100" b="1" spc="-20" dirty="0">
                <a:solidFill>
                  <a:srgbClr val="0000CC"/>
                </a:solidFill>
                <a:latin typeface="Calibri"/>
                <a:cs typeface="Calibri"/>
              </a:rPr>
              <a:t>xu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(string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v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ends with substring</a:t>
            </a:r>
            <a:r>
              <a:rPr sz="31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u)</a:t>
            </a:r>
            <a:endParaRPr sz="3100" dirty="0">
              <a:latin typeface="Calibri"/>
              <a:cs typeface="Calibri"/>
            </a:endParaRPr>
          </a:p>
          <a:p>
            <a:pPr marL="355600" marR="243204" indent="-342900">
              <a:lnSpc>
                <a:spcPts val="29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5" dirty="0">
                <a:latin typeface="Calibri"/>
                <a:cs typeface="Calibri"/>
              </a:rPr>
              <a:t>A suffix also can be seen as a </a:t>
            </a:r>
            <a:r>
              <a:rPr sz="3100" b="1" spc="-10" dirty="0">
                <a:latin typeface="Calibri"/>
                <a:cs typeface="Calibri"/>
              </a:rPr>
              <a:t>special </a:t>
            </a:r>
            <a:r>
              <a:rPr sz="3100" b="1" spc="-5" dirty="0">
                <a:latin typeface="Calibri"/>
                <a:cs typeface="Calibri"/>
              </a:rPr>
              <a:t>case of a  </a:t>
            </a:r>
            <a:r>
              <a:rPr sz="3100" b="1" spc="-15" dirty="0">
                <a:latin typeface="Calibri"/>
                <a:cs typeface="Calibri"/>
              </a:rPr>
              <a:t>substring.</a:t>
            </a:r>
            <a:endParaRPr sz="3100" dirty="0">
              <a:latin typeface="Calibri"/>
              <a:cs typeface="Calibri"/>
            </a:endParaRPr>
          </a:p>
          <a:p>
            <a:pPr marL="443865">
              <a:lnSpc>
                <a:spcPts val="3465"/>
              </a:lnSpc>
              <a:tabLst>
                <a:tab pos="1841500" algn="l"/>
                <a:tab pos="2239010" algn="l"/>
              </a:tabLst>
            </a:pPr>
            <a:r>
              <a:rPr sz="3100" b="1" dirty="0">
                <a:latin typeface="Calibri"/>
                <a:cs typeface="Calibri"/>
              </a:rPr>
              <a:t>E.g.:	</a:t>
            </a:r>
            <a:r>
              <a:rPr sz="3100" b="1" spc="-5" dirty="0">
                <a:latin typeface="Calibri"/>
                <a:cs typeface="Calibri"/>
              </a:rPr>
              <a:t>if	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w =</a:t>
            </a:r>
            <a:r>
              <a:rPr sz="310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abbaaababb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4182236"/>
            <a:ext cx="851535" cy="134810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65"/>
              </a:spcBef>
            </a:pP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abb 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1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bb  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bab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4175" y="4182236"/>
            <a:ext cx="3152140" cy="13481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807720">
              <a:lnSpc>
                <a:spcPts val="3350"/>
              </a:lnSpc>
              <a:spcBef>
                <a:spcPts val="515"/>
              </a:spcBef>
            </a:pPr>
            <a:r>
              <a:rPr sz="3100" b="1" spc="-5" dirty="0">
                <a:latin typeface="Calibri"/>
                <a:cs typeface="Calibri"/>
              </a:rPr>
              <a:t>is a suffix of</a:t>
            </a:r>
            <a:r>
              <a:rPr sz="3100" b="1" spc="-80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  </a:t>
            </a:r>
            <a:r>
              <a:rPr sz="3100" b="1" spc="-5" dirty="0">
                <a:latin typeface="Calibri"/>
                <a:cs typeface="Calibri"/>
              </a:rPr>
              <a:t>is a suffix of</a:t>
            </a:r>
            <a:r>
              <a:rPr sz="3100" b="1" spc="-80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3300"/>
              </a:lnSpc>
            </a:pPr>
            <a:r>
              <a:rPr sz="3100" b="1" spc="-5" dirty="0">
                <a:latin typeface="Calibri"/>
                <a:cs typeface="Calibri"/>
              </a:rPr>
              <a:t>is </a:t>
            </a:r>
            <a:r>
              <a:rPr sz="3100" b="1" spc="-30" dirty="0">
                <a:latin typeface="Calibri"/>
                <a:cs typeface="Calibri"/>
              </a:rPr>
              <a:t>NOT </a:t>
            </a:r>
            <a:r>
              <a:rPr sz="3100" b="1" spc="-5" dirty="0">
                <a:latin typeface="Calibri"/>
                <a:cs typeface="Calibri"/>
              </a:rPr>
              <a:t>a suffix of</a:t>
            </a:r>
            <a:r>
              <a:rPr sz="3100" b="1" spc="-25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3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966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0909" y="466166"/>
            <a:ext cx="2203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Reverse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2609530"/>
          </a:xfrm>
          <a:prstGeom prst="rect">
            <a:avLst/>
          </a:prstGeom>
        </p:spPr>
        <p:txBody>
          <a:bodyPr vert="horz" wrap="square" lIns="0" tIns="460853" rIns="0" bIns="0" rtlCol="0">
            <a:spAutoFit/>
          </a:bodyPr>
          <a:lstStyle/>
          <a:p>
            <a:pPr marL="355600" marR="177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solidFill>
                  <a:srgbClr val="000000"/>
                </a:solidFill>
              </a:rPr>
              <a:t>The </a:t>
            </a:r>
            <a:r>
              <a:rPr sz="3200" spc="-25" dirty="0">
                <a:solidFill>
                  <a:srgbClr val="C00000"/>
                </a:solidFill>
              </a:rPr>
              <a:t>reverse </a:t>
            </a:r>
            <a:r>
              <a:rPr sz="3200" spc="-5" dirty="0">
                <a:solidFill>
                  <a:srgbClr val="000000"/>
                </a:solidFill>
              </a:rPr>
              <a:t>of </a:t>
            </a:r>
            <a:r>
              <a:rPr sz="3200" b="1" spc="-140" dirty="0">
                <a:solidFill>
                  <a:srgbClr val="0000FF"/>
                </a:solidFill>
              </a:rPr>
              <a:t>w</a:t>
            </a:r>
            <a:r>
              <a:rPr sz="3200" spc="-140" dirty="0">
                <a:solidFill>
                  <a:srgbClr val="000000"/>
                </a:solidFill>
              </a:rPr>
              <a:t>, </a:t>
            </a:r>
            <a:r>
              <a:rPr sz="3200" spc="-20" dirty="0">
                <a:solidFill>
                  <a:srgbClr val="000000"/>
                </a:solidFill>
              </a:rPr>
              <a:t>written </a:t>
            </a:r>
            <a:r>
              <a:rPr sz="3200" b="1" spc="5" dirty="0">
                <a:solidFill>
                  <a:srgbClr val="0000FF"/>
                </a:solidFill>
              </a:rPr>
              <a:t>w</a:t>
            </a:r>
            <a:r>
              <a:rPr sz="3200" b="1" spc="7" baseline="24943" dirty="0">
                <a:solidFill>
                  <a:srgbClr val="0000FF"/>
                </a:solidFill>
              </a:rPr>
              <a:t>R</a:t>
            </a:r>
            <a:r>
              <a:rPr sz="3200" spc="7" baseline="24943" dirty="0"/>
              <a:t> </a:t>
            </a:r>
            <a:r>
              <a:rPr sz="3200" spc="-5" dirty="0">
                <a:solidFill>
                  <a:srgbClr val="000000"/>
                </a:solidFill>
              </a:rPr>
              <a:t>or </a:t>
            </a:r>
            <a:r>
              <a:rPr sz="3200" b="1" dirty="0">
                <a:solidFill>
                  <a:srgbClr val="0000FF"/>
                </a:solidFill>
              </a:rPr>
              <a:t>w</a:t>
            </a:r>
            <a:r>
              <a:rPr sz="3200" b="1" baseline="24943" dirty="0">
                <a:solidFill>
                  <a:srgbClr val="0000FF"/>
                </a:solidFill>
              </a:rPr>
              <a:t>r</a:t>
            </a:r>
            <a:r>
              <a:rPr sz="3200" baseline="24943" dirty="0"/>
              <a:t> </a:t>
            </a:r>
            <a:r>
              <a:rPr sz="3200" spc="-5" dirty="0">
                <a:solidFill>
                  <a:srgbClr val="000000"/>
                </a:solidFill>
              </a:rPr>
              <a:t>is  the </a:t>
            </a:r>
            <a:r>
              <a:rPr sz="3200" spc="-10" dirty="0">
                <a:solidFill>
                  <a:srgbClr val="000000"/>
                </a:solidFill>
              </a:rPr>
              <a:t>string obtained </a:t>
            </a:r>
            <a:r>
              <a:rPr sz="3200" spc="-20" dirty="0">
                <a:solidFill>
                  <a:srgbClr val="000000"/>
                </a:solidFill>
              </a:rPr>
              <a:t>by </a:t>
            </a:r>
            <a:r>
              <a:rPr sz="3200" spc="-10" dirty="0">
                <a:solidFill>
                  <a:srgbClr val="000000"/>
                </a:solidFill>
              </a:rPr>
              <a:t>writing </a:t>
            </a:r>
            <a:r>
              <a:rPr sz="3200" b="1" spc="-5" dirty="0">
                <a:solidFill>
                  <a:srgbClr val="0000FF"/>
                </a:solidFill>
              </a:rPr>
              <a:t>w</a:t>
            </a:r>
            <a:r>
              <a:rPr sz="3200" spc="-5" dirty="0"/>
              <a:t> </a:t>
            </a:r>
            <a:r>
              <a:rPr sz="3200" spc="-5" dirty="0">
                <a:solidFill>
                  <a:srgbClr val="000000"/>
                </a:solidFill>
              </a:rPr>
              <a:t>in the  </a:t>
            </a:r>
            <a:r>
              <a:rPr sz="3200" spc="-10" dirty="0">
                <a:solidFill>
                  <a:srgbClr val="000000"/>
                </a:solidFill>
              </a:rPr>
              <a:t>opposite</a:t>
            </a:r>
            <a:r>
              <a:rPr sz="3200" spc="5" dirty="0">
                <a:solidFill>
                  <a:srgbClr val="000000"/>
                </a:solidFill>
              </a:rPr>
              <a:t> </a:t>
            </a:r>
            <a:r>
              <a:rPr sz="3200" spc="-70" dirty="0">
                <a:solidFill>
                  <a:srgbClr val="000000"/>
                </a:solidFill>
              </a:rPr>
              <a:t>order.</a:t>
            </a:r>
            <a:endParaRPr sz="3200" dirty="0"/>
          </a:p>
          <a:p>
            <a:pPr marL="462280">
              <a:lnSpc>
                <a:spcPts val="4190"/>
              </a:lnSpc>
            </a:pPr>
            <a:r>
              <a:rPr sz="3200" dirty="0">
                <a:solidFill>
                  <a:srgbClr val="000000"/>
                </a:solidFill>
              </a:rPr>
              <a:t>E.g.:</a:t>
            </a:r>
            <a:endParaRPr sz="320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21498"/>
              </p:ext>
            </p:extLst>
          </p:nvPr>
        </p:nvGraphicFramePr>
        <p:xfrm>
          <a:off x="2410598" y="3877183"/>
          <a:ext cx="5070475" cy="2017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14">
                <a:tc>
                  <a:txBody>
                    <a:bodyPr/>
                    <a:lstStyle/>
                    <a:p>
                      <a:pPr marL="31750">
                        <a:lnSpc>
                          <a:spcPts val="3710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if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710"/>
                        </a:lnSpc>
                      </a:pPr>
                      <a:r>
                        <a:rPr sz="37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 =</a:t>
                      </a:r>
                      <a:r>
                        <a:rPr sz="37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a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3710"/>
                        </a:lnSpc>
                      </a:pPr>
                      <a:r>
                        <a:rPr sz="3700" b="1" spc="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675" b="1" spc="7" baseline="24943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3675" b="1" spc="284" baseline="24943" dirty="0">
                          <a:solidFill>
                            <a:srgbClr val="0000C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=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710"/>
                        </a:lnSpc>
                      </a:pPr>
                      <a:r>
                        <a:rPr sz="3700" b="1" dirty="0">
                          <a:latin typeface="Calibri"/>
                          <a:cs typeface="Calibri"/>
                        </a:rPr>
                        <a:t>a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11">
                <a:tc>
                  <a:txBody>
                    <a:bodyPr/>
                    <a:lstStyle/>
                    <a:p>
                      <a:pPr marL="31750">
                        <a:lnSpc>
                          <a:spcPts val="3765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if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765"/>
                        </a:lnSpc>
                      </a:pPr>
                      <a:r>
                        <a:rPr sz="37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 =</a:t>
                      </a:r>
                      <a:r>
                        <a:rPr sz="37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abb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3765"/>
                        </a:lnSpc>
                      </a:pPr>
                      <a:r>
                        <a:rPr sz="3700" b="1" spc="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675" b="1" spc="7" baseline="24943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3675" b="1" spc="277" baseline="24943" dirty="0">
                          <a:solidFill>
                            <a:srgbClr val="0000C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=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765"/>
                        </a:lnSpc>
                      </a:pPr>
                      <a:r>
                        <a:rPr sz="3700" b="1" spc="-10" dirty="0">
                          <a:latin typeface="Calibri"/>
                          <a:cs typeface="Calibri"/>
                        </a:rPr>
                        <a:t>bba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28">
                <a:tc>
                  <a:txBody>
                    <a:bodyPr/>
                    <a:lstStyle/>
                    <a:p>
                      <a:pPr marL="31750">
                        <a:lnSpc>
                          <a:spcPts val="3760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if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760"/>
                        </a:lnSpc>
                      </a:pPr>
                      <a:r>
                        <a:rPr sz="37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 =</a:t>
                      </a:r>
                      <a:r>
                        <a:rPr sz="37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aba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3760"/>
                        </a:lnSpc>
                      </a:pPr>
                      <a:r>
                        <a:rPr sz="3700" b="1" spc="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675" b="1" spc="7" baseline="24943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3675" b="1" spc="284" baseline="24943" dirty="0">
                          <a:solidFill>
                            <a:srgbClr val="0000C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=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760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aba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marL="31750">
                        <a:lnSpc>
                          <a:spcPts val="3760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if</a:t>
                      </a:r>
                      <a:endParaRPr sz="3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760"/>
                        </a:lnSpc>
                      </a:pPr>
                      <a:r>
                        <a:rPr sz="37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 =</a:t>
                      </a:r>
                      <a:r>
                        <a:rPr sz="37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10" dirty="0">
                          <a:latin typeface="Calibri"/>
                          <a:cs typeface="Calibri"/>
                        </a:rPr>
                        <a:t>abbcd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3760"/>
                        </a:lnSpc>
                      </a:pPr>
                      <a:r>
                        <a:rPr sz="3700" b="1" spc="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3675" b="1" spc="7" baseline="24943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3675" b="1" spc="284" baseline="24943" dirty="0">
                          <a:solidFill>
                            <a:srgbClr val="0000C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700" b="1" spc="-5" dirty="0">
                          <a:latin typeface="Calibri"/>
                          <a:cs typeface="Calibri"/>
                        </a:rPr>
                        <a:t>=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760"/>
                        </a:lnSpc>
                      </a:pPr>
                      <a:r>
                        <a:rPr sz="3700" b="1" spc="-5" dirty="0">
                          <a:latin typeface="Calibri"/>
                          <a:cs typeface="Calibri"/>
                        </a:rPr>
                        <a:t>dcbba</a:t>
                      </a:r>
                      <a:endParaRPr sz="3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29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92" y="461594"/>
            <a:ext cx="5828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Finite </a:t>
            </a:r>
            <a:r>
              <a:rPr spc="-5" dirty="0"/>
              <a:t>Spec.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1546"/>
            <a:ext cx="7793990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1402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10" dirty="0">
                <a:latin typeface="Calibri"/>
                <a:cs typeface="Calibri"/>
              </a:rPr>
              <a:t>Languages </a:t>
            </a:r>
            <a:r>
              <a:rPr sz="4000" b="1" spc="-15" dirty="0">
                <a:latin typeface="Calibri"/>
                <a:cs typeface="Calibri"/>
              </a:rPr>
              <a:t>can </a:t>
            </a:r>
            <a:r>
              <a:rPr sz="4000" b="1" spc="-5" dirty="0">
                <a:latin typeface="Calibri"/>
                <a:cs typeface="Calibri"/>
              </a:rPr>
              <a:t>be </a:t>
            </a:r>
            <a:r>
              <a:rPr sz="4000" b="1" spc="-10" dirty="0">
                <a:latin typeface="Calibri"/>
                <a:cs typeface="Calibri"/>
              </a:rPr>
              <a:t>defined </a:t>
            </a:r>
            <a:r>
              <a:rPr sz="4000" b="1" spc="-5" dirty="0">
                <a:latin typeface="Calibri"/>
                <a:cs typeface="Calibri"/>
              </a:rPr>
              <a:t>using 2  </a:t>
            </a:r>
            <a:r>
              <a:rPr sz="4000" b="1" spc="-35" dirty="0">
                <a:latin typeface="Calibri"/>
                <a:cs typeface="Calibri"/>
              </a:rPr>
              <a:t>ways: </a:t>
            </a:r>
            <a:r>
              <a:rPr sz="4000" b="1" dirty="0">
                <a:latin typeface="Calibri"/>
                <a:cs typeface="Calibri"/>
              </a:rPr>
              <a:t>either </a:t>
            </a:r>
            <a:r>
              <a:rPr sz="4000" b="1" spc="-20" dirty="0">
                <a:latin typeface="Calibri"/>
                <a:cs typeface="Calibri"/>
              </a:rPr>
              <a:t>presented</a:t>
            </a:r>
            <a:r>
              <a:rPr sz="4000" b="1" spc="3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as</a:t>
            </a:r>
            <a:endParaRPr sz="4000">
              <a:latin typeface="Calibri"/>
              <a:cs typeface="Calibri"/>
            </a:endParaRPr>
          </a:p>
          <a:p>
            <a:pPr marL="1158875" marR="5080" lvl="1" indent="-688975">
              <a:lnSpc>
                <a:spcPct val="100000"/>
              </a:lnSpc>
              <a:spcBef>
                <a:spcPts val="965"/>
              </a:spcBef>
              <a:buFont typeface="Arial"/>
              <a:buChar char="–"/>
              <a:tabLst>
                <a:tab pos="1158875" algn="l"/>
                <a:tab pos="1159510" algn="l"/>
              </a:tabLst>
            </a:pPr>
            <a:r>
              <a:rPr sz="4000" b="1" spc="-5" dirty="0">
                <a:latin typeface="Calibri"/>
                <a:cs typeface="Calibri"/>
              </a:rPr>
              <a:t>an alphabet and the </a:t>
            </a:r>
            <a:r>
              <a:rPr sz="4000" b="1" spc="-20" dirty="0">
                <a:solidFill>
                  <a:srgbClr val="C00000"/>
                </a:solidFill>
                <a:latin typeface="Calibri"/>
                <a:cs typeface="Calibri"/>
              </a:rPr>
              <a:t>exhaustive  </a:t>
            </a:r>
            <a:r>
              <a:rPr sz="4000" b="1" spc="-15" dirty="0">
                <a:solidFill>
                  <a:srgbClr val="C00000"/>
                </a:solidFill>
                <a:latin typeface="Calibri"/>
                <a:cs typeface="Calibri"/>
              </a:rPr>
              <a:t>list </a:t>
            </a:r>
            <a:r>
              <a:rPr sz="4000" b="1" spc="-5" dirty="0">
                <a:latin typeface="Calibri"/>
                <a:cs typeface="Calibri"/>
              </a:rPr>
              <a:t>of </a:t>
            </a:r>
            <a:r>
              <a:rPr sz="4000" b="1" spc="-10" dirty="0">
                <a:latin typeface="Calibri"/>
                <a:cs typeface="Calibri"/>
              </a:rPr>
              <a:t>all </a:t>
            </a:r>
            <a:r>
              <a:rPr sz="4000" b="1" spc="-15" dirty="0">
                <a:latin typeface="Calibri"/>
                <a:cs typeface="Calibri"/>
              </a:rPr>
              <a:t>valid</a:t>
            </a:r>
            <a:r>
              <a:rPr sz="4000" b="1" spc="30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words</a:t>
            </a:r>
            <a:endParaRPr sz="4000">
              <a:latin typeface="Calibri"/>
              <a:cs typeface="Calibri"/>
            </a:endParaRPr>
          </a:p>
          <a:p>
            <a:pPr marL="1158875" marR="146050" lvl="1" indent="-688975">
              <a:lnSpc>
                <a:spcPct val="100000"/>
              </a:lnSpc>
              <a:spcBef>
                <a:spcPts val="960"/>
              </a:spcBef>
              <a:buFont typeface="Arial"/>
              <a:buChar char="–"/>
              <a:tabLst>
                <a:tab pos="1158875" algn="l"/>
                <a:tab pos="1159510" algn="l"/>
              </a:tabLst>
            </a:pPr>
            <a:r>
              <a:rPr sz="4000" b="1" spc="-5" dirty="0">
                <a:latin typeface="Calibri"/>
                <a:cs typeface="Calibri"/>
              </a:rPr>
              <a:t>an alphabet and a </a:t>
            </a: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set </a:t>
            </a:r>
            <a:r>
              <a:rPr sz="4000" b="1" spc="-5" dirty="0">
                <a:solidFill>
                  <a:srgbClr val="C00000"/>
                </a:solidFill>
                <a:latin typeface="Calibri"/>
                <a:cs typeface="Calibri"/>
              </a:rPr>
              <a:t>of rules </a:t>
            </a:r>
            <a:r>
              <a:rPr sz="4000" b="1" spc="-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defining </a:t>
            </a:r>
            <a:r>
              <a:rPr sz="4000" b="1" spc="-5" dirty="0">
                <a:latin typeface="Calibri"/>
                <a:cs typeface="Calibri"/>
              </a:rPr>
              <a:t>the </a:t>
            </a:r>
            <a:r>
              <a:rPr sz="4000" b="1" spc="-10" dirty="0">
                <a:latin typeface="Calibri"/>
                <a:cs typeface="Calibri"/>
              </a:rPr>
              <a:t>acceptable</a:t>
            </a:r>
            <a:r>
              <a:rPr sz="4000" b="1" spc="5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words.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87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1852" y="461594"/>
            <a:ext cx="5405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PALINDROME</a:t>
            </a:r>
            <a:r>
              <a:rPr spc="-65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1546"/>
            <a:ext cx="8010525" cy="3761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2547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dirty="0">
                <a:latin typeface="Calibri"/>
                <a:cs typeface="Calibri"/>
              </a:rPr>
              <a:t>E.g.: </a:t>
            </a:r>
            <a:r>
              <a:rPr sz="4000" b="1" spc="-10" dirty="0">
                <a:latin typeface="Calibri"/>
                <a:cs typeface="Calibri"/>
              </a:rPr>
              <a:t>definition </a:t>
            </a:r>
            <a:r>
              <a:rPr sz="4000" b="1" spc="-5" dirty="0">
                <a:latin typeface="Calibri"/>
                <a:cs typeface="Calibri"/>
              </a:rPr>
              <a:t>of a </a:t>
            </a:r>
            <a:r>
              <a:rPr sz="4000" b="1" spc="-10" dirty="0">
                <a:latin typeface="Calibri"/>
                <a:cs typeface="Calibri"/>
              </a:rPr>
              <a:t>new language  </a:t>
            </a:r>
            <a:r>
              <a:rPr sz="4000" b="1" spc="-40" dirty="0">
                <a:latin typeface="Calibri"/>
                <a:cs typeface="Calibri"/>
              </a:rPr>
              <a:t>PALINDROME </a:t>
            </a:r>
            <a:r>
              <a:rPr sz="4000" b="1" spc="-20" dirty="0">
                <a:latin typeface="Calibri"/>
                <a:cs typeface="Calibri"/>
              </a:rPr>
              <a:t>over </a:t>
            </a:r>
            <a:r>
              <a:rPr sz="4000" b="1" spc="-5" dirty="0">
                <a:latin typeface="Calibri"/>
                <a:cs typeface="Calibri"/>
              </a:rPr>
              <a:t>the alphabet</a:t>
            </a:r>
            <a:r>
              <a:rPr sz="4000" b="1" spc="5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:</a:t>
            </a:r>
            <a:endParaRPr sz="4000" dirty="0">
              <a:latin typeface="Calibri"/>
              <a:cs typeface="Calibri"/>
            </a:endParaRPr>
          </a:p>
          <a:p>
            <a:pPr marL="173990" algn="ctr">
              <a:lnSpc>
                <a:spcPct val="100000"/>
              </a:lnSpc>
              <a:spcBef>
                <a:spcPts val="1000"/>
              </a:spcBef>
            </a:pP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40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4000" b="1" spc="-1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4000" b="1" spc="-10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4000" dirty="0">
              <a:latin typeface="Symbol"/>
              <a:cs typeface="Symbol"/>
            </a:endParaRPr>
          </a:p>
          <a:p>
            <a:pPr marL="2181225" marR="5080" indent="-2106930">
              <a:lnSpc>
                <a:spcPct val="100000"/>
              </a:lnSpc>
              <a:spcBef>
                <a:spcPts val="4420"/>
              </a:spcBef>
            </a:pPr>
            <a:r>
              <a:rPr sz="3600" b="1" spc="-30" dirty="0">
                <a:solidFill>
                  <a:srgbClr val="0000CC"/>
                </a:solidFill>
                <a:latin typeface="Calibri"/>
                <a:cs typeface="Calibri"/>
              </a:rPr>
              <a:t>PALINDROME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40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lang="en-US" sz="4000" b="1" spc="-5" dirty="0">
                <a:solidFill>
                  <a:srgbClr val="0000CC"/>
                </a:solidFill>
                <a:cs typeface="Calibri"/>
                <a:sym typeface="Symbol" panose="05050102010706020507" pitchFamily="18" charset="2"/>
              </a:rPr>
              <a:t> </a:t>
            </a:r>
            <a:r>
              <a:rPr lang="en-US" sz="4000" b="1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,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and all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string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x such  </a:t>
            </a:r>
            <a:r>
              <a:rPr sz="4000" b="1" spc="-15" dirty="0">
                <a:solidFill>
                  <a:srgbClr val="0000CC"/>
                </a:solidFill>
                <a:latin typeface="Calibri"/>
                <a:cs typeface="Calibri"/>
              </a:rPr>
              <a:t>that </a:t>
            </a:r>
            <a:r>
              <a:rPr sz="4000" b="1" spc="-20" dirty="0">
                <a:solidFill>
                  <a:srgbClr val="0000CC"/>
                </a:solidFill>
                <a:latin typeface="Calibri"/>
                <a:cs typeface="Calibri"/>
              </a:rPr>
              <a:t>reverse(x)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4000" b="1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40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4000" dirty="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493358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3229" y="461594"/>
            <a:ext cx="3180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P</a:t>
            </a:r>
            <a:r>
              <a:rPr dirty="0"/>
              <a:t>ALIND</a:t>
            </a:r>
            <a:r>
              <a:rPr spc="-50" dirty="0"/>
              <a:t>R</a:t>
            </a:r>
            <a:r>
              <a:rPr spc="-5" dirty="0"/>
              <a:t>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2860"/>
            <a:ext cx="7934959" cy="3259482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latin typeface="Calibri"/>
                <a:cs typeface="Calibri"/>
              </a:rPr>
              <a:t>Listing</a:t>
            </a:r>
            <a:r>
              <a:rPr sz="3400" b="1" spc="-15" dirty="0">
                <a:latin typeface="Calibri"/>
                <a:cs typeface="Calibri"/>
              </a:rPr>
              <a:t> </a:t>
            </a:r>
            <a:r>
              <a:rPr sz="3400" b="1" spc="-5" dirty="0">
                <a:latin typeface="Calibri"/>
                <a:cs typeface="Calibri"/>
              </a:rPr>
              <a:t>:</a:t>
            </a:r>
            <a:endParaRPr sz="3400" dirty="0">
              <a:latin typeface="Calibri"/>
              <a:cs typeface="Calibri"/>
            </a:endParaRPr>
          </a:p>
          <a:p>
            <a:pPr marL="297180">
              <a:lnSpc>
                <a:spcPts val="3565"/>
              </a:lnSpc>
              <a:spcBef>
                <a:spcPts val="415"/>
              </a:spcBef>
              <a:tabLst>
                <a:tab pos="3418840" algn="l"/>
                <a:tab pos="3816350" algn="l"/>
                <a:tab pos="4232910" algn="l"/>
                <a:tab pos="4834890" algn="l"/>
                <a:tab pos="5476875" algn="l"/>
                <a:tab pos="6287770" algn="l"/>
                <a:tab pos="7115175" algn="l"/>
              </a:tabLst>
            </a:pPr>
            <a:r>
              <a:rPr sz="3000" b="1" spc="-25" dirty="0">
                <a:solidFill>
                  <a:srgbClr val="0000CC"/>
                </a:solidFill>
                <a:latin typeface="Calibri"/>
                <a:cs typeface="Calibri"/>
              </a:rPr>
              <a:t>PALINDROME</a:t>
            </a:r>
            <a:r>
              <a:rPr sz="3000" b="1" spc="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lang="en-US" sz="3600" b="1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lang="en-US" sz="3600" b="1" spc="-5" dirty="0">
                <a:solidFill>
                  <a:srgbClr val="0000CC"/>
                </a:solidFill>
                <a:cs typeface="Calibri"/>
                <a:sym typeface="Symbol" panose="05050102010706020507" pitchFamily="18" charset="2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bb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 err="1">
                <a:solidFill>
                  <a:srgbClr val="0000CC"/>
                </a:solidFill>
                <a:latin typeface="Calibri"/>
                <a:cs typeface="Calibri"/>
              </a:rPr>
              <a:t>aaa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aba	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</a:p>
          <a:p>
            <a:pPr marL="297180">
              <a:lnSpc>
                <a:spcPts val="3565"/>
              </a:lnSpc>
              <a:spcBef>
                <a:spcPts val="415"/>
              </a:spcBef>
              <a:tabLst>
                <a:tab pos="3418840" algn="l"/>
                <a:tab pos="3816350" algn="l"/>
                <a:tab pos="4232910" algn="l"/>
                <a:tab pos="4834890" algn="l"/>
                <a:tab pos="5476875" algn="l"/>
                <a:tab pos="6287770" algn="l"/>
                <a:tab pos="7115175" algn="l"/>
              </a:tabLst>
            </a:pP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                            </a:t>
            </a:r>
            <a:r>
              <a:rPr sz="3300" b="1" dirty="0" err="1">
                <a:solidFill>
                  <a:srgbClr val="0000CC"/>
                </a:solidFill>
                <a:latin typeface="Calibri"/>
                <a:cs typeface="Calibri"/>
              </a:rPr>
              <a:t>bab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 err="1">
                <a:solidFill>
                  <a:srgbClr val="0000CC"/>
                </a:solidFill>
                <a:latin typeface="Calibri"/>
                <a:cs typeface="Calibri"/>
              </a:rPr>
              <a:t>bbb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 err="1">
                <a:solidFill>
                  <a:srgbClr val="0000CC"/>
                </a:solidFill>
                <a:latin typeface="Calibri"/>
                <a:cs typeface="Calibri"/>
              </a:rPr>
              <a:t>aaaa</a:t>
            </a:r>
            <a:r>
              <a:rPr lang="en-US" sz="33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 err="1">
                <a:solidFill>
                  <a:srgbClr val="0000CC"/>
                </a:solidFill>
                <a:latin typeface="Calibri"/>
                <a:cs typeface="Calibri"/>
              </a:rPr>
              <a:t>abba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300" dirty="0">
              <a:latin typeface="Symbol"/>
              <a:cs typeface="Symbol"/>
            </a:endParaRPr>
          </a:p>
          <a:p>
            <a:pPr marL="355600" marR="5080">
              <a:lnSpc>
                <a:spcPct val="109100"/>
              </a:lnSpc>
              <a:spcBef>
                <a:spcPts val="3429"/>
              </a:spcBef>
            </a:pPr>
            <a:r>
              <a:rPr sz="2400" b="1" spc="-5" dirty="0">
                <a:latin typeface="Calibri"/>
                <a:cs typeface="Calibri"/>
              </a:rPr>
              <a:t>If </a:t>
            </a:r>
            <a:r>
              <a:rPr sz="2400" b="1" spc="-10" dirty="0">
                <a:latin typeface="Calibri"/>
                <a:cs typeface="Calibri"/>
              </a:rPr>
              <a:t>we </a:t>
            </a:r>
            <a:r>
              <a:rPr sz="2400" b="1" spc="-25" dirty="0">
                <a:latin typeface="Calibri"/>
                <a:cs typeface="Calibri"/>
              </a:rPr>
              <a:t>concatenate </a:t>
            </a:r>
            <a:r>
              <a:rPr sz="2400" b="1" spc="-5" dirty="0">
                <a:latin typeface="Calibri"/>
                <a:cs typeface="Calibri"/>
              </a:rPr>
              <a:t>2 </a:t>
            </a:r>
            <a:r>
              <a:rPr sz="2400" b="1" spc="-15" dirty="0">
                <a:latin typeface="Calibri"/>
                <a:cs typeface="Calibri"/>
              </a:rPr>
              <a:t>words </a:t>
            </a:r>
            <a:r>
              <a:rPr sz="2400" b="1" spc="-5" dirty="0">
                <a:latin typeface="Calibri"/>
                <a:cs typeface="Calibri"/>
              </a:rPr>
              <a:t>in  </a:t>
            </a:r>
            <a:r>
              <a:rPr sz="2400" b="1" spc="-35" dirty="0">
                <a:latin typeface="Calibri"/>
                <a:cs typeface="Calibri"/>
              </a:rPr>
              <a:t>PALINDROME, </a:t>
            </a:r>
            <a:r>
              <a:rPr sz="2400" b="1" spc="-10" dirty="0">
                <a:latin typeface="Calibri"/>
                <a:cs typeface="Calibri"/>
              </a:rPr>
              <a:t>sometimes </a:t>
            </a:r>
            <a:r>
              <a:rPr sz="2400" b="1" spc="-5" dirty="0">
                <a:latin typeface="Calibri"/>
                <a:cs typeface="Calibri"/>
              </a:rPr>
              <a:t>it </a:t>
            </a:r>
            <a:r>
              <a:rPr sz="2400" b="1" spc="-20" dirty="0">
                <a:latin typeface="Calibri"/>
                <a:cs typeface="Calibri"/>
              </a:rPr>
              <a:t>can </a:t>
            </a:r>
            <a:r>
              <a:rPr sz="2400" b="1" spc="-10" dirty="0">
                <a:latin typeface="Calibri"/>
                <a:cs typeface="Calibri"/>
              </a:rPr>
              <a:t>produce </a:t>
            </a:r>
            <a:r>
              <a:rPr sz="2400" b="1" spc="-5" dirty="0">
                <a:latin typeface="Calibri"/>
                <a:cs typeface="Calibri"/>
              </a:rPr>
              <a:t>a  </a:t>
            </a:r>
            <a:r>
              <a:rPr sz="2400" b="1" spc="-10" dirty="0">
                <a:latin typeface="Calibri"/>
                <a:cs typeface="Calibri"/>
              </a:rPr>
              <a:t>new </a:t>
            </a:r>
            <a:r>
              <a:rPr sz="2400" b="1" spc="-15" dirty="0">
                <a:latin typeface="Calibri"/>
                <a:cs typeface="Calibri"/>
              </a:rPr>
              <a:t>words </a:t>
            </a:r>
            <a:r>
              <a:rPr sz="2400" b="1" spc="-10" dirty="0">
                <a:latin typeface="Calibri"/>
                <a:cs typeface="Calibri"/>
              </a:rPr>
              <a:t>which </a:t>
            </a:r>
            <a:r>
              <a:rPr sz="2400" b="1" spc="-5" dirty="0">
                <a:latin typeface="Calibri"/>
                <a:cs typeface="Calibri"/>
              </a:rPr>
              <a:t>is </a:t>
            </a:r>
            <a:r>
              <a:rPr sz="2400" b="1" dirty="0">
                <a:latin typeface="Calibri"/>
                <a:cs typeface="Calibri"/>
              </a:rPr>
              <a:t>also </a:t>
            </a:r>
            <a:r>
              <a:rPr sz="2400" b="1" spc="-5" dirty="0">
                <a:latin typeface="Calibri"/>
                <a:cs typeface="Calibri"/>
              </a:rPr>
              <a:t>in </a:t>
            </a:r>
            <a:r>
              <a:rPr sz="2400" b="1" spc="-35" dirty="0">
                <a:latin typeface="Calibri"/>
                <a:cs typeface="Calibri"/>
              </a:rPr>
              <a:t>PALINDROME  </a:t>
            </a:r>
            <a:r>
              <a:rPr sz="2400" b="1" spc="-5" dirty="0">
                <a:latin typeface="Calibri"/>
                <a:cs typeface="Calibri"/>
              </a:rPr>
              <a:t>but </a:t>
            </a:r>
            <a:r>
              <a:rPr sz="2400" b="1" spc="-10" dirty="0">
                <a:latin typeface="Calibri"/>
                <a:cs typeface="Calibri"/>
              </a:rPr>
              <a:t>sometimes </a:t>
            </a:r>
            <a:r>
              <a:rPr sz="2400" b="1" spc="-5" dirty="0">
                <a:latin typeface="Calibri"/>
                <a:cs typeface="Calibri"/>
              </a:rPr>
              <a:t>it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doesn</a:t>
            </a:r>
            <a:r>
              <a:rPr sz="2400" b="1" spc="-45" dirty="0">
                <a:latin typeface="Arial Narrow"/>
                <a:cs typeface="Arial Narrow"/>
              </a:rPr>
              <a:t>’</a:t>
            </a:r>
            <a:r>
              <a:rPr sz="2400" b="1" spc="-45" dirty="0">
                <a:latin typeface="Calibri"/>
                <a:cs typeface="Calibri"/>
              </a:rPr>
              <a:t>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99" y="4822342"/>
            <a:ext cx="5238750" cy="80010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839" y="5774459"/>
            <a:ext cx="5962650" cy="64770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5221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408" y="461594"/>
            <a:ext cx="4889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Kleene </a:t>
            </a:r>
            <a:r>
              <a:rPr spc="-10" dirty="0"/>
              <a:t>Closure </a:t>
            </a:r>
            <a:r>
              <a:rPr dirty="0"/>
              <a:t>/</a:t>
            </a:r>
            <a:r>
              <a:rPr spc="-80" dirty="0"/>
              <a:t> </a:t>
            </a:r>
            <a:r>
              <a:rPr spc="-15" dirty="0"/>
              <a:t>Star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1"/>
            <a:ext cx="7933055" cy="24057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Σ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* </a:t>
            </a:r>
            <a:r>
              <a:rPr sz="3600" b="1" dirty="0">
                <a:latin typeface="Calibri"/>
                <a:cs typeface="Calibri"/>
              </a:rPr>
              <a:t>is the </a:t>
            </a:r>
            <a:r>
              <a:rPr sz="3600" b="1" spc="-5" dirty="0">
                <a:latin typeface="Calibri"/>
                <a:cs typeface="Calibri"/>
              </a:rPr>
              <a:t>collection </a:t>
            </a:r>
            <a:r>
              <a:rPr sz="3600" b="1" dirty="0">
                <a:latin typeface="Calibri"/>
                <a:cs typeface="Calibri"/>
              </a:rPr>
              <a:t>of all possible </a:t>
            </a:r>
            <a:r>
              <a:rPr sz="3600" b="1" spc="-10" dirty="0">
                <a:latin typeface="Calibri"/>
                <a:cs typeface="Calibri"/>
              </a:rPr>
              <a:t>finite-  </a:t>
            </a:r>
            <a:r>
              <a:rPr sz="3600" b="1" spc="-5" dirty="0">
                <a:latin typeface="Calibri"/>
                <a:cs typeface="Calibri"/>
              </a:rPr>
              <a:t>length strings </a:t>
            </a:r>
            <a:r>
              <a:rPr sz="3600" b="1" spc="-25" dirty="0">
                <a:latin typeface="Calibri"/>
                <a:cs typeface="Calibri"/>
              </a:rPr>
              <a:t>generated </a:t>
            </a:r>
            <a:r>
              <a:rPr sz="3600" b="1" spc="-15" dirty="0">
                <a:latin typeface="Calibri"/>
                <a:cs typeface="Calibri"/>
              </a:rPr>
              <a:t>from </a:t>
            </a:r>
            <a:r>
              <a:rPr sz="3600" b="1" dirty="0">
                <a:latin typeface="Calibri"/>
                <a:cs typeface="Calibri"/>
              </a:rPr>
              <a:t>the  </a:t>
            </a:r>
            <a:r>
              <a:rPr sz="3600" b="1" spc="-5" dirty="0">
                <a:latin typeface="Calibri"/>
                <a:cs typeface="Calibri"/>
              </a:rPr>
              <a:t>strings </a:t>
            </a:r>
            <a:r>
              <a:rPr sz="3600" b="1" dirty="0">
                <a:latin typeface="Calibri"/>
                <a:cs typeface="Calibri"/>
              </a:rPr>
              <a:t>in </a:t>
            </a:r>
            <a:r>
              <a:rPr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Σ</a:t>
            </a:r>
            <a:r>
              <a:rPr lang="en-US" sz="3600" b="1" spc="-5" dirty="0">
                <a:latin typeface="Calibri"/>
                <a:cs typeface="Calibri"/>
              </a:rPr>
              <a:t>,</a:t>
            </a:r>
            <a:r>
              <a:rPr lang="en-US"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3600" b="1" spc="-5" dirty="0">
                <a:latin typeface="Calibri"/>
                <a:cs typeface="Calibri"/>
              </a:rPr>
              <a:t>even the empty string </a:t>
            </a:r>
            <a:r>
              <a:rPr lang="el-GR" sz="36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600" b="1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latin typeface="Calibri"/>
                <a:cs typeface="Calibri"/>
              </a:rPr>
              <a:t>The definition </a:t>
            </a:r>
            <a:r>
              <a:rPr sz="3600" b="1" dirty="0">
                <a:latin typeface="Calibri"/>
                <a:cs typeface="Calibri"/>
              </a:rPr>
              <a:t>of Kleene </a:t>
            </a:r>
            <a:r>
              <a:rPr sz="3600" b="1" spc="-20" dirty="0">
                <a:latin typeface="Calibri"/>
                <a:cs typeface="Calibri"/>
              </a:rPr>
              <a:t>star </a:t>
            </a:r>
            <a:r>
              <a:rPr sz="3600" b="1" dirty="0">
                <a:latin typeface="Calibri"/>
                <a:cs typeface="Calibri"/>
              </a:rPr>
              <a:t>on </a:t>
            </a:r>
            <a:r>
              <a:rPr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Σ</a:t>
            </a:r>
            <a:r>
              <a:rPr sz="3600" b="1" spc="-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latin typeface="Calibri"/>
                <a:cs typeface="Calibri"/>
              </a:rPr>
              <a:t>is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531" y="4220653"/>
            <a:ext cx="7018742" cy="127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552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408" y="461594"/>
            <a:ext cx="4889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Kleene </a:t>
            </a:r>
            <a:r>
              <a:rPr spc="-10" dirty="0"/>
              <a:t>Closure </a:t>
            </a:r>
            <a:r>
              <a:rPr dirty="0"/>
              <a:t>/</a:t>
            </a:r>
            <a:r>
              <a:rPr spc="-80" dirty="0"/>
              <a:t> </a:t>
            </a:r>
            <a:r>
              <a:rPr spc="-15" dirty="0"/>
              <a:t>Star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90"/>
            <a:ext cx="1092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E</a:t>
            </a:r>
            <a:r>
              <a:rPr sz="3200" b="1" spc="20" dirty="0">
                <a:latin typeface="Calibri"/>
                <a:cs typeface="Calibri"/>
              </a:rPr>
              <a:t>.</a:t>
            </a:r>
            <a:r>
              <a:rPr sz="3200" b="1" spc="-5" dirty="0">
                <a:latin typeface="Calibri"/>
                <a:cs typeface="Calibri"/>
              </a:rPr>
              <a:t>g.: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539619"/>
            <a:ext cx="4563745" cy="175577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425450" algn="l"/>
              </a:tabLst>
            </a:pPr>
            <a:r>
              <a:rPr sz="3200" b="1" dirty="0">
                <a:latin typeface="Calibri"/>
                <a:cs typeface="Calibri"/>
              </a:rPr>
              <a:t>if	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200" b="1" i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200" b="1" dirty="0">
                <a:latin typeface="Calibri"/>
                <a:cs typeface="Calibri"/>
              </a:rPr>
              <a:t>,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then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2571750" algn="l"/>
                <a:tab pos="2943225" algn="l"/>
                <a:tab pos="3501390" algn="l"/>
              </a:tabLst>
            </a:pP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*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200" b="1" i="1" spc="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350" b="1" i="1" spc="-30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350" spc="-3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b="1" i="1" dirty="0">
                <a:solidFill>
                  <a:srgbClr val="0000CC"/>
                </a:solidFill>
                <a:latin typeface="Calibri"/>
                <a:cs typeface="Calibri"/>
              </a:rPr>
              <a:t>x	</a:t>
            </a:r>
            <a:r>
              <a:rPr sz="3200" b="1" i="1" spc="-5" dirty="0">
                <a:solidFill>
                  <a:srgbClr val="0000CC"/>
                </a:solidFill>
                <a:latin typeface="Calibri"/>
                <a:cs typeface="Calibri"/>
              </a:rPr>
              <a:t>xx	</a:t>
            </a:r>
            <a:r>
              <a:rPr sz="3200" b="1" i="1" dirty="0">
                <a:solidFill>
                  <a:srgbClr val="0000CC"/>
                </a:solidFill>
                <a:latin typeface="Calibri"/>
                <a:cs typeface="Calibri"/>
              </a:rPr>
              <a:t>xxx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20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1547495" algn="l"/>
                <a:tab pos="2755900" algn="l"/>
              </a:tabLst>
            </a:pPr>
            <a:r>
              <a:rPr sz="3200" b="1" dirty="0">
                <a:latin typeface="Calibri"/>
                <a:cs typeface="Calibri"/>
              </a:rPr>
              <a:t>if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200" b="1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0</a:t>
            </a:r>
            <a:r>
              <a:rPr lang="en-US" sz="32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200" b="1" dirty="0">
                <a:latin typeface="Calibri"/>
                <a:cs typeface="Calibri"/>
              </a:rPr>
              <a:t>,	then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73018"/>
            <a:ext cx="8035290" cy="2269852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40"/>
              </a:spcBef>
              <a:tabLst>
                <a:tab pos="1859914" algn="l"/>
                <a:tab pos="2251075" algn="l"/>
                <a:tab pos="2641600" algn="l"/>
                <a:tab pos="3237865" algn="l"/>
                <a:tab pos="3834765" algn="l"/>
                <a:tab pos="4432935" algn="l"/>
                <a:tab pos="5029200" algn="l"/>
                <a:tab pos="5831840" algn="l"/>
              </a:tabLst>
            </a:pP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= 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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0	1	00	01	10	11	000	001…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200" dirty="0">
              <a:latin typeface="Symbol"/>
              <a:cs typeface="Symbol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Applied </a:t>
            </a:r>
            <a:r>
              <a:rPr sz="3200" b="1" spc="-20" dirty="0">
                <a:latin typeface="Calibri"/>
                <a:cs typeface="Calibri"/>
              </a:rPr>
              <a:t>to </a:t>
            </a:r>
            <a:r>
              <a:rPr sz="3200" b="1" spc="-10" dirty="0">
                <a:latin typeface="Calibri"/>
                <a:cs typeface="Calibri"/>
              </a:rPr>
              <a:t>set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spc="-5" dirty="0">
                <a:latin typeface="Calibri"/>
                <a:cs typeface="Calibri"/>
              </a:rPr>
              <a:t>strings:</a:t>
            </a:r>
            <a:endParaRPr sz="3200" dirty="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{ab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c}*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{</a:t>
            </a:r>
            <a:r>
              <a:rPr lang="el-GR" sz="32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ab c </a:t>
            </a:r>
            <a:r>
              <a:rPr sz="3200" b="1" dirty="0" err="1">
                <a:solidFill>
                  <a:srgbClr val="0000CC"/>
                </a:solidFill>
                <a:latin typeface="Calibri"/>
                <a:cs typeface="Calibri"/>
              </a:rPr>
              <a:t>abab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 err="1">
                <a:solidFill>
                  <a:srgbClr val="0000CC"/>
                </a:solidFill>
                <a:latin typeface="Calibri"/>
                <a:cs typeface="Calibri"/>
              </a:rPr>
              <a:t>abc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cab cc</a:t>
            </a:r>
            <a:r>
              <a:rPr sz="3200" b="1" spc="-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ababab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 </a:t>
            </a:r>
            <a:r>
              <a:rPr sz="3200" b="1" dirty="0" err="1">
                <a:solidFill>
                  <a:srgbClr val="0000CC"/>
                </a:solidFill>
                <a:latin typeface="Calibri"/>
                <a:cs typeface="Calibri"/>
              </a:rPr>
              <a:t>ababc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abcab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 err="1">
                <a:solidFill>
                  <a:srgbClr val="0000CC"/>
                </a:solidFill>
                <a:latin typeface="Calibri"/>
                <a:cs typeface="Calibri"/>
              </a:rPr>
              <a:t>abcc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cabab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cabc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ccab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ccc</a:t>
            </a:r>
            <a:r>
              <a:rPr sz="3200" b="1" spc="-18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...}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5691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408" y="461594"/>
            <a:ext cx="4889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Kleene </a:t>
            </a:r>
            <a:r>
              <a:rPr spc="-10" dirty="0"/>
              <a:t>Closure </a:t>
            </a:r>
            <a:r>
              <a:rPr dirty="0"/>
              <a:t>/</a:t>
            </a:r>
            <a:r>
              <a:rPr spc="-80" dirty="0"/>
              <a:t> </a:t>
            </a:r>
            <a:r>
              <a:rPr spc="-15" dirty="0"/>
              <a:t>Star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9003"/>
            <a:ext cx="7702550" cy="3470181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Applied </a:t>
            </a:r>
            <a:r>
              <a:rPr sz="4000" b="1" spc="-25" dirty="0">
                <a:latin typeface="Calibri"/>
                <a:cs typeface="Calibri"/>
              </a:rPr>
              <a:t>to </a:t>
            </a:r>
            <a:r>
              <a:rPr sz="4000" b="1" spc="-10" dirty="0">
                <a:latin typeface="Calibri"/>
                <a:cs typeface="Calibri"/>
              </a:rPr>
              <a:t>set </a:t>
            </a:r>
            <a:r>
              <a:rPr sz="4000" b="1" spc="-5" dirty="0">
                <a:latin typeface="Calibri"/>
                <a:cs typeface="Calibri"/>
              </a:rPr>
              <a:t>of</a:t>
            </a:r>
            <a:r>
              <a:rPr sz="4000" b="1" spc="40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characters:</a:t>
            </a:r>
            <a:endParaRPr sz="4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{a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 c}* = {</a:t>
            </a:r>
            <a:r>
              <a:rPr lang="el-GR" sz="40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 a 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b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c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aa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ab ac</a:t>
            </a:r>
            <a:r>
              <a:rPr sz="4000" b="1" spc="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5" dirty="0" err="1">
                <a:solidFill>
                  <a:srgbClr val="0000CC"/>
                </a:solidFill>
                <a:latin typeface="Calibri"/>
                <a:cs typeface="Calibri"/>
              </a:rPr>
              <a:t>ba</a:t>
            </a:r>
            <a:r>
              <a:rPr lang="en-US" sz="4000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bb </a:t>
            </a:r>
            <a:r>
              <a:rPr sz="4000" b="1" spc="-5" dirty="0" err="1">
                <a:solidFill>
                  <a:srgbClr val="0000CC"/>
                </a:solidFill>
                <a:latin typeface="Calibri"/>
                <a:cs typeface="Calibri"/>
              </a:rPr>
              <a:t>bc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00CC"/>
                </a:solidFill>
                <a:latin typeface="Calibri"/>
                <a:cs typeface="Calibri"/>
              </a:rPr>
              <a:t>ca </a:t>
            </a:r>
            <a:r>
              <a:rPr sz="4000" b="1" spc="-5" dirty="0" err="1">
                <a:solidFill>
                  <a:srgbClr val="0000CC"/>
                </a:solidFill>
                <a:latin typeface="Calibri"/>
                <a:cs typeface="Calibri"/>
              </a:rPr>
              <a:t>cb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 cc</a:t>
            </a:r>
            <a:r>
              <a:rPr sz="4000" b="1" spc="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...}.</a:t>
            </a:r>
            <a:endParaRPr sz="4000" dirty="0">
              <a:latin typeface="Calibri"/>
              <a:cs typeface="Calibri"/>
            </a:endParaRPr>
          </a:p>
          <a:p>
            <a:pPr marL="355600" marR="44069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Kleene </a:t>
            </a:r>
            <a:r>
              <a:rPr sz="4000" b="1" spc="-25" dirty="0">
                <a:latin typeface="Calibri"/>
                <a:cs typeface="Calibri"/>
              </a:rPr>
              <a:t>star </a:t>
            </a:r>
            <a:r>
              <a:rPr sz="4000" b="1" spc="-5" dirty="0">
                <a:latin typeface="Calibri"/>
                <a:cs typeface="Calibri"/>
              </a:rPr>
              <a:t>applied </a:t>
            </a:r>
            <a:r>
              <a:rPr sz="4000" b="1" spc="-25" dirty="0">
                <a:latin typeface="Calibri"/>
                <a:cs typeface="Calibri"/>
              </a:rPr>
              <a:t>to </a:t>
            </a:r>
            <a:r>
              <a:rPr sz="4000" b="1" spc="-5" dirty="0">
                <a:latin typeface="Calibri"/>
                <a:cs typeface="Calibri"/>
              </a:rPr>
              <a:t>the empty  </a:t>
            </a:r>
            <a:r>
              <a:rPr sz="4000" b="1" spc="-10" dirty="0">
                <a:latin typeface="Calibri"/>
                <a:cs typeface="Calibri"/>
              </a:rPr>
              <a:t>set: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6145" y="4949184"/>
            <a:ext cx="2396837" cy="427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689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538" y="461594"/>
            <a:ext cx="3710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Kleene </a:t>
            </a:r>
            <a:r>
              <a:rPr spc="-25" dirty="0"/>
              <a:t>star</a:t>
            </a:r>
            <a:r>
              <a:rPr spc="-75" dirty="0"/>
              <a:t> </a:t>
            </a:r>
            <a:r>
              <a:rPr sz="2800" spc="-10" dirty="0"/>
              <a:t>(cont.)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350947"/>
            <a:ext cx="7776845" cy="424497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9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75" dirty="0">
                <a:latin typeface="Calibri"/>
                <a:cs typeface="Calibri"/>
              </a:rPr>
              <a:t>We </a:t>
            </a:r>
            <a:r>
              <a:rPr sz="4000" b="1" spc="-15" dirty="0">
                <a:latin typeface="Calibri"/>
                <a:cs typeface="Calibri"/>
              </a:rPr>
              <a:t>can </a:t>
            </a:r>
            <a:r>
              <a:rPr sz="4000" b="1" spc="-5" dirty="0">
                <a:latin typeface="Calibri"/>
                <a:cs typeface="Calibri"/>
              </a:rPr>
              <a:t>think of </a:t>
            </a:r>
            <a:r>
              <a:rPr sz="4000" b="1" spc="-10" dirty="0">
                <a:latin typeface="Calibri"/>
                <a:cs typeface="Calibri"/>
              </a:rPr>
              <a:t>the </a:t>
            </a:r>
            <a:r>
              <a:rPr sz="4000" b="1" spc="-5" dirty="0">
                <a:latin typeface="Calibri"/>
                <a:cs typeface="Calibri"/>
              </a:rPr>
              <a:t>Kleene </a:t>
            </a:r>
            <a:r>
              <a:rPr sz="4000" b="1" spc="-25" dirty="0">
                <a:latin typeface="Calibri"/>
                <a:cs typeface="Calibri"/>
              </a:rPr>
              <a:t>star</a:t>
            </a:r>
            <a:r>
              <a:rPr sz="4000" b="1" spc="12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as</a:t>
            </a:r>
            <a:endParaRPr sz="4000">
              <a:latin typeface="Calibri"/>
              <a:cs typeface="Calibri"/>
            </a:endParaRPr>
          </a:p>
          <a:p>
            <a:pPr marL="355600" marR="5080">
              <a:lnSpc>
                <a:spcPct val="90000"/>
              </a:lnSpc>
              <a:spcBef>
                <a:spcPts val="1970"/>
              </a:spcBef>
            </a:pP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an </a:t>
            </a:r>
            <a:r>
              <a:rPr sz="4000" b="1" spc="-20" dirty="0">
                <a:solidFill>
                  <a:srgbClr val="0000CC"/>
                </a:solidFill>
                <a:latin typeface="Calibri"/>
                <a:cs typeface="Calibri"/>
              </a:rPr>
              <a:t>operation </a:t>
            </a:r>
            <a:r>
              <a:rPr sz="4000" b="1" spc="-15" dirty="0">
                <a:solidFill>
                  <a:srgbClr val="0000CC"/>
                </a:solidFill>
                <a:latin typeface="Calibri"/>
                <a:cs typeface="Calibri"/>
              </a:rPr>
              <a:t>that </a:t>
            </a:r>
            <a:r>
              <a:rPr sz="4000" b="1" spc="-30" dirty="0">
                <a:solidFill>
                  <a:srgbClr val="0000CC"/>
                </a:solidFill>
                <a:latin typeface="Calibri"/>
                <a:cs typeface="Calibri"/>
              </a:rPr>
              <a:t>makes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an </a:t>
            </a:r>
            <a:r>
              <a:rPr sz="4000" b="1" spc="-15" dirty="0">
                <a:solidFill>
                  <a:srgbClr val="0000CC"/>
                </a:solidFill>
                <a:latin typeface="Calibri"/>
                <a:cs typeface="Calibri"/>
              </a:rPr>
              <a:t>infinite 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language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strings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4000" b="1" spc="-25" dirty="0">
                <a:solidFill>
                  <a:srgbClr val="0000CC"/>
                </a:solidFill>
                <a:latin typeface="Calibri"/>
                <a:cs typeface="Calibri"/>
              </a:rPr>
              <a:t>letter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out of  an alphabet.</a:t>
            </a:r>
            <a:endParaRPr sz="4000">
              <a:latin typeface="Calibri"/>
              <a:cs typeface="Calibri"/>
            </a:endParaRPr>
          </a:p>
          <a:p>
            <a:pPr marL="355600" marR="250190">
              <a:lnSpc>
                <a:spcPts val="4320"/>
              </a:lnSpc>
              <a:spcBef>
                <a:spcPts val="3425"/>
              </a:spcBef>
            </a:pPr>
            <a:r>
              <a:rPr sz="4000" b="1" spc="-15" dirty="0">
                <a:latin typeface="Calibri"/>
                <a:cs typeface="Calibri"/>
              </a:rPr>
              <a:t>Infinite </a:t>
            </a:r>
            <a:r>
              <a:rPr sz="4000" b="1" spc="-10" dirty="0">
                <a:latin typeface="Calibri"/>
                <a:cs typeface="Calibri"/>
              </a:rPr>
              <a:t>language </a:t>
            </a:r>
            <a:r>
              <a:rPr sz="4000" b="1" spc="-5" dirty="0">
                <a:latin typeface="Calibri"/>
                <a:cs typeface="Calibri"/>
              </a:rPr>
              <a:t>= </a:t>
            </a:r>
            <a:r>
              <a:rPr sz="4000" b="1" spc="-15" dirty="0">
                <a:latin typeface="Calibri"/>
                <a:cs typeface="Calibri"/>
              </a:rPr>
              <a:t>infinitely </a:t>
            </a:r>
            <a:r>
              <a:rPr sz="4000" b="1" spc="-25" dirty="0">
                <a:latin typeface="Calibri"/>
                <a:cs typeface="Calibri"/>
              </a:rPr>
              <a:t>many  </a:t>
            </a:r>
            <a:r>
              <a:rPr sz="4000" b="1" spc="-20" dirty="0">
                <a:latin typeface="Calibri"/>
                <a:cs typeface="Calibri"/>
              </a:rPr>
              <a:t>words, </a:t>
            </a:r>
            <a:r>
              <a:rPr sz="4000" b="1" spc="-10" dirty="0">
                <a:latin typeface="Calibri"/>
                <a:cs typeface="Calibri"/>
              </a:rPr>
              <a:t>each </a:t>
            </a:r>
            <a:r>
              <a:rPr sz="4000" b="1" spc="-5" dirty="0">
                <a:latin typeface="Calibri"/>
                <a:cs typeface="Calibri"/>
              </a:rPr>
              <a:t>of </a:t>
            </a:r>
            <a:r>
              <a:rPr sz="4000" b="1" spc="-15" dirty="0">
                <a:latin typeface="Calibri"/>
                <a:cs typeface="Calibri"/>
              </a:rPr>
              <a:t>finite</a:t>
            </a:r>
            <a:r>
              <a:rPr sz="4000" b="1" spc="5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length.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872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0829" y="461594"/>
            <a:ext cx="36118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Definition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814"/>
            <a:ext cx="7929880" cy="436880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489584" indent="-477520">
              <a:lnSpc>
                <a:spcPct val="100000"/>
              </a:lnSpc>
              <a:spcBef>
                <a:spcPts val="2325"/>
              </a:spcBef>
              <a:buFont typeface="Arial"/>
              <a:buChar char="•"/>
              <a:tabLst>
                <a:tab pos="489584" algn="l"/>
                <a:tab pos="490220" algn="l"/>
              </a:tabLst>
            </a:pPr>
            <a:r>
              <a:rPr sz="3700" b="1" spc="-5" dirty="0">
                <a:latin typeface="Calibri"/>
                <a:cs typeface="Calibri"/>
              </a:rPr>
              <a:t>If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5" dirty="0">
                <a:latin typeface="Calibri"/>
                <a:cs typeface="Calibri"/>
              </a:rPr>
              <a:t>set </a:t>
            </a:r>
            <a:r>
              <a:rPr sz="3700" b="1" spc="-5" dirty="0">
                <a:latin typeface="Calibri"/>
                <a:cs typeface="Calibri"/>
              </a:rPr>
              <a:t>of </a:t>
            </a:r>
            <a:r>
              <a:rPr sz="3700" b="1" spc="-15" dirty="0">
                <a:latin typeface="Calibri"/>
                <a:cs typeface="Calibri"/>
              </a:rPr>
              <a:t>words, </a:t>
            </a:r>
            <a:r>
              <a:rPr sz="3700" b="1" spc="-5" dirty="0">
                <a:latin typeface="Calibri"/>
                <a:cs typeface="Calibri"/>
              </a:rPr>
              <a:t>then </a:t>
            </a:r>
            <a:r>
              <a:rPr sz="3700" b="1" spc="-20" dirty="0">
                <a:latin typeface="Calibri"/>
                <a:cs typeface="Calibri"/>
              </a:rPr>
              <a:t>by</a:t>
            </a:r>
            <a:r>
              <a:rPr sz="3700" b="1" spc="85" dirty="0"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S*</a:t>
            </a:r>
            <a:endParaRPr sz="3700" dirty="0">
              <a:latin typeface="Calibri"/>
              <a:cs typeface="Calibri"/>
            </a:endParaRPr>
          </a:p>
          <a:p>
            <a:pPr marL="489584" marR="208279">
              <a:lnSpc>
                <a:spcPct val="80000"/>
              </a:lnSpc>
              <a:spcBef>
                <a:spcPts val="3105"/>
              </a:spcBef>
            </a:pP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Means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set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of all </a:t>
            </a:r>
            <a:r>
              <a:rPr sz="3700" b="1" spc="-15" dirty="0">
                <a:solidFill>
                  <a:srgbClr val="0000CC"/>
                </a:solidFill>
                <a:latin typeface="Calibri"/>
                <a:cs typeface="Calibri"/>
              </a:rPr>
              <a:t>finite 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strings  </a:t>
            </a:r>
            <a:r>
              <a:rPr sz="3700" b="1" spc="-15" dirty="0">
                <a:solidFill>
                  <a:srgbClr val="0000CC"/>
                </a:solidFill>
                <a:latin typeface="Calibri"/>
                <a:cs typeface="Calibri"/>
              </a:rPr>
              <a:t>formed </a:t>
            </a:r>
            <a:r>
              <a:rPr sz="3700" b="1" spc="-20" dirty="0">
                <a:solidFill>
                  <a:srgbClr val="0000CC"/>
                </a:solidFill>
                <a:latin typeface="Calibri"/>
                <a:cs typeface="Calibri"/>
              </a:rPr>
              <a:t>by concatenating words </a:t>
            </a:r>
            <a:r>
              <a:rPr sz="3700" b="1" spc="-15" dirty="0">
                <a:solidFill>
                  <a:srgbClr val="0000CC"/>
                </a:solidFill>
                <a:latin typeface="Calibri"/>
                <a:cs typeface="Calibri"/>
              </a:rPr>
              <a:t>from 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S,</a:t>
            </a:r>
            <a:endParaRPr sz="3700" dirty="0">
              <a:latin typeface="Calibri"/>
              <a:cs typeface="Calibri"/>
            </a:endParaRPr>
          </a:p>
          <a:p>
            <a:pPr marL="489584" marR="5080" algn="just">
              <a:lnSpc>
                <a:spcPct val="80000"/>
              </a:lnSpc>
              <a:spcBef>
                <a:spcPts val="3110"/>
              </a:spcBef>
            </a:pPr>
            <a:r>
              <a:rPr sz="3700" b="1" spc="-15" dirty="0">
                <a:latin typeface="Calibri"/>
                <a:cs typeface="Calibri"/>
              </a:rPr>
              <a:t>where </a:t>
            </a:r>
            <a:r>
              <a:rPr sz="3700" b="1" spc="-30" dirty="0">
                <a:latin typeface="Calibri"/>
                <a:cs typeface="Calibri"/>
              </a:rPr>
              <a:t>any </a:t>
            </a:r>
            <a:r>
              <a:rPr sz="3700" b="1" spc="-25" dirty="0">
                <a:latin typeface="Calibri"/>
                <a:cs typeface="Calibri"/>
              </a:rPr>
              <a:t>word </a:t>
            </a:r>
            <a:r>
              <a:rPr sz="3700" b="1" spc="-30" dirty="0">
                <a:latin typeface="Calibri"/>
                <a:cs typeface="Calibri"/>
              </a:rPr>
              <a:t>may </a:t>
            </a:r>
            <a:r>
              <a:rPr sz="3700" b="1" spc="-5" dirty="0">
                <a:latin typeface="Calibri"/>
                <a:cs typeface="Calibri"/>
              </a:rPr>
              <a:t>be used as </a:t>
            </a:r>
            <a:r>
              <a:rPr sz="3700" b="1" spc="-15" dirty="0">
                <a:latin typeface="Calibri"/>
                <a:cs typeface="Calibri"/>
              </a:rPr>
              <a:t>often  </a:t>
            </a:r>
            <a:r>
              <a:rPr sz="3700" b="1" spc="-5" dirty="0">
                <a:latin typeface="Calibri"/>
                <a:cs typeface="Calibri"/>
              </a:rPr>
              <a:t>as </a:t>
            </a:r>
            <a:r>
              <a:rPr sz="3700" b="1" spc="-15" dirty="0">
                <a:latin typeface="Calibri"/>
                <a:cs typeface="Calibri"/>
              </a:rPr>
              <a:t>we </a:t>
            </a:r>
            <a:r>
              <a:rPr sz="3700" b="1" spc="-25" dirty="0">
                <a:latin typeface="Calibri"/>
                <a:cs typeface="Calibri"/>
              </a:rPr>
              <a:t>like, </a:t>
            </a:r>
            <a:r>
              <a:rPr sz="3700" b="1" spc="-5" dirty="0">
                <a:latin typeface="Calibri"/>
                <a:cs typeface="Calibri"/>
              </a:rPr>
              <a:t>and </a:t>
            </a:r>
            <a:r>
              <a:rPr sz="3700" b="1" spc="-15" dirty="0">
                <a:latin typeface="Calibri"/>
                <a:cs typeface="Calibri"/>
              </a:rPr>
              <a:t>where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empty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string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is  also included.</a:t>
            </a:r>
            <a:endParaRPr sz="3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081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372747"/>
            <a:ext cx="8565515" cy="4230582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355600" algn="l"/>
                <a:tab pos="2390775" algn="l"/>
              </a:tabLst>
            </a:pPr>
            <a:r>
              <a:rPr sz="4000" b="1" spc="-5" dirty="0">
                <a:latin typeface="Calibri"/>
                <a:cs typeface="Calibri"/>
              </a:rPr>
              <a:t>If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40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4000" b="1" spc="-10" dirty="0">
                <a:solidFill>
                  <a:srgbClr val="0000CC"/>
                </a:solidFill>
                <a:latin typeface="Calibri"/>
                <a:cs typeface="Calibri"/>
              </a:rPr>
              <a:t> {aa</a:t>
            </a:r>
            <a:r>
              <a:rPr lang="en-US" sz="4000" b="1" spc="-10" dirty="0">
                <a:solidFill>
                  <a:srgbClr val="0000CC"/>
                </a:solidFill>
                <a:latin typeface="Calibri"/>
                <a:cs typeface="Calibri"/>
              </a:rPr>
              <a:t>,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r>
              <a:rPr sz="4000" b="1" spc="-5" dirty="0">
                <a:latin typeface="Calibri"/>
                <a:cs typeface="Calibri"/>
              </a:rPr>
              <a:t>,</a:t>
            </a:r>
            <a:r>
              <a:rPr sz="4000" b="1" spc="1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then</a:t>
            </a:r>
            <a:endParaRPr sz="4000" dirty="0">
              <a:latin typeface="Calibri"/>
              <a:cs typeface="Calibri"/>
            </a:endParaRPr>
          </a:p>
          <a:p>
            <a:pPr marL="1841500" marR="1626870" indent="-1486535">
              <a:lnSpc>
                <a:spcPct val="112000"/>
              </a:lnSpc>
              <a:spcBef>
                <a:spcPts val="755"/>
              </a:spcBef>
            </a:pP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S* =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lang="el-GR" sz="36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plus </a:t>
            </a:r>
            <a:r>
              <a:rPr sz="3600" b="1" spc="-20" dirty="0">
                <a:solidFill>
                  <a:srgbClr val="0000CC"/>
                </a:solidFill>
                <a:latin typeface="Calibri"/>
                <a:cs typeface="Calibri"/>
              </a:rPr>
              <a:t>any word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composed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of  </a:t>
            </a:r>
            <a:r>
              <a:rPr sz="3600" b="1" spc="-20" dirty="0">
                <a:solidFill>
                  <a:srgbClr val="0000CC"/>
                </a:solidFill>
                <a:latin typeface="Calibri"/>
                <a:cs typeface="Calibri"/>
              </a:rPr>
              <a:t>factors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3600" b="1" spc="-5" dirty="0">
                <a:solidFill>
                  <a:srgbClr val="FF0000"/>
                </a:solidFill>
                <a:latin typeface="Calibri"/>
                <a:cs typeface="Calibri"/>
              </a:rPr>
              <a:t>aa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36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spc="-18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3600" b="1" spc="-185" dirty="0">
                <a:solidFill>
                  <a:srgbClr val="0000CC"/>
                </a:solidFill>
                <a:latin typeface="Arial Narrow"/>
                <a:cs typeface="Arial Narrow"/>
              </a:rPr>
              <a:t>}</a:t>
            </a:r>
            <a:endParaRPr sz="3600" dirty="0">
              <a:latin typeface="Arial Narrow"/>
              <a:cs typeface="Arial Narrow"/>
            </a:endParaRPr>
          </a:p>
          <a:p>
            <a:pPr marL="872490">
              <a:lnSpc>
                <a:spcPct val="100000"/>
              </a:lnSpc>
              <a:spcBef>
                <a:spcPts val="865"/>
              </a:spcBef>
            </a:pPr>
            <a:r>
              <a:rPr sz="3600" b="1" spc="-350" dirty="0">
                <a:solidFill>
                  <a:srgbClr val="0000CC"/>
                </a:solidFill>
                <a:latin typeface="Arial Narrow"/>
                <a:cs typeface="Arial Narrow"/>
              </a:rPr>
              <a:t>= </a:t>
            </a:r>
            <a:r>
              <a:rPr sz="3600" b="1" spc="-185" dirty="0">
                <a:solidFill>
                  <a:srgbClr val="0000CC"/>
                </a:solidFill>
                <a:latin typeface="Arial Narrow"/>
                <a:cs typeface="Arial Narrow"/>
              </a:rPr>
              <a:t>{</a:t>
            </a:r>
            <a:r>
              <a:rPr lang="el-GR" sz="36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600" b="1" spc="-18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plus all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strings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3600" b="1" spc="-7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600" b="1" spc="-75" dirty="0">
                <a:solidFill>
                  <a:srgbClr val="0000CC"/>
                </a:solidFill>
                <a:latin typeface="Calibri"/>
                <a:cs typeface="Calibri"/>
              </a:rPr>
              <a:t>’s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3600" b="1" spc="-70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3600" b="1" spc="-70" dirty="0">
                <a:solidFill>
                  <a:srgbClr val="0000CC"/>
                </a:solidFill>
                <a:latin typeface="Calibri"/>
                <a:cs typeface="Calibri"/>
              </a:rPr>
              <a:t>’s</a:t>
            </a:r>
            <a:r>
              <a:rPr sz="3600" b="1" spc="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endParaRPr sz="3600" dirty="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870"/>
              </a:spcBef>
            </a:pP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which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3600" b="1" spc="-7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600" b="1" spc="-75" dirty="0">
                <a:solidFill>
                  <a:srgbClr val="0000CC"/>
                </a:solidFill>
                <a:latin typeface="Calibri"/>
                <a:cs typeface="Calibri"/>
              </a:rPr>
              <a:t>’s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occur in </a:t>
            </a:r>
            <a:r>
              <a:rPr sz="3600" b="1" spc="-15" dirty="0">
                <a:solidFill>
                  <a:srgbClr val="0000CC"/>
                </a:solidFill>
                <a:latin typeface="Calibri"/>
                <a:cs typeface="Calibri"/>
              </a:rPr>
              <a:t>even</a:t>
            </a:r>
            <a:r>
              <a:rPr sz="3600" b="1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clumps}</a:t>
            </a:r>
            <a:endParaRPr sz="3600" dirty="0">
              <a:latin typeface="Calibri"/>
              <a:cs typeface="Calibri"/>
            </a:endParaRPr>
          </a:p>
          <a:p>
            <a:pPr marL="872490">
              <a:lnSpc>
                <a:spcPct val="100000"/>
              </a:lnSpc>
              <a:spcBef>
                <a:spcPts val="860"/>
              </a:spcBef>
              <a:tabLst>
                <a:tab pos="1884045" algn="l"/>
                <a:tab pos="2755900" algn="l"/>
                <a:tab pos="3670300" algn="l"/>
                <a:tab pos="4585335" algn="l"/>
                <a:tab pos="5499735" algn="l"/>
                <a:tab pos="6414135" algn="l"/>
                <a:tab pos="7328534" algn="l"/>
              </a:tabLst>
            </a:pPr>
            <a:r>
              <a:rPr sz="3600" b="1" spc="-350" dirty="0">
                <a:solidFill>
                  <a:srgbClr val="0000CC"/>
                </a:solidFill>
                <a:latin typeface="Arial Narrow"/>
                <a:cs typeface="Arial Narrow"/>
              </a:rPr>
              <a:t>=</a:t>
            </a:r>
            <a:r>
              <a:rPr sz="3600" b="1" spc="-15" dirty="0">
                <a:solidFill>
                  <a:srgbClr val="0000CC"/>
                </a:solidFill>
                <a:latin typeface="Arial Narrow"/>
                <a:cs typeface="Arial Narrow"/>
              </a:rPr>
              <a:t> </a:t>
            </a:r>
            <a:r>
              <a:rPr sz="3600" b="1" spc="-185" dirty="0">
                <a:solidFill>
                  <a:srgbClr val="0000CC"/>
                </a:solidFill>
                <a:latin typeface="Arial Narrow"/>
                <a:cs typeface="Arial Narrow"/>
              </a:rPr>
              <a:t>{</a:t>
            </a:r>
            <a:r>
              <a:rPr lang="el-GR" sz="36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lang="en-US" sz="3600" b="1" spc="-5" dirty="0">
                <a:solidFill>
                  <a:srgbClr val="0000CC"/>
                </a:solidFill>
                <a:cs typeface="Calibri"/>
                <a:sym typeface="Symbol" panose="05050102010706020507" pitchFamily="18" charset="2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6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36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bb</a:t>
            </a:r>
            <a:r>
              <a:rPr lang="en-US" sz="36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spc="-5" dirty="0" err="1">
                <a:solidFill>
                  <a:srgbClr val="0000CC"/>
                </a:solidFill>
                <a:latin typeface="Calibri"/>
                <a:cs typeface="Calibri"/>
              </a:rPr>
              <a:t>aab</a:t>
            </a:r>
            <a:r>
              <a:rPr lang="en-US" sz="36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baa</a:t>
            </a:r>
            <a:r>
              <a:rPr lang="en-US" sz="36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 err="1">
                <a:solidFill>
                  <a:srgbClr val="0000CC"/>
                </a:solidFill>
                <a:latin typeface="Calibri"/>
                <a:cs typeface="Calibri"/>
              </a:rPr>
              <a:t>bbb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	…</a:t>
            </a:r>
            <a:r>
              <a:rPr sz="36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773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78381"/>
            <a:ext cx="49625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1532255" algn="l"/>
              </a:tabLst>
            </a:pPr>
            <a:r>
              <a:rPr sz="2500" b="1" spc="-5" dirty="0">
                <a:solidFill>
                  <a:srgbClr val="0000CC"/>
                </a:solidFill>
                <a:latin typeface="Calibri"/>
                <a:cs typeface="Calibri"/>
              </a:rPr>
              <a:t>S*</a:t>
            </a:r>
            <a:r>
              <a:rPr sz="250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25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5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500" b="1" spc="-30" dirty="0">
                <a:solidFill>
                  <a:srgbClr val="0000CC"/>
                </a:solidFill>
                <a:latin typeface="Calibri"/>
                <a:cs typeface="Calibri"/>
              </a:rPr>
              <a:t>b}*</a:t>
            </a:r>
            <a:r>
              <a:rPr sz="2500" b="1" spc="-30" dirty="0">
                <a:latin typeface="Arial Narrow"/>
                <a:cs typeface="Arial Narrow"/>
              </a:rPr>
              <a:t>, </a:t>
            </a:r>
            <a:r>
              <a:rPr sz="2500" b="1" spc="-10" dirty="0">
                <a:latin typeface="Calibri"/>
                <a:cs typeface="Calibri"/>
              </a:rPr>
              <a:t>where </a:t>
            </a:r>
            <a:r>
              <a:rPr sz="2500" b="1" spc="-5" dirty="0">
                <a:latin typeface="Calibri"/>
                <a:cs typeface="Calibri"/>
              </a:rPr>
              <a:t>* = 0, 1, 2, </a:t>
            </a:r>
            <a:r>
              <a:rPr sz="2500" b="1" spc="-10" dirty="0">
                <a:latin typeface="Calibri"/>
                <a:cs typeface="Calibri"/>
              </a:rPr>
              <a:t>3,</a:t>
            </a:r>
            <a:r>
              <a:rPr sz="2500" b="1" spc="-2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…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40" y="2091055"/>
            <a:ext cx="877569" cy="119904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sz="2100" b="1" spc="-5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2100" b="1" spc="385" dirty="0" err="1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2100" b="1" dirty="0" err="1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r>
              <a:rPr sz="2100" b="1" baseline="25793" dirty="0">
                <a:solidFill>
                  <a:srgbClr val="0000CC"/>
                </a:solidFill>
                <a:latin typeface="Calibri"/>
                <a:cs typeface="Calibri"/>
              </a:rPr>
              <a:t>0</a:t>
            </a:r>
            <a:endParaRPr sz="2100" baseline="25793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sz="2100" b="1" spc="-5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2100" b="1" spc="385" dirty="0" err="1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2100" b="1" dirty="0" err="1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r>
              <a:rPr sz="2100" b="1" baseline="25793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endParaRPr sz="2100" baseline="25793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sz="2100" b="1" spc="-5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2100" b="1" spc="385" dirty="0" err="1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2100" b="1" dirty="0" err="1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r>
              <a:rPr sz="2100" b="1" baseline="25793" dirty="0">
                <a:solidFill>
                  <a:srgbClr val="0000CC"/>
                </a:solidFill>
                <a:latin typeface="Calibri"/>
                <a:cs typeface="Calibri"/>
              </a:rPr>
              <a:t>2</a:t>
            </a:r>
            <a:endParaRPr sz="2100" baseline="25793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040" y="3714369"/>
            <a:ext cx="87756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sz="2100" b="1" spc="-5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2100" b="1" spc="405" dirty="0" err="1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2100" b="1" dirty="0" err="1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r>
              <a:rPr sz="2100" b="1" baseline="25793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2100" baseline="25793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040" y="4482541"/>
            <a:ext cx="87756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-5" dirty="0">
                <a:solidFill>
                  <a:srgbClr val="0000CC"/>
                </a:solidFill>
                <a:latin typeface="Calibri"/>
                <a:cs typeface="Calibri"/>
              </a:rPr>
              <a:t>,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r>
              <a:rPr sz="2100" b="1" baseline="25793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2100" baseline="25793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8714" y="2091055"/>
            <a:ext cx="7064375" cy="41639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100" b="1" spc="-204" dirty="0">
                <a:solidFill>
                  <a:srgbClr val="0000CC"/>
                </a:solidFill>
                <a:latin typeface="Arial Narrow"/>
                <a:cs typeface="Arial Narrow"/>
              </a:rPr>
              <a:t>=</a:t>
            </a:r>
            <a:r>
              <a:rPr sz="2100" b="1" spc="-20" dirty="0">
                <a:solidFill>
                  <a:srgbClr val="0000CC"/>
                </a:solidFill>
                <a:latin typeface="Arial Narrow"/>
                <a:cs typeface="Arial Narrow"/>
              </a:rPr>
              <a:t> </a:t>
            </a:r>
            <a:r>
              <a:rPr sz="2100" b="1" spc="-145" dirty="0">
                <a:solidFill>
                  <a:srgbClr val="FF0000"/>
                </a:solidFill>
                <a:latin typeface="Arial Narrow"/>
                <a:cs typeface="Arial Narrow"/>
              </a:rPr>
              <a:t>{</a:t>
            </a:r>
            <a:r>
              <a:rPr lang="el-GR" sz="2100" b="1" spc="-75" dirty="0">
                <a:solidFill>
                  <a:srgbClr val="FF0000"/>
                </a:solidFill>
                <a:latin typeface="Calibri"/>
                <a:cs typeface="Calibri"/>
              </a:rPr>
              <a:t>λ</a:t>
            </a:r>
            <a:r>
              <a:rPr sz="2100" b="1" spc="-145" dirty="0">
                <a:solidFill>
                  <a:srgbClr val="FF0000"/>
                </a:solidFill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100" b="1" spc="-204" dirty="0">
                <a:solidFill>
                  <a:srgbClr val="0000CC"/>
                </a:solidFill>
                <a:latin typeface="Arial Narrow"/>
                <a:cs typeface="Arial Narrow"/>
              </a:rPr>
              <a:t>= </a:t>
            </a:r>
            <a:r>
              <a:rPr sz="2100" b="1" spc="-75" dirty="0">
                <a:solidFill>
                  <a:srgbClr val="FF0000"/>
                </a:solidFill>
                <a:latin typeface="Arial Narrow"/>
                <a:cs typeface="Arial Narrow"/>
              </a:rPr>
              <a:t>{</a:t>
            </a:r>
            <a:r>
              <a:rPr sz="2100" b="1" spc="-75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lang="en-US" sz="21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110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100" b="1" spc="-110" dirty="0">
                <a:solidFill>
                  <a:srgbClr val="FF0000"/>
                </a:solidFill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{aa</a:t>
            </a:r>
            <a:r>
              <a:rPr lang="en-US" sz="21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{aa</a:t>
            </a:r>
            <a:r>
              <a:rPr lang="en-US" sz="21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2100" dirty="0">
              <a:latin typeface="Calibri"/>
              <a:cs typeface="Calibri"/>
            </a:endParaRPr>
          </a:p>
          <a:p>
            <a:pPr marL="83820">
              <a:lnSpc>
                <a:spcPct val="100000"/>
              </a:lnSpc>
              <a:spcBef>
                <a:spcPts val="30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2100" b="1" spc="-50" dirty="0">
                <a:solidFill>
                  <a:srgbClr val="FF0000"/>
                </a:solidFill>
                <a:latin typeface="Arial Narrow"/>
                <a:cs typeface="Arial Narrow"/>
              </a:rPr>
              <a:t>{</a:t>
            </a:r>
            <a:r>
              <a:rPr sz="2100" b="1" spc="-50" dirty="0" err="1">
                <a:solidFill>
                  <a:srgbClr val="FF0000"/>
                </a:solidFill>
                <a:latin typeface="Calibri"/>
                <a:cs typeface="Calibri"/>
              </a:rPr>
              <a:t>aaaa</a:t>
            </a:r>
            <a:r>
              <a:rPr lang="en-US" sz="21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FF0000"/>
                </a:solidFill>
                <a:latin typeface="Calibri"/>
                <a:cs typeface="Calibri"/>
              </a:rPr>
              <a:t>baa</a:t>
            </a:r>
            <a:r>
              <a:rPr lang="en-US" sz="2100" b="1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75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b="1" spc="-75" dirty="0">
                <a:solidFill>
                  <a:srgbClr val="FF0000"/>
                </a:solidFill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{aa</a:t>
            </a:r>
            <a:r>
              <a:rPr lang="en-US" sz="21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{aa</a:t>
            </a:r>
            <a:r>
              <a:rPr lang="en-US" sz="21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</a:t>
            </a: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2100" dirty="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30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2100" b="1" spc="-35" dirty="0">
                <a:solidFill>
                  <a:srgbClr val="FF0000"/>
                </a:solidFill>
                <a:latin typeface="Arial Narrow"/>
                <a:cs typeface="Arial Narrow"/>
              </a:rPr>
              <a:t>{</a:t>
            </a:r>
            <a:r>
              <a:rPr sz="2100" b="1" spc="-35" dirty="0" err="1">
                <a:solidFill>
                  <a:srgbClr val="FF0000"/>
                </a:solidFill>
                <a:latin typeface="Calibri"/>
                <a:cs typeface="Calibri"/>
              </a:rPr>
              <a:t>aaaaaa</a:t>
            </a:r>
            <a:r>
              <a:rPr lang="en-US" sz="21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aaaab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aabaa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baaaa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baab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bbaa</a:t>
            </a:r>
            <a:r>
              <a:rPr lang="en-US" sz="2100" b="1" spc="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5" dirty="0" err="1">
                <a:solidFill>
                  <a:srgbClr val="FF0000"/>
                </a:solidFill>
                <a:latin typeface="Calibri"/>
                <a:cs typeface="Calibri"/>
              </a:rPr>
              <a:t>bbb</a:t>
            </a:r>
            <a:r>
              <a:rPr sz="2100" b="1" spc="-55" dirty="0">
                <a:solidFill>
                  <a:srgbClr val="FF0000"/>
                </a:solidFill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  <a:p>
            <a:pPr marL="73660">
              <a:lnSpc>
                <a:spcPct val="100000"/>
              </a:lnSpc>
              <a:spcBef>
                <a:spcPts val="71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</a:t>
            </a: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</a:t>
            </a: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 </a:t>
            </a: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{aa</a:t>
            </a:r>
            <a:r>
              <a:rPr lang="en-US" sz="21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2100" dirty="0">
              <a:latin typeface="Calibri"/>
              <a:cs typeface="Calibri"/>
            </a:endParaRPr>
          </a:p>
          <a:p>
            <a:pPr marL="144780">
              <a:spcBef>
                <a:spcPts val="300"/>
              </a:spcBef>
            </a:pPr>
            <a:r>
              <a:rPr sz="21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2100" b="1" spc="-30" dirty="0">
                <a:solidFill>
                  <a:srgbClr val="FF0000"/>
                </a:solidFill>
                <a:latin typeface="Arial Narrow"/>
                <a:cs typeface="Arial Narrow"/>
              </a:rPr>
              <a:t>{</a:t>
            </a:r>
            <a:r>
              <a:rPr sz="2100" b="1" spc="-30" dirty="0" err="1">
                <a:solidFill>
                  <a:srgbClr val="FF0000"/>
                </a:solidFill>
                <a:latin typeface="Calibri"/>
                <a:cs typeface="Calibri"/>
              </a:rPr>
              <a:t>aaaaaaaa</a:t>
            </a:r>
            <a:r>
              <a:rPr lang="en-US" sz="21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aaaaaab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aaaabaa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aaaabb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aabaaaa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aabaab</a:t>
            </a:r>
            <a:r>
              <a:rPr lang="en-US" sz="21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b="1" spc="-5" dirty="0" err="1">
                <a:solidFill>
                  <a:srgbClr val="FF0000"/>
                </a:solidFill>
                <a:latin typeface="Calibri"/>
                <a:cs typeface="Calibri"/>
              </a:rPr>
              <a:t>aabbaa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aabbb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baaaaaa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baaaab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baabaa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baabb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bbaaaa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bbaab</a:t>
            </a:r>
            <a:r>
              <a:rPr lang="en-US" sz="2100" b="1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5" dirty="0" err="1">
                <a:solidFill>
                  <a:srgbClr val="FF0000"/>
                </a:solidFill>
                <a:cs typeface="Calibri"/>
              </a:rPr>
              <a:t>bbbaa</a:t>
            </a:r>
            <a:r>
              <a:rPr lang="en-US" sz="2100" b="1" spc="12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100" b="1" spc="-45" dirty="0" err="1">
                <a:solidFill>
                  <a:srgbClr val="FF0000"/>
                </a:solidFill>
                <a:cs typeface="Calibri"/>
              </a:rPr>
              <a:t>bbbb</a:t>
            </a:r>
            <a:r>
              <a:rPr lang="en-US" sz="2100" b="1" spc="-45" dirty="0">
                <a:solidFill>
                  <a:srgbClr val="FF0000"/>
                </a:solidFill>
                <a:latin typeface="Arial Narrow"/>
                <a:cs typeface="Arial Narrow"/>
              </a:rPr>
              <a:t>}</a:t>
            </a:r>
            <a:endParaRPr lang="en-US" sz="2100" dirty="0">
              <a:latin typeface="Arial Narrow"/>
              <a:cs typeface="Arial Narrow"/>
            </a:endParaRPr>
          </a:p>
          <a:p>
            <a:pPr marL="144780">
              <a:lnSpc>
                <a:spcPct val="100000"/>
              </a:lnSpc>
              <a:spcBef>
                <a:spcPts val="300"/>
              </a:spcBef>
            </a:pPr>
            <a:endParaRPr sz="2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073" y="5679212"/>
            <a:ext cx="7322820" cy="4001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b="1" spc="-5" dirty="0">
                <a:solidFill>
                  <a:srgbClr val="0000CC"/>
                </a:solidFill>
                <a:latin typeface="Calibri"/>
                <a:cs typeface="Calibri"/>
              </a:rPr>
              <a:t>……..</a:t>
            </a:r>
            <a:endParaRPr sz="2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627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423519"/>
          </a:xfrm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505"/>
              </a:spcBef>
              <a:buFont typeface="Arial"/>
              <a:buChar char="•"/>
              <a:tabLst>
                <a:tab pos="355600" algn="l"/>
                <a:tab pos="2139950" algn="l"/>
              </a:tabLst>
            </a:pPr>
            <a:r>
              <a:rPr sz="4000" spc="-5" dirty="0">
                <a:solidFill>
                  <a:srgbClr val="000000"/>
                </a:solidFill>
              </a:rPr>
              <a:t>If </a:t>
            </a:r>
            <a:r>
              <a:rPr sz="4000" spc="-5" dirty="0"/>
              <a:t>S</a:t>
            </a:r>
            <a:r>
              <a:rPr sz="4000" spc="5" dirty="0"/>
              <a:t> </a:t>
            </a:r>
            <a:r>
              <a:rPr sz="4000" spc="-5" dirty="0"/>
              <a:t>=</a:t>
            </a:r>
            <a:r>
              <a:rPr sz="4000" spc="-10" dirty="0"/>
              <a:t> </a:t>
            </a:r>
            <a:r>
              <a:rPr sz="4000" spc="-5" dirty="0"/>
              <a:t>{a</a:t>
            </a:r>
            <a:r>
              <a:rPr lang="en-US" sz="4000" spc="-5" dirty="0"/>
              <a:t>, </a:t>
            </a:r>
            <a:r>
              <a:rPr sz="4000" spc="-5" dirty="0"/>
              <a:t>ab}</a:t>
            </a:r>
            <a:r>
              <a:rPr sz="4000" spc="-5" dirty="0">
                <a:solidFill>
                  <a:srgbClr val="000000"/>
                </a:solidFill>
              </a:rPr>
              <a:t>,</a:t>
            </a:r>
            <a:r>
              <a:rPr sz="4000" spc="10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then</a:t>
            </a:r>
            <a:endParaRPr sz="4000" dirty="0"/>
          </a:p>
          <a:p>
            <a:pPr marL="254635" marR="26034" indent="0">
              <a:lnSpc>
                <a:spcPct val="76800"/>
              </a:lnSpc>
              <a:spcBef>
                <a:spcPts val="3510"/>
              </a:spcBef>
              <a:buNone/>
            </a:pPr>
            <a:r>
              <a:rPr sz="3200" b="1" dirty="0">
                <a:solidFill>
                  <a:srgbClr val="0000FF"/>
                </a:solidFill>
              </a:rPr>
              <a:t>S* </a:t>
            </a:r>
            <a:r>
              <a:rPr sz="3200" dirty="0"/>
              <a:t>= </a:t>
            </a:r>
            <a:r>
              <a:rPr sz="3200" spc="-5" dirty="0"/>
              <a:t>{</a:t>
            </a:r>
            <a:r>
              <a:rPr lang="el-GR" sz="3200" spc="-165" dirty="0">
                <a:solidFill>
                  <a:srgbClr val="FF0000"/>
                </a:solidFill>
                <a:latin typeface="Arial Narrow"/>
                <a:cs typeface="Arial Narrow"/>
              </a:rPr>
              <a:t>λ</a:t>
            </a:r>
            <a:r>
              <a:rPr sz="4000" spc="-5" dirty="0">
                <a:solidFill>
                  <a:srgbClr val="FF0000"/>
                </a:solidFill>
              </a:rPr>
              <a:t> </a:t>
            </a:r>
            <a:r>
              <a:rPr sz="3200" dirty="0"/>
              <a:t>plus </a:t>
            </a:r>
            <a:r>
              <a:rPr sz="3200" spc="-20" dirty="0"/>
              <a:t>any </a:t>
            </a:r>
            <a:r>
              <a:rPr sz="3200" spc="-15" dirty="0"/>
              <a:t>word </a:t>
            </a:r>
            <a:r>
              <a:rPr sz="3200" spc="-5" dirty="0"/>
              <a:t>composed </a:t>
            </a:r>
            <a:r>
              <a:rPr sz="3200" dirty="0"/>
              <a:t>of </a:t>
            </a:r>
            <a:r>
              <a:rPr sz="3200" spc="-15" dirty="0"/>
              <a:t>factors</a:t>
            </a:r>
            <a:r>
              <a:rPr sz="3200" spc="-275" dirty="0"/>
              <a:t> </a:t>
            </a:r>
            <a:r>
              <a:rPr sz="3200" dirty="0"/>
              <a:t>of  </a:t>
            </a:r>
            <a:r>
              <a:rPr sz="3200" dirty="0">
                <a:solidFill>
                  <a:srgbClr val="FF0000"/>
                </a:solidFill>
              </a:rPr>
              <a:t>a </a:t>
            </a:r>
            <a:r>
              <a:rPr sz="3200" dirty="0"/>
              <a:t>and</a:t>
            </a:r>
            <a:r>
              <a:rPr sz="3200" spc="-40" dirty="0"/>
              <a:t> </a:t>
            </a:r>
            <a:r>
              <a:rPr sz="3200" spc="-110" dirty="0">
                <a:solidFill>
                  <a:srgbClr val="FF0000"/>
                </a:solidFill>
              </a:rPr>
              <a:t>ab</a:t>
            </a:r>
            <a:r>
              <a:rPr sz="3200" spc="-110" dirty="0">
                <a:latin typeface="Arial Narrow"/>
                <a:cs typeface="Arial Narrow"/>
              </a:rPr>
              <a:t>}</a:t>
            </a:r>
            <a:endParaRPr lang="en-US" sz="3200" spc="-110" dirty="0">
              <a:latin typeface="Arial Narrow"/>
              <a:cs typeface="Arial Narrow"/>
            </a:endParaRPr>
          </a:p>
          <a:p>
            <a:pPr marL="254635" marR="26034" indent="0">
              <a:lnSpc>
                <a:spcPct val="76800"/>
              </a:lnSpc>
              <a:spcBef>
                <a:spcPts val="3510"/>
              </a:spcBef>
              <a:buNone/>
            </a:pPr>
            <a:r>
              <a:rPr lang="en-US" sz="3200" spc="-310" dirty="0">
                <a:latin typeface="Arial Narrow"/>
                <a:cs typeface="Arial Narrow"/>
              </a:rPr>
              <a:t>              </a:t>
            </a:r>
            <a:r>
              <a:rPr sz="3200" spc="-310" dirty="0">
                <a:latin typeface="Arial Narrow"/>
                <a:cs typeface="Arial Narrow"/>
              </a:rPr>
              <a:t>= </a:t>
            </a:r>
            <a:r>
              <a:rPr sz="3200" spc="-165" dirty="0">
                <a:latin typeface="Arial Narrow"/>
                <a:cs typeface="Arial Narrow"/>
              </a:rPr>
              <a:t>{</a:t>
            </a:r>
            <a:r>
              <a:rPr lang="el-GR" sz="3200" spc="-165" dirty="0">
                <a:solidFill>
                  <a:srgbClr val="FF0000"/>
                </a:solidFill>
                <a:latin typeface="Arial Narrow"/>
                <a:cs typeface="Arial Narrow"/>
              </a:rPr>
              <a:t>λ</a:t>
            </a:r>
            <a:r>
              <a:rPr sz="4000" spc="-165" dirty="0">
                <a:solidFill>
                  <a:srgbClr val="FF0000"/>
                </a:solidFill>
              </a:rPr>
              <a:t> </a:t>
            </a:r>
            <a:r>
              <a:rPr sz="3200" dirty="0"/>
              <a:t>plus all </a:t>
            </a:r>
            <a:r>
              <a:rPr sz="3200" spc="-5" dirty="0"/>
              <a:t>strings </a:t>
            </a:r>
            <a:r>
              <a:rPr sz="3200" dirty="0"/>
              <a:t>of </a:t>
            </a:r>
            <a:r>
              <a:rPr sz="3200" spc="-60" dirty="0">
                <a:solidFill>
                  <a:srgbClr val="FF0000"/>
                </a:solidFill>
              </a:rPr>
              <a:t>a</a:t>
            </a:r>
            <a:r>
              <a:rPr sz="3200" spc="-60" dirty="0"/>
              <a:t>’s </a:t>
            </a:r>
            <a:r>
              <a:rPr sz="3200" dirty="0"/>
              <a:t>and </a:t>
            </a:r>
            <a:r>
              <a:rPr sz="3200" spc="-65" dirty="0">
                <a:solidFill>
                  <a:srgbClr val="FF0000"/>
                </a:solidFill>
              </a:rPr>
              <a:t>b</a:t>
            </a:r>
            <a:r>
              <a:rPr sz="3200" spc="-65" dirty="0"/>
              <a:t>’s</a:t>
            </a:r>
            <a:r>
              <a:rPr sz="3200" spc="-30" dirty="0"/>
              <a:t> </a:t>
            </a:r>
            <a:r>
              <a:rPr sz="3200" spc="-25" dirty="0"/>
              <a:t>except</a:t>
            </a:r>
            <a:endParaRPr sz="3200" dirty="0">
              <a:latin typeface="Arial Narrow"/>
              <a:cs typeface="Arial Narrow"/>
            </a:endParaRPr>
          </a:p>
          <a:p>
            <a:pPr marL="1039495" marR="259715" indent="0">
              <a:lnSpc>
                <a:spcPct val="75100"/>
              </a:lnSpc>
              <a:spcBef>
                <a:spcPts val="600"/>
              </a:spcBef>
              <a:buNone/>
            </a:pPr>
            <a:r>
              <a:rPr sz="3200" dirty="0"/>
              <a:t>those </a:t>
            </a:r>
            <a:r>
              <a:rPr sz="3200" spc="-5" dirty="0"/>
              <a:t>that </a:t>
            </a:r>
            <a:r>
              <a:rPr sz="3200" spc="-15" dirty="0"/>
              <a:t>start </a:t>
            </a:r>
            <a:r>
              <a:rPr sz="3200" spc="-5" dirty="0"/>
              <a:t>with </a:t>
            </a:r>
            <a:r>
              <a:rPr sz="3200" dirty="0">
                <a:solidFill>
                  <a:srgbClr val="FF0000"/>
                </a:solidFill>
              </a:rPr>
              <a:t>b </a:t>
            </a:r>
            <a:r>
              <a:rPr sz="3200" dirty="0"/>
              <a:t>and those</a:t>
            </a:r>
            <a:r>
              <a:rPr sz="3200" spc="-105" dirty="0"/>
              <a:t> </a:t>
            </a:r>
            <a:r>
              <a:rPr sz="3200" spc="-5" dirty="0"/>
              <a:t>that  </a:t>
            </a:r>
            <a:r>
              <a:rPr sz="3200" spc="-10" dirty="0"/>
              <a:t>contain </a:t>
            </a:r>
            <a:r>
              <a:rPr sz="3200" dirty="0"/>
              <a:t>a double</a:t>
            </a:r>
            <a:r>
              <a:rPr sz="3200" spc="-70" dirty="0"/>
              <a:t> </a:t>
            </a:r>
            <a:r>
              <a:rPr sz="3200" spc="-165" dirty="0">
                <a:solidFill>
                  <a:srgbClr val="FF0000"/>
                </a:solidFill>
              </a:rPr>
              <a:t>b</a:t>
            </a:r>
            <a:r>
              <a:rPr sz="3200" spc="-165" dirty="0">
                <a:latin typeface="Arial Narrow"/>
                <a:cs typeface="Arial Narrow"/>
              </a:rPr>
              <a:t>}</a:t>
            </a:r>
            <a:endParaRPr lang="en-US" sz="3200" dirty="0">
              <a:latin typeface="Arial Narrow"/>
              <a:cs typeface="Arial Narrow"/>
            </a:endParaRPr>
          </a:p>
          <a:p>
            <a:pPr marL="1039495" marR="259715" indent="0">
              <a:lnSpc>
                <a:spcPct val="75100"/>
              </a:lnSpc>
              <a:spcBef>
                <a:spcPts val="600"/>
              </a:spcBef>
              <a:buNone/>
            </a:pPr>
            <a:r>
              <a:rPr sz="3200" spc="-310" dirty="0">
                <a:latin typeface="Arial Narrow"/>
                <a:cs typeface="Arial Narrow"/>
              </a:rPr>
              <a:t>=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spc="-165" dirty="0">
                <a:latin typeface="Arial Narrow"/>
                <a:cs typeface="Arial Narrow"/>
              </a:rPr>
              <a:t>{</a:t>
            </a:r>
            <a:r>
              <a:rPr lang="el-GR" sz="3200" spc="-165" dirty="0">
                <a:latin typeface="Arial Narrow"/>
                <a:cs typeface="Arial Narrow"/>
              </a:rPr>
              <a:t>λ</a:t>
            </a:r>
            <a:r>
              <a:rPr lang="en-US" sz="3200" dirty="0">
                <a:sym typeface="Symbol" panose="05050102010706020507" pitchFamily="18" charset="2"/>
              </a:rPr>
              <a:t>, </a:t>
            </a:r>
            <a:r>
              <a:rPr sz="3200" dirty="0"/>
              <a:t>a</a:t>
            </a:r>
            <a:r>
              <a:rPr lang="en-US" sz="3200" dirty="0"/>
              <a:t>, </a:t>
            </a:r>
            <a:r>
              <a:rPr sz="3200" dirty="0"/>
              <a:t>aa</a:t>
            </a:r>
            <a:r>
              <a:rPr lang="en-US" sz="3200" dirty="0"/>
              <a:t>, </a:t>
            </a:r>
            <a:r>
              <a:rPr sz="3200" dirty="0"/>
              <a:t>ab</a:t>
            </a:r>
            <a:r>
              <a:rPr lang="en-US" sz="3200" dirty="0"/>
              <a:t>, </a:t>
            </a:r>
            <a:r>
              <a:rPr sz="3200" dirty="0" err="1"/>
              <a:t>aaa</a:t>
            </a:r>
            <a:r>
              <a:rPr lang="en-US" sz="3200" dirty="0"/>
              <a:t>, </a:t>
            </a:r>
            <a:r>
              <a:rPr sz="3200" dirty="0" err="1"/>
              <a:t>aab</a:t>
            </a:r>
            <a:r>
              <a:rPr lang="en-US" sz="3200" dirty="0"/>
              <a:t>, </a:t>
            </a:r>
            <a:r>
              <a:rPr sz="3200" dirty="0"/>
              <a:t>aba	…</a:t>
            </a:r>
            <a:r>
              <a:rPr sz="3200" spc="-90" dirty="0"/>
              <a:t> </a:t>
            </a:r>
            <a:r>
              <a:rPr sz="3200" dirty="0"/>
              <a:t>}</a:t>
            </a:r>
            <a:endParaRPr sz="32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73354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998" y="461594"/>
            <a:ext cx="71634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Kleene </a:t>
            </a:r>
            <a:r>
              <a:rPr spc="-5" dirty="0"/>
              <a:t>Plus </a:t>
            </a:r>
            <a:r>
              <a:rPr dirty="0"/>
              <a:t>/ </a:t>
            </a:r>
            <a:r>
              <a:rPr spc="-20" dirty="0"/>
              <a:t>Positive </a:t>
            </a:r>
            <a:r>
              <a:rPr spc="-15" dirty="0"/>
              <a:t>closure</a:t>
            </a:r>
            <a:r>
              <a:rPr spc="-35" dirty="0"/>
              <a:t> </a:t>
            </a:r>
            <a:r>
              <a:rPr sz="4350" spc="22" baseline="24904" dirty="0"/>
              <a:t>+</a:t>
            </a:r>
            <a:endParaRPr sz="4350" baseline="24904"/>
          </a:p>
        </p:txBody>
      </p:sp>
      <p:sp>
        <p:nvSpPr>
          <p:cNvPr id="3" name="object 3"/>
          <p:cNvSpPr txBox="1"/>
          <p:nvPr/>
        </p:nvSpPr>
        <p:spPr>
          <a:xfrm>
            <a:off x="535940" y="1601546"/>
            <a:ext cx="778637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If </a:t>
            </a:r>
            <a:r>
              <a:rPr sz="4000" b="1" spc="-25" dirty="0">
                <a:latin typeface="Calibri"/>
                <a:cs typeface="Calibri"/>
              </a:rPr>
              <a:t>we </a:t>
            </a:r>
            <a:r>
              <a:rPr sz="4000" b="1" spc="-10" dirty="0">
                <a:latin typeface="Calibri"/>
                <a:cs typeface="Calibri"/>
              </a:rPr>
              <a:t>would </a:t>
            </a:r>
            <a:r>
              <a:rPr sz="4000" b="1" spc="-30" dirty="0">
                <a:latin typeface="Calibri"/>
                <a:cs typeface="Calibri"/>
              </a:rPr>
              <a:t>like </a:t>
            </a:r>
            <a:r>
              <a:rPr sz="4000" b="1" spc="-25" dirty="0">
                <a:latin typeface="Calibri"/>
                <a:cs typeface="Calibri"/>
              </a:rPr>
              <a:t>to </a:t>
            </a:r>
            <a:r>
              <a:rPr sz="4000" b="1" spc="-35" dirty="0">
                <a:latin typeface="Calibri"/>
                <a:cs typeface="Calibri"/>
              </a:rPr>
              <a:t>refer </a:t>
            </a:r>
            <a:r>
              <a:rPr sz="4000" b="1" spc="-20" dirty="0">
                <a:latin typeface="Calibri"/>
                <a:cs typeface="Calibri"/>
              </a:rPr>
              <a:t>to </a:t>
            </a:r>
            <a:r>
              <a:rPr sz="4000" b="1" spc="-5" dirty="0">
                <a:latin typeface="Calibri"/>
                <a:cs typeface="Calibri"/>
              </a:rPr>
              <a:t>only the  </a:t>
            </a:r>
            <a:r>
              <a:rPr sz="4000" b="1" spc="-20" dirty="0">
                <a:latin typeface="Calibri"/>
                <a:cs typeface="Calibri"/>
              </a:rPr>
              <a:t>concatenation </a:t>
            </a:r>
            <a:r>
              <a:rPr sz="4000" b="1" spc="-5" dirty="0">
                <a:latin typeface="Calibri"/>
                <a:cs typeface="Calibri"/>
              </a:rPr>
              <a:t>of some (not </a:t>
            </a:r>
            <a:r>
              <a:rPr sz="4000" b="1" spc="-30" dirty="0">
                <a:latin typeface="Calibri"/>
                <a:cs typeface="Calibri"/>
              </a:rPr>
              <a:t>zero)  </a:t>
            </a:r>
            <a:r>
              <a:rPr sz="4000" b="1" spc="-10" dirty="0">
                <a:latin typeface="Calibri"/>
                <a:cs typeface="Calibri"/>
              </a:rPr>
              <a:t>strings </a:t>
            </a:r>
            <a:r>
              <a:rPr sz="4000" b="1" spc="-20" dirty="0">
                <a:latin typeface="Calibri"/>
                <a:cs typeface="Calibri"/>
              </a:rPr>
              <a:t>from </a:t>
            </a:r>
            <a:r>
              <a:rPr sz="4000" b="1" spc="-5" dirty="0">
                <a:latin typeface="Calibri"/>
                <a:cs typeface="Calibri"/>
              </a:rPr>
              <a:t>a set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4000" b="1" spc="-5" dirty="0">
                <a:latin typeface="Calibri"/>
                <a:cs typeface="Calibri"/>
              </a:rPr>
              <a:t>, </a:t>
            </a:r>
            <a:r>
              <a:rPr sz="4000" b="1" spc="-20" dirty="0">
                <a:latin typeface="Calibri"/>
                <a:cs typeface="Calibri"/>
              </a:rPr>
              <a:t>we </a:t>
            </a:r>
            <a:r>
              <a:rPr sz="4000" b="1" spc="-5" dirty="0">
                <a:latin typeface="Calibri"/>
                <a:cs typeface="Calibri"/>
              </a:rPr>
              <a:t>use the  </a:t>
            </a:r>
            <a:r>
              <a:rPr sz="4000" b="1" spc="-15" dirty="0">
                <a:latin typeface="Calibri"/>
                <a:cs typeface="Calibri"/>
              </a:rPr>
              <a:t>notation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+ </a:t>
            </a:r>
            <a:r>
              <a:rPr sz="4000" b="1" spc="-20" dirty="0">
                <a:latin typeface="Calibri"/>
                <a:cs typeface="Calibri"/>
              </a:rPr>
              <a:t>instead </a:t>
            </a:r>
            <a:r>
              <a:rPr sz="4000" b="1" spc="-5" dirty="0">
                <a:latin typeface="Calibri"/>
                <a:cs typeface="Calibri"/>
              </a:rPr>
              <a:t>of</a:t>
            </a:r>
            <a:r>
              <a:rPr sz="4000" b="1" spc="75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4000" b="1" spc="-5" dirty="0">
                <a:latin typeface="Calibri"/>
                <a:cs typeface="Calibri"/>
              </a:rPr>
              <a:t>,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162805"/>
            <a:ext cx="2140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1841500" algn="l"/>
              </a:tabLst>
            </a:pPr>
            <a:r>
              <a:rPr sz="4000" b="1" spc="-5" dirty="0">
                <a:latin typeface="Calibri"/>
                <a:cs typeface="Calibri"/>
              </a:rPr>
              <a:t>E</a:t>
            </a:r>
            <a:r>
              <a:rPr sz="4000" b="1" spc="35" dirty="0">
                <a:latin typeface="Calibri"/>
                <a:cs typeface="Calibri"/>
              </a:rPr>
              <a:t>.</a:t>
            </a:r>
            <a:r>
              <a:rPr sz="4000" b="1" spc="-10" dirty="0">
                <a:latin typeface="Calibri"/>
                <a:cs typeface="Calibri"/>
              </a:rPr>
              <a:t>g.</a:t>
            </a:r>
            <a:r>
              <a:rPr sz="4000" b="1" spc="-5" dirty="0">
                <a:latin typeface="Calibri"/>
                <a:cs typeface="Calibri"/>
              </a:rPr>
              <a:t>:</a:t>
            </a:r>
            <a:r>
              <a:rPr sz="4000" b="1" dirty="0">
                <a:latin typeface="Calibri"/>
                <a:cs typeface="Calibri"/>
              </a:rPr>
              <a:t>	</a:t>
            </a:r>
            <a:r>
              <a:rPr sz="4000" b="1" spc="-5" dirty="0">
                <a:latin typeface="Calibri"/>
                <a:cs typeface="Calibri"/>
              </a:rPr>
              <a:t>if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4375" y="4085082"/>
            <a:ext cx="3369945" cy="13792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5"/>
              </a:spcBef>
              <a:tabLst>
                <a:tab pos="516255" algn="l"/>
                <a:tab pos="1866900" algn="l"/>
              </a:tabLst>
            </a:pPr>
            <a:r>
              <a:rPr sz="36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600" spc="-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6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600" b="1" i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6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600" b="1" dirty="0">
                <a:latin typeface="Calibri"/>
                <a:cs typeface="Calibri"/>
              </a:rPr>
              <a:t>,	then</a:t>
            </a:r>
            <a:endParaRPr sz="36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  <a:tabLst>
                <a:tab pos="1529080" algn="l"/>
                <a:tab pos="2155190" algn="l"/>
              </a:tabLst>
            </a:pPr>
            <a:r>
              <a:rPr sz="3600" b="1" spc="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600" b="1" spc="7" baseline="25462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r>
              <a:rPr sz="3600" b="1" spc="397" baseline="25462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6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600" b="1" i="1" dirty="0">
                <a:solidFill>
                  <a:srgbClr val="0000CC"/>
                </a:solidFill>
                <a:latin typeface="Calibri"/>
                <a:cs typeface="Calibri"/>
              </a:rPr>
              <a:t>x	</a:t>
            </a:r>
            <a:r>
              <a:rPr sz="3600" b="1" i="1" spc="-5" dirty="0">
                <a:solidFill>
                  <a:srgbClr val="0000CC"/>
                </a:solidFill>
                <a:latin typeface="Calibri"/>
                <a:cs typeface="Calibri"/>
              </a:rPr>
              <a:t>xx	xxx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600" b="1" spc="-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600" dirty="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534355"/>
            <a:ext cx="6654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Kleene plus applied </a:t>
            </a:r>
            <a:r>
              <a:rPr sz="3200" b="1" spc="-20" dirty="0">
                <a:latin typeface="Calibri"/>
                <a:cs typeface="Calibri"/>
              </a:rPr>
              <a:t>to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empty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set: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03054" y="6010352"/>
            <a:ext cx="3032125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158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3764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2317" y="293954"/>
            <a:ext cx="500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6600" spc="7" baseline="-16414" dirty="0"/>
              <a:t>S</a:t>
            </a:r>
            <a:r>
              <a:rPr sz="2900" spc="5" dirty="0"/>
              <a:t>+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23240" y="1551254"/>
            <a:ext cx="7793990" cy="432836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68300" marR="17780" indent="-342900">
              <a:lnSpc>
                <a:spcPct val="90000"/>
              </a:lnSpc>
              <a:spcBef>
                <a:spcPts val="540"/>
              </a:spcBef>
              <a:buFont typeface="Arial"/>
              <a:buChar char="•"/>
              <a:tabLst>
                <a:tab pos="368300" algn="l"/>
              </a:tabLst>
            </a:pPr>
            <a:r>
              <a:rPr sz="3700" b="1" spc="-5" dirty="0">
                <a:latin typeface="Calibri"/>
                <a:cs typeface="Calibri"/>
              </a:rPr>
              <a:t>if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latin typeface="Calibri"/>
                <a:cs typeface="Calibri"/>
              </a:rPr>
              <a:t>set </a:t>
            </a:r>
            <a:r>
              <a:rPr sz="3700" b="1" spc="-5" dirty="0">
                <a:latin typeface="Calibri"/>
                <a:cs typeface="Calibri"/>
              </a:rPr>
              <a:t>of strings </a:t>
            </a:r>
            <a:r>
              <a:rPr sz="3700" b="1" spc="-5" dirty="0">
                <a:solidFill>
                  <a:srgbClr val="FF0000"/>
                </a:solidFill>
                <a:latin typeface="Calibri"/>
                <a:cs typeface="Calibri"/>
              </a:rPr>
              <a:t>not include </a:t>
            </a:r>
            <a:r>
              <a:rPr lang="el-GR" sz="3700" b="1" spc="-5" dirty="0">
                <a:solidFill>
                  <a:srgbClr val="0000CC"/>
                </a:solidFill>
                <a:latin typeface="Calibri"/>
                <a:cs typeface="Calibri"/>
              </a:rPr>
              <a:t>λ</a:t>
            </a:r>
            <a:r>
              <a:rPr sz="3700" b="1" spc="-5" dirty="0">
                <a:latin typeface="Calibri"/>
                <a:cs typeface="Calibri"/>
              </a:rPr>
              <a:t>,  then </a:t>
            </a: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675" b="1" spc="7" baseline="24943" dirty="0">
                <a:solidFill>
                  <a:srgbClr val="0000CC"/>
                </a:solidFill>
                <a:latin typeface="Calibri"/>
                <a:cs typeface="Calibri"/>
              </a:rPr>
              <a:t>+ </a:t>
            </a:r>
            <a:r>
              <a:rPr sz="3700" b="1" spc="-5" dirty="0">
                <a:latin typeface="Calibri"/>
                <a:cs typeface="Calibri"/>
              </a:rPr>
              <a:t>is the </a:t>
            </a:r>
            <a:r>
              <a:rPr sz="3700" b="1" spc="-10" dirty="0">
                <a:latin typeface="Calibri"/>
                <a:cs typeface="Calibri"/>
              </a:rPr>
              <a:t>language 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S* </a:t>
            </a:r>
            <a:r>
              <a:rPr sz="3700" b="1" spc="-10" dirty="0">
                <a:latin typeface="Calibri"/>
                <a:cs typeface="Calibri"/>
              </a:rPr>
              <a:t>without </a:t>
            </a:r>
            <a:r>
              <a:rPr sz="3700" b="1" spc="-5" dirty="0">
                <a:latin typeface="Calibri"/>
                <a:cs typeface="Calibri"/>
              </a:rPr>
              <a:t>the  </a:t>
            </a:r>
            <a:r>
              <a:rPr sz="3700" b="1" spc="-25" dirty="0">
                <a:latin typeface="Calibri"/>
                <a:cs typeface="Calibri"/>
              </a:rPr>
              <a:t>word</a:t>
            </a:r>
            <a:r>
              <a:rPr sz="3700" b="1" spc="5" dirty="0">
                <a:latin typeface="Calibri"/>
                <a:cs typeface="Calibri"/>
              </a:rPr>
              <a:t> </a:t>
            </a:r>
            <a:r>
              <a:rPr lang="el-GR" sz="37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700" b="1" spc="-5" dirty="0">
                <a:latin typeface="Calibri"/>
                <a:cs typeface="Calibri"/>
              </a:rPr>
              <a:t>.</a:t>
            </a:r>
            <a:endParaRPr sz="3700" dirty="0">
              <a:latin typeface="Calibri"/>
              <a:cs typeface="Calibri"/>
            </a:endParaRPr>
          </a:p>
          <a:p>
            <a:pPr marL="368300" marR="233045" indent="-342900">
              <a:lnSpc>
                <a:spcPts val="3970"/>
              </a:lnSpc>
              <a:spcBef>
                <a:spcPts val="2745"/>
              </a:spcBef>
              <a:buFont typeface="Arial"/>
              <a:buChar char="•"/>
              <a:tabLst>
                <a:tab pos="368300" algn="l"/>
              </a:tabLst>
            </a:pPr>
            <a:r>
              <a:rPr sz="3700" b="1" spc="-5" dirty="0">
                <a:latin typeface="Calibri"/>
                <a:cs typeface="Calibri"/>
              </a:rPr>
              <a:t>If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is a </a:t>
            </a:r>
            <a:r>
              <a:rPr sz="3700" b="1" spc="-10" dirty="0">
                <a:latin typeface="Calibri"/>
                <a:cs typeface="Calibri"/>
              </a:rPr>
              <a:t>language </a:t>
            </a:r>
            <a:r>
              <a:rPr sz="3700" b="1" spc="-15" dirty="0">
                <a:latin typeface="Calibri"/>
                <a:cs typeface="Calibri"/>
              </a:rPr>
              <a:t>that </a:t>
            </a:r>
            <a:r>
              <a:rPr sz="3700" b="1" spc="-5" dirty="0">
                <a:latin typeface="Calibri"/>
                <a:cs typeface="Calibri"/>
              </a:rPr>
              <a:t>does </a:t>
            </a:r>
            <a:r>
              <a:rPr sz="3700" b="1" spc="-15" dirty="0">
                <a:latin typeface="Calibri"/>
                <a:cs typeface="Calibri"/>
              </a:rPr>
              <a:t>contain </a:t>
            </a:r>
            <a:r>
              <a:rPr lang="el-GR" sz="37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700" b="1" spc="-5" dirty="0">
                <a:latin typeface="Calibri"/>
                <a:cs typeface="Calibri"/>
              </a:rPr>
              <a:t>,  then </a:t>
            </a: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675" b="1" spc="7" baseline="24943" dirty="0">
                <a:solidFill>
                  <a:srgbClr val="0000CC"/>
                </a:solidFill>
                <a:latin typeface="Calibri"/>
                <a:cs typeface="Calibri"/>
              </a:rPr>
              <a:t>+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700" b="1" spc="-29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S*.</a:t>
            </a:r>
            <a:endParaRPr sz="3700" dirty="0">
              <a:latin typeface="Calibri"/>
              <a:cs typeface="Calibri"/>
            </a:endParaRPr>
          </a:p>
          <a:p>
            <a:pPr marL="368300" marR="134620" indent="-342900">
              <a:lnSpc>
                <a:spcPts val="4010"/>
              </a:lnSpc>
              <a:spcBef>
                <a:spcPts val="2245"/>
              </a:spcBef>
              <a:buFont typeface="Arial"/>
              <a:buChar char="•"/>
              <a:tabLst>
                <a:tab pos="368300" algn="l"/>
              </a:tabLst>
            </a:pP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675" b="1" spc="7" baseline="24943" dirty="0">
                <a:solidFill>
                  <a:srgbClr val="0000CC"/>
                </a:solidFill>
                <a:latin typeface="Calibri"/>
                <a:cs typeface="Calibri"/>
              </a:rPr>
              <a:t>+ </a:t>
            </a:r>
            <a:r>
              <a:rPr sz="3700" b="1" spc="-15" dirty="0">
                <a:latin typeface="Calibri"/>
                <a:cs typeface="Calibri"/>
              </a:rPr>
              <a:t>can contain </a:t>
            </a:r>
            <a:r>
              <a:rPr lang="el-GR" sz="3700" b="1" spc="-5" dirty="0">
                <a:solidFill>
                  <a:srgbClr val="0000CC"/>
                </a:solidFill>
                <a:cs typeface="Calibri"/>
              </a:rPr>
              <a:t>λ</a:t>
            </a:r>
            <a:r>
              <a:rPr sz="37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only when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3700" b="1" spc="-15" dirty="0">
                <a:latin typeface="Calibri"/>
                <a:cs typeface="Calibri"/>
              </a:rPr>
              <a:t>contains  </a:t>
            </a:r>
            <a:r>
              <a:rPr sz="3700" b="1" spc="-5" dirty="0">
                <a:latin typeface="Calibri"/>
                <a:cs typeface="Calibri"/>
              </a:rPr>
              <a:t>the </a:t>
            </a:r>
            <a:r>
              <a:rPr sz="3700" b="1" spc="-25" dirty="0">
                <a:latin typeface="Calibri"/>
                <a:cs typeface="Calibri"/>
              </a:rPr>
              <a:t>word </a:t>
            </a: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7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700" b="1" spc="-25" dirty="0">
                <a:latin typeface="Calibri"/>
                <a:cs typeface="Calibri"/>
              </a:rPr>
              <a:t>initially.</a:t>
            </a:r>
            <a:endParaRPr sz="3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3931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2414" y="461594"/>
            <a:ext cx="2520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S* </a:t>
            </a:r>
            <a:r>
              <a:rPr spc="-5" dirty="0"/>
              <a:t>and</a:t>
            </a:r>
            <a:r>
              <a:rPr spc="-75" dirty="0"/>
              <a:t> </a:t>
            </a:r>
            <a:r>
              <a:rPr dirty="0"/>
              <a:t>S**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4109"/>
            <a:ext cx="7910830" cy="4138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Theorem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marL="469900" algn="just">
              <a:lnSpc>
                <a:spcPts val="3715"/>
              </a:lnSpc>
            </a:pPr>
            <a:r>
              <a:rPr sz="3100" b="1" spc="-20" dirty="0">
                <a:latin typeface="Calibri"/>
                <a:cs typeface="Calibri"/>
              </a:rPr>
              <a:t>for </a:t>
            </a:r>
            <a:r>
              <a:rPr sz="3100" b="1" spc="-30" dirty="0">
                <a:latin typeface="Calibri"/>
                <a:cs typeface="Calibri"/>
              </a:rPr>
              <a:t>any </a:t>
            </a:r>
            <a:r>
              <a:rPr sz="3100" b="1" spc="-10" dirty="0">
                <a:latin typeface="Calibri"/>
                <a:cs typeface="Calibri"/>
              </a:rPr>
              <a:t>set 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S </a:t>
            </a:r>
            <a:r>
              <a:rPr sz="3100" b="1" spc="-5" dirty="0">
                <a:latin typeface="Calibri"/>
                <a:cs typeface="Calibri"/>
              </a:rPr>
              <a:t>of </a:t>
            </a:r>
            <a:r>
              <a:rPr sz="3100" b="1" spc="-15" dirty="0">
                <a:latin typeface="Calibri"/>
                <a:cs typeface="Calibri"/>
              </a:rPr>
              <a:t>strings </a:t>
            </a:r>
            <a:r>
              <a:rPr sz="3100" b="1" spc="-20" dirty="0">
                <a:latin typeface="Calibri"/>
                <a:cs typeface="Calibri"/>
              </a:rPr>
              <a:t>we </a:t>
            </a:r>
            <a:r>
              <a:rPr sz="3100" b="1" spc="-25" dirty="0">
                <a:latin typeface="Calibri"/>
                <a:cs typeface="Calibri"/>
              </a:rPr>
              <a:t>have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 </a:t>
            </a:r>
            <a:r>
              <a:rPr sz="3100" b="1" spc="-5" dirty="0">
                <a:latin typeface="Calibri"/>
                <a:cs typeface="Calibri"/>
              </a:rPr>
              <a:t>=</a:t>
            </a:r>
            <a:r>
              <a:rPr sz="3100" b="1" spc="170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S**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  <a:spcBef>
                <a:spcPts val="3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Proof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476250" marR="5080" indent="-6350" algn="just">
              <a:lnSpc>
                <a:spcPct val="80000"/>
              </a:lnSpc>
              <a:spcBef>
                <a:spcPts val="730"/>
              </a:spcBef>
            </a:pPr>
            <a:r>
              <a:rPr sz="3100" b="1" spc="-10" dirty="0">
                <a:latin typeface="Calibri"/>
                <a:cs typeface="Calibri"/>
              </a:rPr>
              <a:t>every </a:t>
            </a:r>
            <a:r>
              <a:rPr sz="3100" b="1" spc="-20" dirty="0">
                <a:latin typeface="Calibri"/>
                <a:cs typeface="Calibri"/>
              </a:rPr>
              <a:t>word </a:t>
            </a:r>
            <a:r>
              <a:rPr sz="3100" b="1" spc="-5" dirty="0">
                <a:latin typeface="Calibri"/>
                <a:cs typeface="Calibri"/>
              </a:rPr>
              <a:t>in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S** </a:t>
            </a:r>
            <a:r>
              <a:rPr sz="3100" b="1" spc="-5" dirty="0">
                <a:latin typeface="Calibri"/>
                <a:cs typeface="Calibri"/>
              </a:rPr>
              <a:t>is </a:t>
            </a:r>
            <a:r>
              <a:rPr sz="3100" b="1" spc="-10" dirty="0">
                <a:latin typeface="Calibri"/>
                <a:cs typeface="Calibri"/>
              </a:rPr>
              <a:t>made </a:t>
            </a:r>
            <a:r>
              <a:rPr sz="3100" b="1" spc="-5" dirty="0">
                <a:latin typeface="Calibri"/>
                <a:cs typeface="Calibri"/>
              </a:rPr>
              <a:t>up </a:t>
            </a:r>
            <a:r>
              <a:rPr sz="3100" b="1" dirty="0">
                <a:latin typeface="Calibri"/>
                <a:cs typeface="Calibri"/>
              </a:rPr>
              <a:t>of </a:t>
            </a:r>
            <a:r>
              <a:rPr sz="3100" b="1" spc="-20" dirty="0">
                <a:latin typeface="Calibri"/>
                <a:cs typeface="Calibri"/>
              </a:rPr>
              <a:t>factors </a:t>
            </a:r>
            <a:r>
              <a:rPr sz="3100" b="1" spc="-15" dirty="0">
                <a:latin typeface="Calibri"/>
                <a:cs typeface="Calibri"/>
              </a:rPr>
              <a:t>from  </a:t>
            </a:r>
            <a:r>
              <a:rPr sz="3100" b="1" dirty="0">
                <a:solidFill>
                  <a:srgbClr val="0000CC"/>
                </a:solidFill>
                <a:latin typeface="Calibri"/>
                <a:cs typeface="Calibri"/>
              </a:rPr>
              <a:t>S*</a:t>
            </a:r>
            <a:r>
              <a:rPr sz="3100" b="1" dirty="0">
                <a:latin typeface="Calibri"/>
                <a:cs typeface="Calibri"/>
              </a:rPr>
              <a:t>. </a:t>
            </a:r>
            <a:r>
              <a:rPr sz="3100" b="1" spc="-25" dirty="0">
                <a:latin typeface="Calibri"/>
                <a:cs typeface="Calibri"/>
              </a:rPr>
              <a:t>Every </a:t>
            </a:r>
            <a:r>
              <a:rPr sz="3100" b="1" spc="-20" dirty="0">
                <a:latin typeface="Calibri"/>
                <a:cs typeface="Calibri"/>
              </a:rPr>
              <a:t>factor </a:t>
            </a:r>
            <a:r>
              <a:rPr sz="3100" b="1" spc="-10" dirty="0">
                <a:latin typeface="Calibri"/>
                <a:cs typeface="Calibri"/>
              </a:rPr>
              <a:t>from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 </a:t>
            </a:r>
            <a:r>
              <a:rPr sz="3100" b="1" spc="-5" dirty="0">
                <a:latin typeface="Calibri"/>
                <a:cs typeface="Calibri"/>
              </a:rPr>
              <a:t>is </a:t>
            </a:r>
            <a:r>
              <a:rPr sz="3100" b="1" spc="-10" dirty="0">
                <a:latin typeface="Calibri"/>
                <a:cs typeface="Calibri"/>
              </a:rPr>
              <a:t>made </a:t>
            </a:r>
            <a:r>
              <a:rPr sz="3100" b="1" spc="-5" dirty="0">
                <a:latin typeface="Calibri"/>
                <a:cs typeface="Calibri"/>
              </a:rPr>
              <a:t>up of </a:t>
            </a:r>
            <a:r>
              <a:rPr sz="3100" b="1" spc="-25" dirty="0">
                <a:latin typeface="Calibri"/>
                <a:cs typeface="Calibri"/>
              </a:rPr>
              <a:t>factors  </a:t>
            </a:r>
            <a:r>
              <a:rPr sz="3100" b="1" spc="-15" dirty="0">
                <a:latin typeface="Calibri"/>
                <a:cs typeface="Calibri"/>
              </a:rPr>
              <a:t>from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100" b="1" spc="-5" dirty="0">
                <a:latin typeface="Calibri"/>
                <a:cs typeface="Calibri"/>
              </a:rPr>
              <a:t>. </a:t>
            </a:r>
            <a:r>
              <a:rPr sz="3100" b="1" spc="-20" dirty="0">
                <a:latin typeface="Calibri"/>
                <a:cs typeface="Calibri"/>
              </a:rPr>
              <a:t>Therefore, </a:t>
            </a:r>
            <a:r>
              <a:rPr sz="3100" b="1" spc="-10" dirty="0">
                <a:latin typeface="Calibri"/>
                <a:cs typeface="Calibri"/>
              </a:rPr>
              <a:t>every </a:t>
            </a:r>
            <a:r>
              <a:rPr sz="3100" b="1" spc="-20" dirty="0">
                <a:latin typeface="Calibri"/>
                <a:cs typeface="Calibri"/>
              </a:rPr>
              <a:t>word </a:t>
            </a:r>
            <a:r>
              <a:rPr sz="3100" b="1" spc="-5" dirty="0">
                <a:latin typeface="Calibri"/>
                <a:cs typeface="Calibri"/>
              </a:rPr>
              <a:t>in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S** </a:t>
            </a:r>
            <a:r>
              <a:rPr sz="3100" b="1" spc="-5" dirty="0">
                <a:latin typeface="Calibri"/>
                <a:cs typeface="Calibri"/>
              </a:rPr>
              <a:t>is </a:t>
            </a:r>
            <a:r>
              <a:rPr sz="3100" b="1" spc="-10" dirty="0">
                <a:latin typeface="Calibri"/>
                <a:cs typeface="Calibri"/>
              </a:rPr>
              <a:t>made  </a:t>
            </a:r>
            <a:r>
              <a:rPr sz="3100" b="1" spc="-5" dirty="0">
                <a:latin typeface="Calibri"/>
                <a:cs typeface="Calibri"/>
              </a:rPr>
              <a:t>up </a:t>
            </a:r>
            <a:r>
              <a:rPr sz="3100" b="1" dirty="0">
                <a:latin typeface="Calibri"/>
                <a:cs typeface="Calibri"/>
              </a:rPr>
              <a:t>of </a:t>
            </a:r>
            <a:r>
              <a:rPr sz="3100" b="1" spc="-20" dirty="0">
                <a:latin typeface="Calibri"/>
                <a:cs typeface="Calibri"/>
              </a:rPr>
              <a:t>factors </a:t>
            </a:r>
            <a:r>
              <a:rPr sz="3100" b="1" spc="-15" dirty="0">
                <a:latin typeface="Calibri"/>
                <a:cs typeface="Calibri"/>
              </a:rPr>
              <a:t>from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100" b="1" spc="-5" dirty="0">
                <a:latin typeface="Calibri"/>
                <a:cs typeface="Calibri"/>
              </a:rPr>
              <a:t>. </a:t>
            </a:r>
            <a:r>
              <a:rPr sz="3100" b="1" spc="-20" dirty="0">
                <a:latin typeface="Calibri"/>
                <a:cs typeface="Calibri"/>
              </a:rPr>
              <a:t>Therefore, </a:t>
            </a:r>
            <a:r>
              <a:rPr sz="3100" b="1" spc="-15" dirty="0">
                <a:latin typeface="Calibri"/>
                <a:cs typeface="Calibri"/>
              </a:rPr>
              <a:t>every </a:t>
            </a:r>
            <a:r>
              <a:rPr sz="3100" b="1" spc="-20" dirty="0">
                <a:latin typeface="Calibri"/>
                <a:cs typeface="Calibri"/>
              </a:rPr>
              <a:t>word </a:t>
            </a:r>
            <a:r>
              <a:rPr sz="3100" b="1" spc="-5" dirty="0">
                <a:latin typeface="Calibri"/>
                <a:cs typeface="Calibri"/>
              </a:rPr>
              <a:t>in 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S** </a:t>
            </a:r>
            <a:r>
              <a:rPr sz="3100" b="1" spc="-5" dirty="0">
                <a:latin typeface="Calibri"/>
                <a:cs typeface="Calibri"/>
              </a:rPr>
              <a:t>is also a </a:t>
            </a:r>
            <a:r>
              <a:rPr sz="3100" b="1" spc="-15" dirty="0">
                <a:latin typeface="Calibri"/>
                <a:cs typeface="Calibri"/>
              </a:rPr>
              <a:t>word </a:t>
            </a:r>
            <a:r>
              <a:rPr sz="3100" b="1" spc="-5" dirty="0">
                <a:latin typeface="Calibri"/>
                <a:cs typeface="Calibri"/>
              </a:rPr>
              <a:t>in</a:t>
            </a:r>
            <a:r>
              <a:rPr sz="3100" b="1" spc="5" dirty="0"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S*</a:t>
            </a:r>
            <a:r>
              <a:rPr sz="3100" b="1" spc="-5" dirty="0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2868930">
              <a:lnSpc>
                <a:spcPct val="100000"/>
              </a:lnSpc>
              <a:spcBef>
                <a:spcPts val="2130"/>
              </a:spcBef>
              <a:tabLst>
                <a:tab pos="3820160" algn="l"/>
              </a:tabLst>
            </a:pPr>
            <a:r>
              <a:rPr sz="3900" b="1" dirty="0">
                <a:solidFill>
                  <a:srgbClr val="0000CC"/>
                </a:solidFill>
                <a:latin typeface="Calibri"/>
                <a:cs typeface="Calibri"/>
              </a:rPr>
              <a:t>S**	</a:t>
            </a:r>
            <a:r>
              <a:rPr sz="3900" b="1" spc="-5" dirty="0">
                <a:latin typeface="Symbol"/>
                <a:cs typeface="Symbol"/>
              </a:rPr>
              <a:t></a:t>
            </a:r>
            <a:r>
              <a:rPr sz="3900" b="1" spc="-5" dirty="0">
                <a:latin typeface="Times New Roman"/>
                <a:cs typeface="Times New Roman"/>
              </a:rPr>
              <a:t> </a:t>
            </a:r>
            <a:r>
              <a:rPr sz="3900" b="1" dirty="0">
                <a:solidFill>
                  <a:srgbClr val="0000CC"/>
                </a:solidFill>
                <a:latin typeface="Calibri"/>
                <a:cs typeface="Calibri"/>
              </a:rPr>
              <a:t>S* </a:t>
            </a:r>
            <a:r>
              <a:rPr sz="2000" b="1" dirty="0">
                <a:latin typeface="Calibri"/>
                <a:cs typeface="Calibri"/>
              </a:rPr>
              <a:t>(is </a:t>
            </a:r>
            <a:r>
              <a:rPr sz="2000" b="1" spc="-10" dirty="0">
                <a:latin typeface="Calibri"/>
                <a:cs typeface="Calibri"/>
              </a:rPr>
              <a:t>contained </a:t>
            </a:r>
            <a:r>
              <a:rPr sz="2000" b="1" dirty="0">
                <a:latin typeface="Calibri"/>
                <a:cs typeface="Calibri"/>
              </a:rPr>
              <a:t>in or equal</a:t>
            </a:r>
            <a:r>
              <a:rPr sz="2000" b="1" spc="-1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to)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6080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6248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Rules </a:t>
            </a:r>
            <a:r>
              <a:rPr spc="-20" dirty="0"/>
              <a:t>that </a:t>
            </a:r>
            <a:r>
              <a:rPr spc="-10" dirty="0"/>
              <a:t>define </a:t>
            </a:r>
            <a:r>
              <a:rPr spc="-25" dirty="0"/>
              <a:t>exactly  </a:t>
            </a:r>
            <a:r>
              <a:rPr dirty="0"/>
              <a:t>the </a:t>
            </a:r>
            <a:r>
              <a:rPr spc="-10" dirty="0"/>
              <a:t>set </a:t>
            </a:r>
            <a:r>
              <a:rPr dirty="0"/>
              <a:t>of </a:t>
            </a:r>
            <a:r>
              <a:rPr spc="-25" dirty="0"/>
              <a:t>words </a:t>
            </a:r>
            <a:r>
              <a:rPr spc="-15" dirty="0"/>
              <a:t>that </a:t>
            </a:r>
            <a:r>
              <a:rPr spc="-20" dirty="0"/>
              <a:t>are  valid </a:t>
            </a:r>
            <a:r>
              <a:rPr dirty="0"/>
              <a:t>in a </a:t>
            </a:r>
            <a:r>
              <a:rPr spc="-15" dirty="0"/>
              <a:t>formal</a:t>
            </a:r>
            <a:r>
              <a:rPr spc="-50" dirty="0"/>
              <a:t> </a:t>
            </a:r>
            <a:r>
              <a:rPr spc="-10" dirty="0"/>
              <a:t>language.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75" y="3333845"/>
            <a:ext cx="6986746" cy="1570664"/>
          </a:xfrm>
          <a:prstGeom prst="rect">
            <a:avLst/>
          </a:prstGeom>
          <a:ln w="25400" cmpd="sng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11668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06715" cy="44659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703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25" dirty="0">
                <a:latin typeface="Calibri"/>
                <a:cs typeface="Calibri"/>
              </a:rPr>
              <a:t>Formally,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set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spc="-10" dirty="0">
                <a:latin typeface="Calibri"/>
                <a:cs typeface="Calibri"/>
              </a:rPr>
              <a:t>regular expressions can  </a:t>
            </a:r>
            <a:r>
              <a:rPr sz="3200" b="1" dirty="0">
                <a:latin typeface="Calibri"/>
                <a:cs typeface="Calibri"/>
              </a:rPr>
              <a:t>be </a:t>
            </a:r>
            <a:r>
              <a:rPr sz="3200" b="1" spc="-10" dirty="0">
                <a:latin typeface="Calibri"/>
                <a:cs typeface="Calibri"/>
              </a:rPr>
              <a:t>defined </a:t>
            </a:r>
            <a:r>
              <a:rPr sz="3200" b="1" dirty="0">
                <a:latin typeface="Calibri"/>
                <a:cs typeface="Calibri"/>
              </a:rPr>
              <a:t>by the </a:t>
            </a:r>
            <a:r>
              <a:rPr sz="3200" b="1" spc="-5" dirty="0">
                <a:latin typeface="Calibri"/>
                <a:cs typeface="Calibri"/>
              </a:rPr>
              <a:t>following </a:t>
            </a:r>
            <a:r>
              <a:rPr sz="3200" b="1" spc="-15" dirty="0">
                <a:latin typeface="Calibri"/>
                <a:cs typeface="Calibri"/>
              </a:rPr>
              <a:t>recursive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rules</a:t>
            </a:r>
            <a:r>
              <a:rPr sz="3200" b="1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1155700" lvl="1" indent="-74295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1155700" algn="l"/>
                <a:tab pos="1156335" algn="l"/>
              </a:tabLst>
            </a:pPr>
            <a:r>
              <a:rPr sz="3200" b="1" spc="-25" dirty="0">
                <a:latin typeface="Calibri"/>
                <a:cs typeface="Calibri"/>
              </a:rPr>
              <a:t>Every </a:t>
            </a:r>
            <a:r>
              <a:rPr sz="3200" b="1" spc="-10" dirty="0">
                <a:latin typeface="Calibri"/>
                <a:cs typeface="Calibri"/>
              </a:rPr>
              <a:t>symbol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dirty="0">
                <a:solidFill>
                  <a:srgbClr val="0000FF"/>
                </a:solidFill>
                <a:latin typeface="Symbol"/>
                <a:cs typeface="Symbol"/>
              </a:rPr>
              <a:t>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Calibri"/>
                <a:cs typeface="Calibri"/>
              </a:rPr>
              <a:t>is a </a:t>
            </a:r>
            <a:r>
              <a:rPr sz="3200" b="1" spc="-10">
                <a:latin typeface="Calibri"/>
                <a:cs typeface="Calibri"/>
              </a:rPr>
              <a:t>regular</a:t>
            </a:r>
            <a:r>
              <a:rPr sz="3200" b="1" spc="-130">
                <a:latin typeface="Calibri"/>
                <a:cs typeface="Calibri"/>
              </a:rPr>
              <a:t> </a:t>
            </a:r>
            <a:r>
              <a:rPr sz="3200" b="1" spc="-10">
                <a:latin typeface="Calibri"/>
                <a:cs typeface="Calibri"/>
              </a:rPr>
              <a:t>expression</a:t>
            </a:r>
            <a:endParaRPr lang="en-US" sz="3200" dirty="0">
              <a:latin typeface="Calibri"/>
              <a:cs typeface="Calibri"/>
            </a:endParaRPr>
          </a:p>
          <a:p>
            <a:pPr marL="1155700" lvl="1" indent="-74295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1155700" algn="l"/>
                <a:tab pos="115633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ε</a:t>
            </a:r>
            <a:r>
              <a:rPr sz="3200" b="1" dirty="0">
                <a:latin typeface="Calibri"/>
                <a:cs typeface="Calibri"/>
              </a:rPr>
              <a:t> is a </a:t>
            </a:r>
            <a:r>
              <a:rPr sz="3200" b="1" spc="-10" dirty="0">
                <a:latin typeface="Calibri"/>
                <a:cs typeface="Calibri"/>
              </a:rPr>
              <a:t>regular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expression</a:t>
            </a:r>
            <a:endParaRPr sz="3200" dirty="0">
              <a:latin typeface="Calibri"/>
              <a:cs typeface="Calibri"/>
            </a:endParaRPr>
          </a:p>
          <a:p>
            <a:pPr marL="1155700" marR="266700" lvl="1" indent="-742315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1155700" algn="l"/>
                <a:tab pos="1156335" algn="l"/>
              </a:tabLst>
            </a:pPr>
            <a:r>
              <a:rPr sz="3200" b="1" dirty="0">
                <a:latin typeface="Calibri"/>
                <a:cs typeface="Calibri"/>
              </a:rPr>
              <a:t>if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R1 </a:t>
            </a:r>
            <a:r>
              <a:rPr sz="3200" b="1" dirty="0">
                <a:latin typeface="Calibri"/>
                <a:cs typeface="Calibri"/>
              </a:rPr>
              <a:t>and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R2 </a:t>
            </a:r>
            <a:r>
              <a:rPr sz="3200" b="1" spc="-10" dirty="0">
                <a:latin typeface="Calibri"/>
                <a:cs typeface="Calibri"/>
              </a:rPr>
              <a:t>are regular expressions, </a:t>
            </a:r>
            <a:r>
              <a:rPr sz="3200" b="1" dirty="0">
                <a:latin typeface="Calibri"/>
                <a:cs typeface="Calibri"/>
              </a:rPr>
              <a:t>so  </a:t>
            </a:r>
            <a:r>
              <a:rPr sz="3200" b="1" spc="-10" dirty="0">
                <a:latin typeface="Calibri"/>
                <a:cs typeface="Calibri"/>
              </a:rPr>
              <a:t>are</a:t>
            </a:r>
            <a:endParaRPr sz="3200" dirty="0">
              <a:latin typeface="Calibri"/>
              <a:cs typeface="Calibri"/>
            </a:endParaRPr>
          </a:p>
          <a:p>
            <a:pPr marL="1727200">
              <a:lnSpc>
                <a:spcPct val="100000"/>
              </a:lnSpc>
              <a:spcBef>
                <a:spcPts val="770"/>
              </a:spcBef>
              <a:tabLst>
                <a:tab pos="3670300" algn="l"/>
                <a:tab pos="5499735" algn="l"/>
                <a:tab pos="7328534" algn="l"/>
              </a:tabLst>
            </a:pP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(R1)	R1R2	R1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|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R2	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R1*</a:t>
            </a:r>
            <a:endParaRPr sz="3200" dirty="0">
              <a:latin typeface="Calibri"/>
              <a:cs typeface="Calibri"/>
            </a:endParaRPr>
          </a:p>
          <a:p>
            <a:pPr marL="1155700" lvl="1" indent="-742950">
              <a:lnSpc>
                <a:spcPct val="100000"/>
              </a:lnSpc>
              <a:spcBef>
                <a:spcPts val="770"/>
              </a:spcBef>
              <a:buAutoNum type="arabicPeriod" startAt="4"/>
              <a:tabLst>
                <a:tab pos="1155700" algn="l"/>
                <a:tab pos="1156335" algn="l"/>
              </a:tabLst>
            </a:pPr>
            <a:r>
              <a:rPr sz="3200" b="1" dirty="0">
                <a:latin typeface="Calibri"/>
                <a:cs typeface="Calibri"/>
              </a:rPr>
              <a:t>Nothing </a:t>
            </a:r>
            <a:r>
              <a:rPr sz="3200" b="1" spc="-5" dirty="0">
                <a:latin typeface="Calibri"/>
                <a:cs typeface="Calibri"/>
              </a:rPr>
              <a:t>else </a:t>
            </a:r>
            <a:r>
              <a:rPr sz="3200" b="1" dirty="0">
                <a:latin typeface="Calibri"/>
                <a:cs typeface="Calibri"/>
              </a:rPr>
              <a:t>is a </a:t>
            </a:r>
            <a:r>
              <a:rPr sz="3200" b="1" spc="-10" dirty="0">
                <a:latin typeface="Calibri"/>
                <a:cs typeface="Calibri"/>
              </a:rPr>
              <a:t>regular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expression.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727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4594"/>
            <a:ext cx="7915275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240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10" dirty="0">
                <a:latin typeface="Calibri"/>
                <a:cs typeface="Calibri"/>
              </a:rPr>
              <a:t>Regular </a:t>
            </a:r>
            <a:r>
              <a:rPr sz="3600" b="1" spc="-15" dirty="0">
                <a:latin typeface="Calibri"/>
                <a:cs typeface="Calibri"/>
              </a:rPr>
              <a:t>expressions are </a:t>
            </a:r>
            <a:r>
              <a:rPr sz="3600" b="1" spc="-10" dirty="0">
                <a:latin typeface="Calibri"/>
                <a:cs typeface="Calibri"/>
              </a:rPr>
              <a:t>defined </a:t>
            </a:r>
            <a:r>
              <a:rPr sz="36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0000CC"/>
                </a:solidFill>
                <a:latin typeface="Calibri"/>
                <a:cs typeface="Calibri"/>
              </a:rPr>
              <a:t>recursively</a:t>
            </a:r>
            <a:endParaRPr sz="3600">
              <a:latin typeface="Calibri"/>
              <a:cs typeface="Calibri"/>
            </a:endParaRPr>
          </a:p>
          <a:p>
            <a:pPr marL="1213485" marR="1727835" lvl="1" indent="-744220">
              <a:lnSpc>
                <a:spcPct val="100000"/>
              </a:lnSpc>
              <a:spcBef>
                <a:spcPts val="865"/>
              </a:spcBef>
              <a:buAutoNum type="alphaLcParenR"/>
              <a:tabLst>
                <a:tab pos="1213485" algn="l"/>
                <a:tab pos="1214120" algn="l"/>
              </a:tabLst>
            </a:pPr>
            <a:r>
              <a:rPr sz="3600" b="1" dirty="0">
                <a:latin typeface="Calibri"/>
                <a:cs typeface="Calibri"/>
              </a:rPr>
              <a:t>Base </a:t>
            </a:r>
            <a:r>
              <a:rPr sz="3600" b="1" spc="-5" dirty="0">
                <a:latin typeface="Calibri"/>
                <a:cs typeface="Calibri"/>
              </a:rPr>
              <a:t>case </a:t>
            </a:r>
            <a:r>
              <a:rPr sz="3600" b="1" dirty="0">
                <a:latin typeface="Calibri"/>
                <a:cs typeface="Calibri"/>
              </a:rPr>
              <a:t>– simple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regular  expressions</a:t>
            </a:r>
            <a:endParaRPr sz="3600">
              <a:latin typeface="Calibri"/>
              <a:cs typeface="Calibri"/>
            </a:endParaRPr>
          </a:p>
          <a:p>
            <a:pPr marL="1213485" marR="5080" lvl="1" indent="-744220">
              <a:lnSpc>
                <a:spcPct val="100000"/>
              </a:lnSpc>
              <a:spcBef>
                <a:spcPts val="865"/>
              </a:spcBef>
              <a:buAutoNum type="alphaLcParenR"/>
              <a:tabLst>
                <a:tab pos="1213485" algn="l"/>
                <a:tab pos="1214120" algn="l"/>
              </a:tabLst>
            </a:pPr>
            <a:r>
              <a:rPr sz="3600" b="1" spc="-15" dirty="0">
                <a:latin typeface="Calibri"/>
                <a:cs typeface="Calibri"/>
              </a:rPr>
              <a:t>Recursive </a:t>
            </a:r>
            <a:r>
              <a:rPr sz="3600" b="1" spc="-10" dirty="0">
                <a:latin typeface="Calibri"/>
                <a:cs typeface="Calibri"/>
              </a:rPr>
              <a:t>case </a:t>
            </a:r>
            <a:r>
              <a:rPr sz="3600" b="1" dirty="0">
                <a:latin typeface="Calibri"/>
                <a:cs typeface="Calibri"/>
              </a:rPr>
              <a:t>– </a:t>
            </a:r>
            <a:r>
              <a:rPr sz="3600" b="1" spc="-10" dirty="0">
                <a:latin typeface="Calibri"/>
                <a:cs typeface="Calibri"/>
              </a:rPr>
              <a:t>how </a:t>
            </a:r>
            <a:r>
              <a:rPr sz="3600" b="1" spc="-20" dirty="0">
                <a:latin typeface="Calibri"/>
                <a:cs typeface="Calibri"/>
              </a:rPr>
              <a:t>to </a:t>
            </a:r>
            <a:r>
              <a:rPr sz="3600" b="1" dirty="0">
                <a:latin typeface="Calibri"/>
                <a:cs typeface="Calibri"/>
              </a:rPr>
              <a:t>build </a:t>
            </a:r>
            <a:r>
              <a:rPr sz="3600" b="1" spc="-15" dirty="0">
                <a:latin typeface="Calibri"/>
                <a:cs typeface="Calibri"/>
              </a:rPr>
              <a:t>more  complex </a:t>
            </a:r>
            <a:r>
              <a:rPr sz="3600" b="1" spc="-10" dirty="0">
                <a:latin typeface="Calibri"/>
                <a:cs typeface="Calibri"/>
              </a:rPr>
              <a:t>regular </a:t>
            </a:r>
            <a:r>
              <a:rPr sz="3600" b="1" spc="-15" dirty="0">
                <a:latin typeface="Calibri"/>
                <a:cs typeface="Calibri"/>
              </a:rPr>
              <a:t>expressions from  </a:t>
            </a:r>
            <a:r>
              <a:rPr sz="3600" b="1" dirty="0">
                <a:latin typeface="Calibri"/>
                <a:cs typeface="Calibri"/>
              </a:rPr>
              <a:t>simple </a:t>
            </a:r>
            <a:r>
              <a:rPr sz="3600" b="1" spc="-10" dirty="0">
                <a:latin typeface="Calibri"/>
                <a:cs typeface="Calibri"/>
              </a:rPr>
              <a:t>regular</a:t>
            </a:r>
            <a:r>
              <a:rPr sz="3600" b="1" spc="-20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expressions</a:t>
            </a:r>
            <a:endParaRPr sz="3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339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500278"/>
            <a:ext cx="89408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2525" marR="5080" indent="-114046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Formal </a:t>
            </a:r>
            <a:r>
              <a:rPr sz="4000" spc="-10" dirty="0"/>
              <a:t>definition </a:t>
            </a:r>
            <a:r>
              <a:rPr sz="4000" spc="-5" dirty="0"/>
              <a:t>of  </a:t>
            </a:r>
            <a:r>
              <a:rPr sz="4000" spc="-15" dirty="0"/>
              <a:t>regular </a:t>
            </a:r>
            <a:r>
              <a:rPr sz="4000" spc="-20" dirty="0"/>
              <a:t>expressions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493"/>
            <a:ext cx="7964805" cy="42430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1841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A </a:t>
            </a:r>
            <a:r>
              <a:rPr sz="3200" b="1" spc="-5" dirty="0">
                <a:latin typeface="Calibri"/>
                <a:cs typeface="Calibri"/>
              </a:rPr>
              <a:t>language </a:t>
            </a:r>
            <a:r>
              <a:rPr sz="3200" b="1" dirty="0">
                <a:latin typeface="Calibri"/>
                <a:cs typeface="Calibri"/>
              </a:rPr>
              <a:t>is </a:t>
            </a:r>
            <a:r>
              <a:rPr sz="3200" b="1" spc="-10" dirty="0">
                <a:solidFill>
                  <a:srgbClr val="0000CC"/>
                </a:solidFill>
                <a:latin typeface="Calibri"/>
                <a:cs typeface="Calibri"/>
              </a:rPr>
              <a:t>regular </a:t>
            </a:r>
            <a:r>
              <a:rPr sz="3200" b="1" dirty="0">
                <a:latin typeface="Calibri"/>
                <a:cs typeface="Calibri"/>
              </a:rPr>
              <a:t>if it </a:t>
            </a:r>
            <a:r>
              <a:rPr sz="3200" b="1" spc="-10" dirty="0">
                <a:latin typeface="Calibri"/>
                <a:cs typeface="Calibri"/>
              </a:rPr>
              <a:t>can </a:t>
            </a:r>
            <a:r>
              <a:rPr sz="3200" b="1" dirty="0">
                <a:latin typeface="Calibri"/>
                <a:cs typeface="Calibri"/>
              </a:rPr>
              <a:t>be described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by  </a:t>
            </a:r>
            <a:r>
              <a:rPr sz="3200" b="1" dirty="0">
                <a:latin typeface="Calibri"/>
                <a:cs typeface="Calibri"/>
              </a:rPr>
              <a:t>a </a:t>
            </a:r>
            <a:r>
              <a:rPr sz="3200" b="1" spc="-10" dirty="0">
                <a:latin typeface="Calibri"/>
                <a:cs typeface="Calibri"/>
              </a:rPr>
              <a:t>regular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expression.</a:t>
            </a:r>
            <a:endParaRPr sz="3200">
              <a:latin typeface="Calibri"/>
              <a:cs typeface="Calibri"/>
            </a:endParaRPr>
          </a:p>
          <a:p>
            <a:pPr marL="355600" marR="1008380" indent="-342900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Calibri"/>
                <a:cs typeface="Calibri"/>
              </a:rPr>
              <a:t>The </a:t>
            </a:r>
            <a:r>
              <a:rPr sz="3200" b="1" spc="-10" dirty="0">
                <a:solidFill>
                  <a:srgbClr val="0000CC"/>
                </a:solidFill>
                <a:latin typeface="Calibri"/>
                <a:cs typeface="Calibri"/>
              </a:rPr>
              <a:t>Regular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Languages </a:t>
            </a:r>
            <a:r>
              <a:rPr sz="3200" b="1" dirty="0">
                <a:latin typeface="Calibri"/>
                <a:cs typeface="Calibri"/>
              </a:rPr>
              <a:t>is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set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of all 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languages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that can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represented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3200" b="1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a 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regular</a:t>
            </a:r>
            <a:r>
              <a:rPr sz="3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expression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Arial"/>
                <a:cs typeface="Arial"/>
              </a:rPr>
              <a:t>– </a:t>
            </a:r>
            <a:r>
              <a:rPr sz="3200" b="1" spc="-10" dirty="0">
                <a:latin typeface="Calibri"/>
                <a:cs typeface="Calibri"/>
              </a:rPr>
              <a:t>Set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spc="-10" dirty="0">
                <a:latin typeface="Calibri"/>
                <a:cs typeface="Calibri"/>
              </a:rPr>
              <a:t>set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40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strings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7900"/>
              </a:lnSpc>
              <a:spcBef>
                <a:spcPts val="855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Not </a:t>
            </a:r>
            <a:r>
              <a:rPr sz="3200" b="1" spc="-10" dirty="0">
                <a:latin typeface="Calibri"/>
                <a:cs typeface="Calibri"/>
              </a:rPr>
              <a:t>every </a:t>
            </a:r>
            <a:r>
              <a:rPr sz="3200" b="1" spc="-5" dirty="0">
                <a:latin typeface="Calibri"/>
                <a:cs typeface="Calibri"/>
              </a:rPr>
              <a:t>languages </a:t>
            </a:r>
            <a:r>
              <a:rPr sz="3200" b="1" spc="-10" dirty="0">
                <a:latin typeface="Calibri"/>
                <a:cs typeface="Calibri"/>
              </a:rPr>
              <a:t>are </a:t>
            </a:r>
            <a:r>
              <a:rPr sz="3200" b="1" spc="-5" dirty="0">
                <a:latin typeface="Calibri"/>
                <a:cs typeface="Calibri"/>
              </a:rPr>
              <a:t>able </a:t>
            </a:r>
            <a:r>
              <a:rPr sz="3200" b="1" spc="-15" dirty="0">
                <a:latin typeface="Calibri"/>
                <a:cs typeface="Calibri"/>
              </a:rPr>
              <a:t>to </a:t>
            </a:r>
            <a:r>
              <a:rPr sz="3200" b="1" dirty="0">
                <a:latin typeface="Calibri"/>
                <a:cs typeface="Calibri"/>
              </a:rPr>
              <a:t>be </a:t>
            </a:r>
            <a:r>
              <a:rPr sz="3200" b="1" spc="-5" dirty="0">
                <a:latin typeface="Calibri"/>
                <a:cs typeface="Calibri"/>
              </a:rPr>
              <a:t>described  </a:t>
            </a:r>
            <a:r>
              <a:rPr sz="3200" b="1" spc="-10" dirty="0">
                <a:latin typeface="Calibri"/>
                <a:cs typeface="Calibri"/>
              </a:rPr>
              <a:t>by </a:t>
            </a:r>
            <a:r>
              <a:rPr sz="3200" b="1" dirty="0">
                <a:latin typeface="Calibri"/>
                <a:cs typeface="Calibri"/>
              </a:rPr>
              <a:t>RE. </a:t>
            </a:r>
            <a:r>
              <a:rPr sz="2800" b="1" spc="-15" dirty="0">
                <a:latin typeface="Calibri"/>
                <a:cs typeface="Calibri"/>
              </a:rPr>
              <a:t>Regular </a:t>
            </a:r>
            <a:r>
              <a:rPr sz="2800" b="1" spc="-10" dirty="0">
                <a:latin typeface="Calibri"/>
                <a:cs typeface="Calibri"/>
              </a:rPr>
              <a:t>languages </a:t>
            </a:r>
            <a:r>
              <a:rPr sz="2800" b="1" spc="-20" dirty="0">
                <a:latin typeface="Calibri"/>
                <a:cs typeface="Calibri"/>
              </a:rPr>
              <a:t>may </a:t>
            </a:r>
            <a:r>
              <a:rPr sz="2800" b="1" spc="-5" dirty="0">
                <a:latin typeface="Calibri"/>
                <a:cs typeface="Calibri"/>
              </a:rPr>
              <a:t>also be described </a:t>
            </a:r>
            <a:r>
              <a:rPr sz="2800" b="1" spc="-10" dirty="0">
                <a:latin typeface="Calibri"/>
                <a:cs typeface="Calibri"/>
              </a:rPr>
              <a:t>by  </a:t>
            </a:r>
            <a:r>
              <a:rPr sz="2800" b="1" spc="-5" dirty="0">
                <a:latin typeface="Calibri"/>
                <a:cs typeface="Calibri"/>
              </a:rPr>
              <a:t>another </a:t>
            </a:r>
            <a:r>
              <a:rPr sz="2800" b="1" spc="-10" dirty="0">
                <a:latin typeface="Calibri"/>
                <a:cs typeface="Calibri"/>
              </a:rPr>
              <a:t>fine definitions, </a:t>
            </a:r>
            <a:r>
              <a:rPr sz="2800" b="1" spc="-5" dirty="0">
                <a:latin typeface="Calibri"/>
                <a:cs typeface="Calibri"/>
              </a:rPr>
              <a:t>besides the</a:t>
            </a:r>
            <a:r>
              <a:rPr sz="2800" b="1" spc="9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RE.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3892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685" y="461594"/>
            <a:ext cx="4400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0" dirty="0"/>
              <a:t> </a:t>
            </a:r>
            <a:r>
              <a:rPr spc="-10" dirty="0"/>
              <a:t>Expression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4429"/>
            <a:ext cx="7526655" cy="5078313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The </a:t>
            </a:r>
            <a:r>
              <a:rPr sz="4000" b="1" spc="-15" dirty="0">
                <a:latin typeface="Calibri"/>
                <a:cs typeface="Calibri"/>
              </a:rPr>
              <a:t>symbols that </a:t>
            </a:r>
            <a:r>
              <a:rPr sz="4000" b="1" spc="-5" dirty="0">
                <a:latin typeface="Calibri"/>
                <a:cs typeface="Calibri"/>
              </a:rPr>
              <a:t>appear in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lang="en-US" sz="4000" b="1" spc="-10" dirty="0">
                <a:solidFill>
                  <a:srgbClr val="0000FF"/>
                </a:solidFill>
                <a:latin typeface="Calibri"/>
                <a:cs typeface="Calibri"/>
              </a:rPr>
              <a:t>egex</a:t>
            </a:r>
            <a:r>
              <a:rPr sz="400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are</a:t>
            </a:r>
            <a:endParaRPr sz="4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4000" spc="5" dirty="0">
                <a:latin typeface="Arial"/>
                <a:cs typeface="Arial"/>
              </a:rPr>
              <a:t>–</a:t>
            </a:r>
            <a:r>
              <a:rPr sz="4000" b="1" spc="5" dirty="0">
                <a:latin typeface="Calibri"/>
                <a:cs typeface="Calibri"/>
              </a:rPr>
              <a:t>the </a:t>
            </a:r>
            <a:r>
              <a:rPr sz="4000" b="1" spc="-30" dirty="0">
                <a:latin typeface="Calibri"/>
                <a:cs typeface="Calibri"/>
              </a:rPr>
              <a:t>letters </a:t>
            </a:r>
            <a:r>
              <a:rPr sz="4000" b="1" spc="-5" dirty="0">
                <a:latin typeface="Calibri"/>
                <a:cs typeface="Calibri"/>
              </a:rPr>
              <a:t>of the alphabet</a:t>
            </a:r>
            <a:r>
              <a:rPr sz="4000" b="1" spc="20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FF"/>
                </a:solidFill>
                <a:latin typeface="Symbol"/>
                <a:cs typeface="Symbol"/>
              </a:rPr>
              <a:t></a:t>
            </a:r>
            <a:endParaRPr sz="4000" dirty="0">
              <a:solidFill>
                <a:srgbClr val="0000FF"/>
              </a:solidFill>
              <a:latin typeface="Symbol"/>
              <a:cs typeface="Symbol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</a:pPr>
            <a:r>
              <a:rPr sz="4000" spc="5" dirty="0">
                <a:latin typeface="Arial"/>
                <a:cs typeface="Arial"/>
              </a:rPr>
              <a:t>–</a:t>
            </a:r>
            <a:r>
              <a:rPr sz="4000" b="1" spc="5" dirty="0">
                <a:latin typeface="Calibri"/>
                <a:cs typeface="Calibri"/>
              </a:rPr>
              <a:t>the </a:t>
            </a:r>
            <a:r>
              <a:rPr sz="4000" b="1" spc="-15" dirty="0">
                <a:latin typeface="Calibri"/>
                <a:cs typeface="Calibri"/>
              </a:rPr>
              <a:t>symbol </a:t>
            </a:r>
            <a:r>
              <a:rPr sz="4000" b="1" spc="-5" dirty="0">
                <a:latin typeface="Calibri"/>
                <a:cs typeface="Calibri"/>
              </a:rPr>
              <a:t>of null </a:t>
            </a:r>
            <a:r>
              <a:rPr sz="4000" b="1" spc="-10" dirty="0">
                <a:latin typeface="Calibri"/>
                <a:cs typeface="Calibri"/>
              </a:rPr>
              <a:t>string </a:t>
            </a:r>
            <a:r>
              <a:rPr sz="4000" b="1" spc="-5" dirty="0">
                <a:solidFill>
                  <a:srgbClr val="0000FF"/>
                </a:solidFill>
                <a:latin typeface="Symbol"/>
                <a:cs typeface="Symbol"/>
              </a:rPr>
              <a:t>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Calibri"/>
                <a:cs typeface="Calibri"/>
              </a:rPr>
              <a:t>or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λ</a:t>
            </a:r>
            <a:endParaRPr sz="40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25"/>
              </a:spcBef>
            </a:pPr>
            <a:r>
              <a:rPr sz="4000" spc="-10" dirty="0">
                <a:latin typeface="Arial"/>
                <a:cs typeface="Arial"/>
              </a:rPr>
              <a:t>–</a:t>
            </a:r>
            <a:r>
              <a:rPr sz="4000" b="1" spc="-10" dirty="0">
                <a:latin typeface="Calibri"/>
                <a:cs typeface="Calibri"/>
              </a:rPr>
              <a:t>parentheses </a:t>
            </a:r>
            <a:r>
              <a:rPr sz="4000" b="1" spc="-5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65"/>
              </a:spcBef>
            </a:pPr>
            <a:r>
              <a:rPr sz="4000" spc="-15" dirty="0">
                <a:latin typeface="Arial"/>
                <a:cs typeface="Arial"/>
              </a:rPr>
              <a:t>–</a:t>
            </a:r>
            <a:r>
              <a:rPr sz="4000" b="1" spc="-15" dirty="0">
                <a:latin typeface="Calibri"/>
                <a:cs typeface="Calibri"/>
              </a:rPr>
              <a:t>star </a:t>
            </a:r>
            <a:r>
              <a:rPr sz="4000" b="1" spc="-25" dirty="0">
                <a:latin typeface="Calibri"/>
                <a:cs typeface="Calibri"/>
              </a:rPr>
              <a:t>operator</a:t>
            </a:r>
            <a:r>
              <a:rPr sz="4000" b="1" spc="-40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FF"/>
                </a:solidFill>
                <a:latin typeface="Calibri"/>
                <a:cs typeface="Calibri"/>
              </a:rPr>
              <a:t>*</a:t>
            </a:r>
            <a:endParaRPr sz="400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95"/>
              </a:spcBef>
            </a:pPr>
            <a:r>
              <a:rPr sz="4000" spc="-5" dirty="0">
                <a:latin typeface="Arial"/>
                <a:cs typeface="Arial"/>
              </a:rPr>
              <a:t>–</a:t>
            </a:r>
            <a:r>
              <a:rPr sz="40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0000FF"/>
                </a:solidFill>
                <a:latin typeface="Symbol"/>
                <a:cs typeface="Symbol"/>
              </a:rPr>
              <a:t>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Calibri"/>
                <a:cs typeface="Calibri"/>
              </a:rPr>
              <a:t>or </a:t>
            </a:r>
            <a:r>
              <a:rPr sz="4000" b="1" spc="-5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4000" b="1" spc="-2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sign</a:t>
            </a:r>
            <a:endParaRPr sz="4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1939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1432" y="461594"/>
            <a:ext cx="4624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7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9003"/>
            <a:ext cx="3627120" cy="29521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(((a + b)(b*))</a:t>
            </a:r>
            <a:r>
              <a:rPr sz="4000" b="1" spc="-3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a)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((a ((a + b)*))</a:t>
            </a:r>
            <a:r>
              <a:rPr sz="4000" b="1" spc="-4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a)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((a*)(b*))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((ab)*)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794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1432" y="461594"/>
            <a:ext cx="4624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7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773"/>
            <a:ext cx="7949565" cy="436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(((a + b)(b*)) a)</a:t>
            </a:r>
            <a:endParaRPr sz="3400">
              <a:latin typeface="Calibri"/>
              <a:cs typeface="Calibri"/>
            </a:endParaRPr>
          </a:p>
          <a:p>
            <a:pPr marL="469900">
              <a:lnSpc>
                <a:spcPts val="3350"/>
              </a:lnSpc>
              <a:spcBef>
                <a:spcPts val="15"/>
              </a:spcBef>
            </a:pPr>
            <a:r>
              <a:rPr sz="3100" b="1" spc="-5" dirty="0">
                <a:latin typeface="Calibri"/>
                <a:cs typeface="Calibri"/>
              </a:rPr>
              <a:t>{aa, </a:t>
            </a:r>
            <a:r>
              <a:rPr sz="3100" b="1" spc="-10" dirty="0">
                <a:latin typeface="Calibri"/>
                <a:cs typeface="Calibri"/>
              </a:rPr>
              <a:t>ba, aba, bba, abba, bbba, abbba, bbbba,</a:t>
            </a:r>
            <a:r>
              <a:rPr sz="3100" b="1" spc="140" dirty="0">
                <a:latin typeface="Calibri"/>
                <a:cs typeface="Calibri"/>
              </a:rPr>
              <a:t> </a:t>
            </a:r>
            <a:r>
              <a:rPr sz="3100" b="1" spc="-5" dirty="0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756285">
              <a:lnSpc>
                <a:spcPts val="3340"/>
              </a:lnSpc>
            </a:pPr>
            <a:r>
              <a:rPr sz="3100" b="1" spc="-5" dirty="0">
                <a:latin typeface="Calibri"/>
                <a:cs typeface="Calibri"/>
              </a:rPr>
              <a:t>.</a:t>
            </a:r>
            <a:r>
              <a:rPr sz="3100" b="1" spc="-10" dirty="0">
                <a:latin typeface="Calibri"/>
                <a:cs typeface="Calibri"/>
              </a:rPr>
              <a:t> .}</a:t>
            </a:r>
            <a:endParaRPr sz="3100">
              <a:latin typeface="Calibri"/>
              <a:cs typeface="Calibri"/>
            </a:endParaRPr>
          </a:p>
          <a:p>
            <a:pPr marL="355600" indent="-342900">
              <a:lnSpc>
                <a:spcPts val="407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((a ((a + b)*))</a:t>
            </a:r>
            <a:r>
              <a:rPr sz="3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a)</a:t>
            </a:r>
            <a:endParaRPr sz="3400">
              <a:latin typeface="Calibri"/>
              <a:cs typeface="Calibri"/>
            </a:endParaRPr>
          </a:p>
          <a:p>
            <a:pPr marL="469900">
              <a:lnSpc>
                <a:spcPts val="3715"/>
              </a:lnSpc>
              <a:spcBef>
                <a:spcPts val="15"/>
              </a:spcBef>
            </a:pPr>
            <a:r>
              <a:rPr sz="3100" b="1" spc="-5" dirty="0">
                <a:latin typeface="Calibri"/>
                <a:cs typeface="Calibri"/>
              </a:rPr>
              <a:t>{aa, </a:t>
            </a:r>
            <a:r>
              <a:rPr sz="3100" b="1" spc="-10" dirty="0">
                <a:latin typeface="Calibri"/>
                <a:cs typeface="Calibri"/>
              </a:rPr>
              <a:t>aaa, aba, aaaa, aaba, abaa, abba, </a:t>
            </a:r>
            <a:r>
              <a:rPr sz="3100" b="1" spc="-5" dirty="0">
                <a:latin typeface="Calibri"/>
                <a:cs typeface="Calibri"/>
              </a:rPr>
              <a:t>. .</a:t>
            </a:r>
            <a:r>
              <a:rPr sz="3100" b="1" spc="105" dirty="0"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.}</a:t>
            </a:r>
            <a:endParaRPr sz="3100">
              <a:latin typeface="Calibri"/>
              <a:cs typeface="Calibri"/>
            </a:endParaRPr>
          </a:p>
          <a:p>
            <a:pPr marL="355600" indent="-342900">
              <a:lnSpc>
                <a:spcPts val="407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((a*)(b*))</a:t>
            </a:r>
            <a:endParaRPr sz="3400">
              <a:latin typeface="Calibri"/>
              <a:cs typeface="Calibri"/>
            </a:endParaRPr>
          </a:p>
          <a:p>
            <a:pPr marL="469900">
              <a:lnSpc>
                <a:spcPts val="3715"/>
              </a:lnSpc>
              <a:spcBef>
                <a:spcPts val="15"/>
              </a:spcBef>
            </a:pPr>
            <a:r>
              <a:rPr sz="3100" b="1" dirty="0">
                <a:latin typeface="Calibri"/>
                <a:cs typeface="Calibri"/>
              </a:rPr>
              <a:t>{</a:t>
            </a:r>
            <a:r>
              <a:rPr sz="3100" b="1" dirty="0">
                <a:latin typeface="Symbol"/>
                <a:cs typeface="Symbol"/>
              </a:rPr>
              <a:t></a:t>
            </a:r>
            <a:r>
              <a:rPr sz="3100" b="1" dirty="0">
                <a:latin typeface="Calibri"/>
                <a:cs typeface="Calibri"/>
              </a:rPr>
              <a:t>, </a:t>
            </a:r>
            <a:r>
              <a:rPr sz="3100" b="1" spc="-5" dirty="0">
                <a:latin typeface="Calibri"/>
                <a:cs typeface="Calibri"/>
              </a:rPr>
              <a:t>a, </a:t>
            </a:r>
            <a:r>
              <a:rPr sz="3100" b="1" spc="-10" dirty="0">
                <a:latin typeface="Calibri"/>
                <a:cs typeface="Calibri"/>
              </a:rPr>
              <a:t>b, aa, ab, bb, aaa, aab, abb, bbb, </a:t>
            </a:r>
            <a:r>
              <a:rPr sz="3100" b="1" spc="-5" dirty="0">
                <a:latin typeface="Calibri"/>
                <a:cs typeface="Calibri"/>
              </a:rPr>
              <a:t>. .</a:t>
            </a:r>
            <a:r>
              <a:rPr sz="3100" b="1" spc="110" dirty="0"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.}</a:t>
            </a:r>
            <a:endParaRPr sz="3100">
              <a:latin typeface="Calibri"/>
              <a:cs typeface="Calibri"/>
            </a:endParaRPr>
          </a:p>
          <a:p>
            <a:pPr marL="355600" indent="-342900">
              <a:lnSpc>
                <a:spcPts val="407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((ab)*)</a:t>
            </a:r>
            <a:endParaRPr sz="3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3100" b="1" dirty="0">
                <a:latin typeface="Calibri"/>
                <a:cs typeface="Calibri"/>
              </a:rPr>
              <a:t>{</a:t>
            </a:r>
            <a:r>
              <a:rPr sz="3100" b="1" dirty="0">
                <a:latin typeface="Symbol"/>
                <a:cs typeface="Symbol"/>
              </a:rPr>
              <a:t></a:t>
            </a:r>
            <a:r>
              <a:rPr sz="3100" b="1" dirty="0">
                <a:latin typeface="Calibri"/>
                <a:cs typeface="Calibri"/>
              </a:rPr>
              <a:t>, </a:t>
            </a:r>
            <a:r>
              <a:rPr sz="3100" b="1" spc="-10" dirty="0">
                <a:latin typeface="Calibri"/>
                <a:cs typeface="Calibri"/>
              </a:rPr>
              <a:t>ab, abab, ababab, abababab, </a:t>
            </a:r>
            <a:r>
              <a:rPr sz="3100" b="1" spc="-5" dirty="0">
                <a:latin typeface="Calibri"/>
                <a:cs typeface="Calibri"/>
              </a:rPr>
              <a:t>. .</a:t>
            </a:r>
            <a:r>
              <a:rPr sz="3100" b="1" spc="75" dirty="0"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.}</a:t>
            </a:r>
            <a:endParaRPr sz="3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451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989" y="461594"/>
            <a:ext cx="3213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 or </a:t>
            </a:r>
            <a:r>
              <a:rPr spc="-30" dirty="0"/>
              <a:t>NOT</a:t>
            </a:r>
            <a:r>
              <a:rPr spc="-75" dirty="0"/>
              <a:t> </a:t>
            </a:r>
            <a:r>
              <a:rPr dirty="0"/>
              <a:t>IN?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773"/>
            <a:ext cx="7470140" cy="455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ab*</a:t>
            </a:r>
            <a:endParaRPr sz="3400" dirty="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35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700" b="1" dirty="0">
                <a:latin typeface="Calibri"/>
                <a:cs typeface="Calibri"/>
              </a:rPr>
              <a:t>a </a:t>
            </a:r>
            <a:r>
              <a:rPr sz="2700" b="1" spc="-5" dirty="0">
                <a:latin typeface="Calibri"/>
                <a:cs typeface="Calibri"/>
              </a:rPr>
              <a:t>ab </a:t>
            </a:r>
            <a:r>
              <a:rPr sz="2700" b="1" dirty="0" err="1">
                <a:latin typeface="Calibri"/>
                <a:cs typeface="Calibri"/>
              </a:rPr>
              <a:t>abb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abb</a:t>
            </a:r>
            <a:r>
              <a:rPr sz="2700" b="1" spc="20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abbbb</a:t>
            </a:r>
            <a:endParaRPr sz="2700" dirty="0">
              <a:latin typeface="Calibri"/>
              <a:cs typeface="Calibri"/>
            </a:endParaRPr>
          </a:p>
          <a:p>
            <a:pPr marL="413384">
              <a:lnSpc>
                <a:spcPts val="3225"/>
              </a:lnSpc>
            </a:pP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700" b="1" dirty="0">
                <a:latin typeface="Calibri"/>
                <a:cs typeface="Calibri"/>
              </a:rPr>
              <a:t>b </a:t>
            </a:r>
            <a:r>
              <a:rPr sz="2700" b="1" spc="-5" dirty="0" err="1">
                <a:latin typeface="Calibri"/>
                <a:cs typeface="Calibri"/>
              </a:rPr>
              <a:t>ba</a:t>
            </a:r>
            <a:r>
              <a:rPr sz="2700" b="1" spc="-5" dirty="0">
                <a:latin typeface="Calibri"/>
                <a:cs typeface="Calibri"/>
              </a:rPr>
              <a:t> aba </a:t>
            </a:r>
            <a:r>
              <a:rPr sz="2700" b="1" dirty="0" err="1">
                <a:latin typeface="Calibri"/>
                <a:cs typeface="Calibri"/>
              </a:rPr>
              <a:t>abab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bab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bbb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5" dirty="0" err="1">
                <a:latin typeface="Calibri"/>
                <a:cs typeface="Calibri"/>
              </a:rPr>
              <a:t>aab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baa</a:t>
            </a:r>
            <a:r>
              <a:rPr sz="2700" b="1" spc="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abba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ts val="406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(ab)*</a:t>
            </a:r>
            <a:endParaRPr sz="3400" dirty="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30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700" b="1" dirty="0">
                <a:latin typeface="Symbol"/>
                <a:cs typeface="Symbol"/>
              </a:rPr>
              <a:t>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ab </a:t>
            </a:r>
            <a:r>
              <a:rPr sz="2700" b="1" dirty="0" err="1">
                <a:latin typeface="Calibri"/>
                <a:cs typeface="Calibri"/>
              </a:rPr>
              <a:t>abab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ababab</a:t>
            </a:r>
            <a:r>
              <a:rPr sz="2700" b="1" spc="30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abababab</a:t>
            </a:r>
            <a:endParaRPr sz="2700" dirty="0">
              <a:latin typeface="Calibri"/>
              <a:cs typeface="Calibri"/>
            </a:endParaRPr>
          </a:p>
          <a:p>
            <a:pPr marL="413384">
              <a:lnSpc>
                <a:spcPts val="3225"/>
              </a:lnSpc>
            </a:pP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700" b="1" dirty="0">
                <a:latin typeface="Calibri"/>
                <a:cs typeface="Calibri"/>
              </a:rPr>
              <a:t>b </a:t>
            </a:r>
            <a:r>
              <a:rPr sz="2700" b="1" spc="-5" dirty="0" err="1">
                <a:latin typeface="Calibri"/>
                <a:cs typeface="Calibri"/>
              </a:rPr>
              <a:t>ba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bb </a:t>
            </a:r>
            <a:r>
              <a:rPr sz="2700" b="1" dirty="0" err="1">
                <a:latin typeface="Calibri"/>
                <a:cs typeface="Calibri"/>
              </a:rPr>
              <a:t>abb</a:t>
            </a:r>
            <a:r>
              <a:rPr sz="2700" b="1" dirty="0">
                <a:latin typeface="Calibri"/>
                <a:cs typeface="Calibri"/>
              </a:rPr>
              <a:t> baa </a:t>
            </a:r>
            <a:r>
              <a:rPr sz="2700" b="1" spc="-5" dirty="0" err="1">
                <a:latin typeface="Calibri"/>
                <a:cs typeface="Calibri"/>
              </a:rPr>
              <a:t>bba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dirty="0" err="1">
                <a:latin typeface="Calibri"/>
                <a:cs typeface="Calibri"/>
              </a:rPr>
              <a:t>bab</a:t>
            </a:r>
            <a:r>
              <a:rPr sz="2700" b="1" spc="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bbb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ts val="406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(a*b*)</a:t>
            </a:r>
            <a:endParaRPr sz="3400" dirty="0">
              <a:latin typeface="Calibri"/>
              <a:cs typeface="Calibri"/>
            </a:endParaRPr>
          </a:p>
          <a:p>
            <a:pPr marL="756285" marR="15875" indent="-287020">
              <a:lnSpc>
                <a:spcPct val="80000"/>
              </a:lnSpc>
              <a:spcBef>
                <a:spcPts val="755"/>
              </a:spcBef>
              <a:tabLst>
                <a:tab pos="1417955" algn="l"/>
                <a:tab pos="1891664" algn="l"/>
                <a:tab pos="2381250" algn="l"/>
                <a:tab pos="3048635" algn="l"/>
                <a:tab pos="5906770" algn="l"/>
              </a:tabLst>
            </a:pPr>
            <a:r>
              <a:rPr sz="3100" b="1" spc="-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3100" b="1" spc="5" dirty="0">
                <a:latin typeface="Symbol"/>
                <a:cs typeface="Symbol"/>
              </a:rPr>
              <a:t></a:t>
            </a:r>
            <a:r>
              <a:rPr sz="3100" b="1" spc="5" dirty="0">
                <a:latin typeface="Calibri"/>
                <a:cs typeface="Calibri"/>
              </a:rPr>
              <a:t>	</a:t>
            </a:r>
            <a:r>
              <a:rPr sz="3100" b="1" spc="-5" dirty="0">
                <a:latin typeface="Calibri"/>
                <a:cs typeface="Calibri"/>
              </a:rPr>
              <a:t>a	</a:t>
            </a:r>
            <a:r>
              <a:rPr sz="3100" b="1" spc="-10" dirty="0">
                <a:latin typeface="Calibri"/>
                <a:cs typeface="Calibri"/>
              </a:rPr>
              <a:t>b	</a:t>
            </a:r>
            <a:r>
              <a:rPr sz="3100" b="1" spc="-5" dirty="0">
                <a:latin typeface="Calibri"/>
                <a:cs typeface="Calibri"/>
              </a:rPr>
              <a:t>aa	</a:t>
            </a:r>
            <a:r>
              <a:rPr sz="3100" b="1" spc="-10" dirty="0">
                <a:latin typeface="Calibri"/>
                <a:cs typeface="Calibri"/>
              </a:rPr>
              <a:t>ab bb</a:t>
            </a:r>
            <a:r>
              <a:rPr sz="3100" b="1" spc="45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aaa</a:t>
            </a:r>
            <a:r>
              <a:rPr sz="3100" b="1" spc="2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aab</a:t>
            </a:r>
            <a:r>
              <a:rPr lang="en-US" sz="3100" b="1" spc="-1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abb</a:t>
            </a:r>
            <a:r>
              <a:rPr sz="3100" b="1" spc="-7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bbb</a:t>
            </a:r>
            <a:r>
              <a:rPr sz="3100" b="1" spc="-10" dirty="0">
                <a:latin typeface="Calibri"/>
                <a:cs typeface="Calibri"/>
              </a:rPr>
              <a:t>  aaaa</a:t>
            </a:r>
            <a:endParaRPr sz="31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3100" b="1" spc="-30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3100" b="1" spc="-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3100" b="1" spc="-10" dirty="0" err="1">
                <a:latin typeface="Calibri"/>
                <a:cs typeface="Calibri"/>
              </a:rPr>
              <a:t>ba</a:t>
            </a:r>
            <a:r>
              <a:rPr sz="3100" b="1" spc="-1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bab</a:t>
            </a:r>
            <a:r>
              <a:rPr sz="3100" b="1" spc="-1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abab</a:t>
            </a:r>
            <a:r>
              <a:rPr sz="3100" b="1" spc="-10" dirty="0">
                <a:latin typeface="Calibri"/>
                <a:cs typeface="Calibri"/>
              </a:rPr>
              <a:t> </a:t>
            </a:r>
            <a:r>
              <a:rPr sz="3100" b="1" spc="-10" dirty="0" err="1">
                <a:latin typeface="Calibri"/>
                <a:cs typeface="Calibri"/>
              </a:rPr>
              <a:t>bba</a:t>
            </a:r>
            <a:r>
              <a:rPr sz="3100" b="1" spc="-10" dirty="0">
                <a:latin typeface="Calibri"/>
                <a:cs typeface="Calibri"/>
              </a:rPr>
              <a:t> aba</a:t>
            </a:r>
            <a:r>
              <a:rPr sz="3100" b="1" spc="120" dirty="0">
                <a:latin typeface="Calibri"/>
                <a:cs typeface="Calibri"/>
              </a:rPr>
              <a:t> </a:t>
            </a:r>
            <a:r>
              <a:rPr sz="3100" b="1" spc="-15" dirty="0">
                <a:latin typeface="Calibri"/>
                <a:cs typeface="Calibri"/>
              </a:rPr>
              <a:t>bbba</a:t>
            </a:r>
            <a:endParaRPr sz="3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4468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523961"/>
            <a:ext cx="8349615" cy="2077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021205" indent="-354965">
              <a:lnSpc>
                <a:spcPct val="1201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15" dirty="0">
                <a:latin typeface="Calibri"/>
                <a:cs typeface="Calibri"/>
              </a:rPr>
              <a:t>over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{a, b}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15" dirty="0">
                <a:latin typeface="Calibri"/>
                <a:cs typeface="Calibri"/>
              </a:rPr>
              <a:t>start </a:t>
            </a:r>
            <a:r>
              <a:rPr sz="2800" b="1" spc="-5" dirty="0">
                <a:latin typeface="Calibri"/>
                <a:cs typeface="Calibri"/>
              </a:rPr>
              <a:t>with an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 a (a +</a:t>
            </a:r>
            <a:r>
              <a:rPr sz="2800" b="1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endParaRPr sz="2800" dirty="0">
              <a:latin typeface="Calibri"/>
              <a:cs typeface="Calibri"/>
            </a:endParaRPr>
          </a:p>
          <a:p>
            <a:pPr marL="354965" marR="1511300" indent="-354965">
              <a:lnSpc>
                <a:spcPts val="4029"/>
              </a:lnSpc>
              <a:spcBef>
                <a:spcPts val="2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20" dirty="0">
                <a:latin typeface="Calibri"/>
                <a:cs typeface="Calibri"/>
              </a:rPr>
              <a:t>over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{a, b}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15" dirty="0">
                <a:latin typeface="Calibri"/>
                <a:cs typeface="Calibri"/>
              </a:rPr>
              <a:t>are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even </a:t>
            </a:r>
            <a:r>
              <a:rPr sz="2800" b="1" spc="-5" dirty="0">
                <a:latin typeface="Calibri"/>
                <a:cs typeface="Calibri"/>
              </a:rPr>
              <a:t>in </a:t>
            </a:r>
            <a:r>
              <a:rPr sz="2800" b="1" spc="-10" dirty="0">
                <a:latin typeface="Calibri"/>
                <a:cs typeface="Calibri"/>
              </a:rPr>
              <a:t>length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((a + b)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(a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r>
              <a:rPr sz="2800" b="1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b))*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25975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49019"/>
            <a:ext cx="8459470" cy="446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160145" indent="-354965">
              <a:lnSpc>
                <a:spcPct val="1301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20" dirty="0">
                <a:latin typeface="Calibri"/>
                <a:cs typeface="Calibri"/>
              </a:rPr>
              <a:t>over </a:t>
            </a:r>
            <a:r>
              <a:rPr sz="2800" b="1" spc="-5" dirty="0">
                <a:latin typeface="Calibri"/>
                <a:cs typeface="Calibri"/>
              </a:rPr>
              <a:t>{0, 1} </a:t>
            </a:r>
            <a:r>
              <a:rPr sz="2800" b="1" spc="-10" dirty="0">
                <a:latin typeface="Calibri"/>
                <a:cs typeface="Calibri"/>
              </a:rPr>
              <a:t>with </a:t>
            </a:r>
            <a:r>
              <a:rPr sz="2800" b="1" spc="-5" dirty="0">
                <a:latin typeface="Calibri"/>
                <a:cs typeface="Calibri"/>
              </a:rPr>
              <a:t>no </a:t>
            </a:r>
            <a:r>
              <a:rPr sz="2800" b="1" spc="-10" dirty="0">
                <a:latin typeface="Calibri"/>
                <a:cs typeface="Calibri"/>
              </a:rPr>
              <a:t>occurrences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00 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1*(011*)*(0+1*)</a:t>
            </a:r>
            <a:endParaRPr sz="2800">
              <a:latin typeface="Calibri"/>
              <a:cs typeface="Calibri"/>
            </a:endParaRPr>
          </a:p>
          <a:p>
            <a:pPr marL="354965" marR="5080" indent="-354965">
              <a:lnSpc>
                <a:spcPts val="4370"/>
              </a:lnSpc>
              <a:spcBef>
                <a:spcPts val="3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20" dirty="0">
                <a:latin typeface="Calibri"/>
                <a:cs typeface="Calibri"/>
              </a:rPr>
              <a:t>over </a:t>
            </a:r>
            <a:r>
              <a:rPr sz="2800" b="1" spc="-5" dirty="0">
                <a:latin typeface="Calibri"/>
                <a:cs typeface="Calibri"/>
              </a:rPr>
              <a:t>{0, 1} </a:t>
            </a:r>
            <a:r>
              <a:rPr sz="2800" b="1" spc="-10" dirty="0">
                <a:latin typeface="Calibri"/>
                <a:cs typeface="Calibri"/>
              </a:rPr>
              <a:t>with </a:t>
            </a:r>
            <a:r>
              <a:rPr sz="2800" b="1" spc="-20" dirty="0">
                <a:latin typeface="Calibri"/>
                <a:cs typeface="Calibri"/>
              </a:rPr>
              <a:t>exactly </a:t>
            </a:r>
            <a:r>
              <a:rPr sz="2800" b="1" spc="-5" dirty="0">
                <a:latin typeface="Calibri"/>
                <a:cs typeface="Calibri"/>
              </a:rPr>
              <a:t>one </a:t>
            </a:r>
            <a:r>
              <a:rPr sz="2800" b="1" spc="-10" dirty="0">
                <a:latin typeface="Calibri"/>
                <a:cs typeface="Calibri"/>
              </a:rPr>
              <a:t>occurrence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00 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1*(011*)*00(11*0)*1*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20" dirty="0">
                <a:latin typeface="Calibri"/>
                <a:cs typeface="Calibri"/>
              </a:rPr>
              <a:t>over </a:t>
            </a:r>
            <a:r>
              <a:rPr sz="2800" b="1" spc="-5" dirty="0">
                <a:latin typeface="Calibri"/>
                <a:cs typeface="Calibri"/>
              </a:rPr>
              <a:t>{0, 1}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15" dirty="0">
                <a:latin typeface="Calibri"/>
                <a:cs typeface="Calibri"/>
              </a:rPr>
              <a:t>contain</a:t>
            </a:r>
            <a:r>
              <a:rPr sz="2800" b="1" spc="14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101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(0+1)*101(0+1)*</a:t>
            </a:r>
            <a:endParaRPr sz="2800">
              <a:latin typeface="Calibri"/>
              <a:cs typeface="Calibri"/>
            </a:endParaRPr>
          </a:p>
          <a:p>
            <a:pPr marL="354965" marR="1684020" indent="-354965">
              <a:lnSpc>
                <a:spcPct val="13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0" dirty="0">
                <a:latin typeface="Calibri"/>
                <a:cs typeface="Calibri"/>
              </a:rPr>
              <a:t>strings </a:t>
            </a:r>
            <a:r>
              <a:rPr sz="2800" b="1" spc="-20" dirty="0">
                <a:latin typeface="Calibri"/>
                <a:cs typeface="Calibri"/>
              </a:rPr>
              <a:t>over </a:t>
            </a:r>
            <a:r>
              <a:rPr sz="2800" b="1" spc="-5" dirty="0">
                <a:latin typeface="Calibri"/>
                <a:cs typeface="Calibri"/>
              </a:rPr>
              <a:t>{0, 1}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5" dirty="0">
                <a:latin typeface="Calibri"/>
                <a:cs typeface="Calibri"/>
              </a:rPr>
              <a:t>do not </a:t>
            </a:r>
            <a:r>
              <a:rPr sz="2800" b="1" spc="-15" dirty="0">
                <a:latin typeface="Calibri"/>
                <a:cs typeface="Calibri"/>
              </a:rPr>
              <a:t>contain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01 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1*0*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940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58493"/>
            <a:ext cx="7945755" cy="29749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68300" marR="17780" indent="-342900">
              <a:lnSpc>
                <a:spcPct val="87500"/>
              </a:lnSpc>
              <a:spcBef>
                <a:spcPts val="58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b="1" spc="-55" dirty="0">
                <a:latin typeface="Calibri"/>
                <a:cs typeface="Calibri"/>
              </a:rPr>
              <a:t>We </a:t>
            </a:r>
            <a:r>
              <a:rPr sz="3200" b="1" dirty="0">
                <a:latin typeface="Calibri"/>
                <a:cs typeface="Calibri"/>
              </a:rPr>
              <a:t>shall </a:t>
            </a:r>
            <a:r>
              <a:rPr sz="3200" b="1" spc="-10" dirty="0">
                <a:latin typeface="Calibri"/>
                <a:cs typeface="Calibri"/>
              </a:rPr>
              <a:t>develop </a:t>
            </a:r>
            <a:r>
              <a:rPr sz="3200" b="1" dirty="0">
                <a:latin typeface="Calibri"/>
                <a:cs typeface="Calibri"/>
              </a:rPr>
              <a:t>some </a:t>
            </a:r>
            <a:r>
              <a:rPr sz="3200" b="1" spc="-10" dirty="0">
                <a:latin typeface="Calibri"/>
                <a:cs typeface="Calibri"/>
              </a:rPr>
              <a:t>new </a:t>
            </a:r>
            <a:r>
              <a:rPr sz="3200" b="1" spc="-5" dirty="0">
                <a:latin typeface="Calibri"/>
                <a:cs typeface="Calibri"/>
              </a:rPr>
              <a:t>language-  definition symbolism </a:t>
            </a:r>
            <a:r>
              <a:rPr sz="3200" b="1" spc="-10" dirty="0">
                <a:latin typeface="Calibri"/>
                <a:cs typeface="Calibri"/>
              </a:rPr>
              <a:t>that </a:t>
            </a:r>
            <a:r>
              <a:rPr sz="3200" b="1" spc="-5" dirty="0">
                <a:latin typeface="Calibri"/>
                <a:cs typeface="Calibri"/>
              </a:rPr>
              <a:t>will </a:t>
            </a:r>
            <a:r>
              <a:rPr sz="3200" b="1" dirty="0">
                <a:latin typeface="Calibri"/>
                <a:cs typeface="Calibri"/>
              </a:rPr>
              <a:t>be </a:t>
            </a:r>
            <a:r>
              <a:rPr sz="3200" b="1" spc="-5" dirty="0">
                <a:latin typeface="Calibri"/>
                <a:cs typeface="Calibri"/>
              </a:rPr>
              <a:t>much</a:t>
            </a:r>
            <a:r>
              <a:rPr sz="3200" b="1" spc="-114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more  precise </a:t>
            </a:r>
            <a:r>
              <a:rPr sz="3200" b="1" dirty="0">
                <a:latin typeface="Calibri"/>
                <a:cs typeface="Calibri"/>
              </a:rPr>
              <a:t>than the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endParaRPr sz="3200" dirty="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  <a:spcBef>
                <a:spcPts val="470"/>
              </a:spcBef>
            </a:pPr>
            <a:r>
              <a:rPr sz="3200" b="1" dirty="0">
                <a:latin typeface="Calibri"/>
                <a:cs typeface="Calibri"/>
              </a:rPr>
              <a:t>E.g.:</a:t>
            </a:r>
            <a:endParaRPr sz="3200" dirty="0">
              <a:latin typeface="Calibri"/>
              <a:cs typeface="Calibri"/>
            </a:endParaRPr>
          </a:p>
          <a:p>
            <a:pPr marL="368300" marR="2110105" indent="1199515">
              <a:lnSpc>
                <a:spcPct val="103699"/>
              </a:lnSpc>
              <a:spcBef>
                <a:spcPts val="375"/>
              </a:spcBef>
              <a:tabLst>
                <a:tab pos="2823845" algn="l"/>
                <a:tab pos="3194050" algn="l"/>
                <a:tab pos="3752850" algn="l"/>
                <a:tab pos="4500245" algn="l"/>
              </a:tabLst>
            </a:pPr>
            <a:r>
              <a:rPr sz="3200" b="1" i="1" spc="10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150" b="1" i="1" spc="15" baseline="-21164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3150" b="1" i="1" spc="375" baseline="-21164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</a:t>
            </a:r>
            <a:r>
              <a:rPr lang="en-US" sz="3200" b="1" spc="5" dirty="0">
                <a:solidFill>
                  <a:srgbClr val="0000CC"/>
                </a:solidFill>
                <a:latin typeface="Symbol"/>
                <a:cs typeface="Symbol"/>
              </a:rPr>
              <a:t>,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lang="en-US" sz="3200" b="1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xx</a:t>
            </a:r>
            <a:r>
              <a:rPr lang="en-US" sz="3200" b="1" spc="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xxx</a:t>
            </a:r>
            <a:r>
              <a:rPr lang="en-US" sz="32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xxxx</a:t>
            </a:r>
            <a:r>
              <a:rPr sz="3200" b="1" spc="-8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Calibri"/>
                <a:cs typeface="Calibri"/>
              </a:rPr>
              <a:t>We </a:t>
            </a:r>
            <a:r>
              <a:rPr sz="3200" b="1" spc="-10" dirty="0">
                <a:latin typeface="Calibri"/>
                <a:cs typeface="Calibri"/>
              </a:rPr>
              <a:t>can define </a:t>
            </a:r>
            <a:r>
              <a:rPr sz="3200" b="1" dirty="0">
                <a:latin typeface="Calibri"/>
                <a:cs typeface="Calibri"/>
              </a:rPr>
              <a:t>it with </a:t>
            </a:r>
            <a:r>
              <a:rPr sz="3200" b="1" spc="-5" dirty="0">
                <a:latin typeface="Calibri"/>
                <a:cs typeface="Calibri"/>
              </a:rPr>
              <a:t>closure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507889"/>
            <a:ext cx="2679700" cy="124968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230"/>
              </a:spcBef>
              <a:tabLst>
                <a:tab pos="1498600" algn="l"/>
              </a:tabLst>
            </a:pPr>
            <a:r>
              <a:rPr sz="2800" b="1" spc="-10" dirty="0">
                <a:latin typeface="Calibri"/>
                <a:cs typeface="Calibri"/>
              </a:rPr>
              <a:t>Let	</a:t>
            </a:r>
            <a:r>
              <a:rPr sz="2800" b="1" i="1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28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3200" b="1" dirty="0">
                <a:latin typeface="Calibri"/>
                <a:cs typeface="Calibri"/>
              </a:rPr>
              <a:t>or </a:t>
            </a:r>
            <a:r>
              <a:rPr sz="3200" b="1" spc="-10" dirty="0">
                <a:latin typeface="Calibri"/>
                <a:cs typeface="Calibri"/>
              </a:rPr>
              <a:t>we can</a:t>
            </a:r>
            <a:r>
              <a:rPr sz="3200" b="1" spc="1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write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6075" y="4507889"/>
            <a:ext cx="2964815" cy="124968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230"/>
              </a:spcBef>
              <a:tabLst>
                <a:tab pos="1960245" algn="l"/>
              </a:tabLst>
            </a:pPr>
            <a:r>
              <a:rPr sz="2800" b="1" spc="-10" dirty="0">
                <a:latin typeface="Calibri"/>
                <a:cs typeface="Calibri"/>
              </a:rPr>
              <a:t>Then	</a:t>
            </a:r>
            <a:r>
              <a:rPr sz="2800" b="1" i="1" spc="5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2775" b="1" i="1" spc="7" baseline="-21021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2800" b="1" i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2800" b="1" i="1" spc="-2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305"/>
              </a:spcBef>
            </a:pPr>
            <a:r>
              <a:rPr sz="3200" b="1" i="1" spc="10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150" b="1" i="1" spc="15" baseline="-21164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3200" b="1" i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200" b="1" i="1" spc="-2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200" b="1" spc="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4460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3814" y="461594"/>
            <a:ext cx="3105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Langua</a:t>
            </a:r>
            <a:r>
              <a:rPr spc="-55" dirty="0"/>
              <a:t>g</a:t>
            </a:r>
            <a:r>
              <a:rPr spc="-5" dirty="0"/>
              <a:t>e(x*)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391777"/>
            <a:ext cx="8064500" cy="35566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365"/>
              </a:spcBef>
              <a:buFont typeface="Arial"/>
              <a:buChar char="•"/>
              <a:tabLst>
                <a:tab pos="368300" algn="l"/>
              </a:tabLst>
            </a:pPr>
            <a:r>
              <a:rPr sz="4000" b="1" spc="-75" dirty="0">
                <a:latin typeface="Calibri"/>
                <a:cs typeface="Calibri"/>
              </a:rPr>
              <a:t>We </a:t>
            </a:r>
            <a:r>
              <a:rPr sz="4000" b="1" spc="-15" dirty="0">
                <a:latin typeface="Calibri"/>
                <a:cs typeface="Calibri"/>
              </a:rPr>
              <a:t>can </a:t>
            </a:r>
            <a:r>
              <a:rPr sz="4000" b="1" spc="-5" dirty="0">
                <a:latin typeface="Calibri"/>
                <a:cs typeface="Calibri"/>
              </a:rPr>
              <a:t>also </a:t>
            </a:r>
            <a:r>
              <a:rPr sz="4000" b="1" spc="-10" dirty="0">
                <a:latin typeface="Calibri"/>
                <a:cs typeface="Calibri"/>
              </a:rPr>
              <a:t>define </a:t>
            </a:r>
            <a:r>
              <a:rPr sz="4000" b="1" i="1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975" b="1" i="1" baseline="-20964" dirty="0">
                <a:solidFill>
                  <a:srgbClr val="0000CC"/>
                </a:solidFill>
                <a:latin typeface="Calibri"/>
                <a:cs typeface="Calibri"/>
              </a:rPr>
              <a:t>2</a:t>
            </a:r>
            <a:r>
              <a:rPr sz="3975" b="1" i="1" spc="600" baseline="-20964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as</a:t>
            </a:r>
            <a:endParaRPr sz="4000">
              <a:latin typeface="Calibri"/>
              <a:cs typeface="Calibri"/>
            </a:endParaRPr>
          </a:p>
          <a:p>
            <a:pPr marL="3148330">
              <a:lnSpc>
                <a:spcPct val="100000"/>
              </a:lnSpc>
              <a:spcBef>
                <a:spcPts val="1400"/>
              </a:spcBef>
            </a:pPr>
            <a:r>
              <a:rPr sz="4400" b="1" i="1" spc="5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4350" b="1" i="1" spc="7" baseline="-21072" dirty="0">
                <a:solidFill>
                  <a:srgbClr val="0000CC"/>
                </a:solidFill>
                <a:latin typeface="Calibri"/>
                <a:cs typeface="Calibri"/>
              </a:rPr>
              <a:t>2 </a:t>
            </a:r>
            <a:r>
              <a:rPr sz="4400" b="1" dirty="0">
                <a:latin typeface="Calibri"/>
                <a:cs typeface="Calibri"/>
              </a:rPr>
              <a:t>=</a:t>
            </a:r>
            <a:r>
              <a:rPr sz="4400" b="1" spc="-10" dirty="0"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0000CC"/>
                </a:solidFill>
                <a:latin typeface="Calibri"/>
                <a:cs typeface="Calibri"/>
              </a:rPr>
              <a:t>(x*)</a:t>
            </a:r>
            <a:endParaRPr sz="4400">
              <a:latin typeface="Calibri"/>
              <a:cs typeface="Calibri"/>
            </a:endParaRPr>
          </a:p>
          <a:p>
            <a:pPr marL="368300" marR="17780">
              <a:lnSpc>
                <a:spcPct val="100400"/>
              </a:lnSpc>
              <a:spcBef>
                <a:spcPts val="600"/>
              </a:spcBef>
            </a:pPr>
            <a:r>
              <a:rPr sz="4000" b="1" spc="-5" dirty="0">
                <a:latin typeface="Calibri"/>
                <a:cs typeface="Calibri"/>
              </a:rPr>
              <a:t>Since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x* </a:t>
            </a:r>
            <a:r>
              <a:rPr sz="4000" b="1" spc="-5" dirty="0">
                <a:latin typeface="Calibri"/>
                <a:cs typeface="Calibri"/>
              </a:rPr>
              <a:t>is </a:t>
            </a:r>
            <a:r>
              <a:rPr sz="4000" b="1" spc="-30" dirty="0">
                <a:latin typeface="Calibri"/>
                <a:cs typeface="Calibri"/>
              </a:rPr>
              <a:t>any </a:t>
            </a:r>
            <a:r>
              <a:rPr sz="4000" b="1" spc="-10" dirty="0">
                <a:latin typeface="Calibri"/>
                <a:cs typeface="Calibri"/>
              </a:rPr>
              <a:t>string </a:t>
            </a:r>
            <a:r>
              <a:rPr sz="4000" b="1" spc="-5" dirty="0">
                <a:latin typeface="Calibri"/>
                <a:cs typeface="Calibri"/>
              </a:rPr>
              <a:t>of </a:t>
            </a:r>
            <a:r>
              <a:rPr sz="4000" b="1" spc="-90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4000" b="1" spc="-90" dirty="0">
                <a:latin typeface="Arial Narrow"/>
                <a:cs typeface="Arial Narrow"/>
              </a:rPr>
              <a:t>’</a:t>
            </a:r>
            <a:r>
              <a:rPr sz="4000" b="1" spc="-90" dirty="0">
                <a:latin typeface="Calibri"/>
                <a:cs typeface="Calibri"/>
              </a:rPr>
              <a:t>s, </a:t>
            </a:r>
            <a:r>
              <a:rPr sz="4000" b="1" i="1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975" b="1" i="1" baseline="-20964" dirty="0">
                <a:solidFill>
                  <a:srgbClr val="0000CC"/>
                </a:solidFill>
                <a:latin typeface="Calibri"/>
                <a:cs typeface="Calibri"/>
              </a:rPr>
              <a:t>2 </a:t>
            </a:r>
            <a:r>
              <a:rPr sz="4000" b="1" spc="-5" dirty="0">
                <a:latin typeface="Calibri"/>
                <a:cs typeface="Calibri"/>
              </a:rPr>
              <a:t>is then  the </a:t>
            </a:r>
            <a:r>
              <a:rPr sz="4000" b="1" spc="-10" dirty="0">
                <a:latin typeface="Calibri"/>
                <a:cs typeface="Calibri"/>
              </a:rPr>
              <a:t>set </a:t>
            </a:r>
            <a:r>
              <a:rPr sz="4000" b="1" spc="-5" dirty="0">
                <a:latin typeface="Calibri"/>
                <a:cs typeface="Calibri"/>
              </a:rPr>
              <a:t>of all possible </a:t>
            </a:r>
            <a:r>
              <a:rPr sz="4000" b="1" spc="-10" dirty="0">
                <a:latin typeface="Calibri"/>
                <a:cs typeface="Calibri"/>
              </a:rPr>
              <a:t>string </a:t>
            </a:r>
            <a:r>
              <a:rPr sz="4000" b="1" spc="-5" dirty="0">
                <a:latin typeface="Calibri"/>
                <a:cs typeface="Calibri"/>
              </a:rPr>
              <a:t>of </a:t>
            </a:r>
            <a:r>
              <a:rPr sz="4000" b="1" spc="-120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4000" b="1" spc="-120" dirty="0">
                <a:latin typeface="Arial Narrow"/>
                <a:cs typeface="Arial Narrow"/>
              </a:rPr>
              <a:t>’</a:t>
            </a:r>
            <a:r>
              <a:rPr sz="4000" b="1" spc="-120" dirty="0">
                <a:latin typeface="Calibri"/>
                <a:cs typeface="Calibri"/>
              </a:rPr>
              <a:t>s </a:t>
            </a:r>
            <a:r>
              <a:rPr sz="4000" b="1" spc="-5" dirty="0">
                <a:latin typeface="Calibri"/>
                <a:cs typeface="Calibri"/>
              </a:rPr>
              <a:t>of  </a:t>
            </a:r>
            <a:r>
              <a:rPr sz="4000" b="1" spc="-30" dirty="0">
                <a:latin typeface="Calibri"/>
                <a:cs typeface="Calibri"/>
              </a:rPr>
              <a:t>any </a:t>
            </a:r>
            <a:r>
              <a:rPr sz="4000" b="1" spc="-5" dirty="0">
                <a:latin typeface="Calibri"/>
                <a:cs typeface="Calibri"/>
              </a:rPr>
              <a:t>length (including</a:t>
            </a:r>
            <a:r>
              <a:rPr sz="4000" b="1" spc="60" dirty="0">
                <a:latin typeface="Calibri"/>
                <a:cs typeface="Calibri"/>
              </a:rPr>
              <a:t> </a:t>
            </a:r>
            <a:r>
              <a:rPr sz="4000" b="1" spc="-110" dirty="0">
                <a:solidFill>
                  <a:srgbClr val="0000CC"/>
                </a:solidFill>
                <a:latin typeface="Times New Roman"/>
                <a:cs typeface="Times New Roman"/>
              </a:rPr>
              <a:t>λ</a:t>
            </a:r>
            <a:r>
              <a:rPr sz="4000" b="1" spc="-110" dirty="0">
                <a:latin typeface="Arial Narrow"/>
                <a:cs typeface="Arial Narrow"/>
              </a:rPr>
              <a:t>)</a:t>
            </a:r>
            <a:endParaRPr sz="40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51667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4302"/>
            <a:ext cx="7949565" cy="44043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latin typeface="Calibri"/>
                <a:cs typeface="Calibri"/>
              </a:rPr>
              <a:t>Suppose </a:t>
            </a:r>
            <a:r>
              <a:rPr sz="3400" b="1" spc="-15" dirty="0">
                <a:latin typeface="Calibri"/>
                <a:cs typeface="Calibri"/>
              </a:rPr>
              <a:t>we </a:t>
            </a:r>
            <a:r>
              <a:rPr sz="3400" b="1" spc="-5" dirty="0">
                <a:latin typeface="Calibri"/>
                <a:cs typeface="Calibri"/>
              </a:rPr>
              <a:t>wish </a:t>
            </a:r>
            <a:r>
              <a:rPr sz="3400" b="1" spc="-25" dirty="0">
                <a:latin typeface="Calibri"/>
                <a:cs typeface="Calibri"/>
              </a:rPr>
              <a:t>to </a:t>
            </a:r>
            <a:r>
              <a:rPr sz="3400" b="1" spc="-5" dirty="0">
                <a:latin typeface="Calibri"/>
                <a:cs typeface="Calibri"/>
              </a:rPr>
              <a:t>describe the </a:t>
            </a:r>
            <a:r>
              <a:rPr sz="3400" b="1" spc="-10" dirty="0">
                <a:latin typeface="Calibri"/>
                <a:cs typeface="Calibri"/>
              </a:rPr>
              <a:t>language </a:t>
            </a:r>
            <a:r>
              <a:rPr sz="34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L </a:t>
            </a:r>
            <a:r>
              <a:rPr sz="3400" b="1" spc="-20" dirty="0">
                <a:latin typeface="Calibri"/>
                <a:cs typeface="Calibri"/>
              </a:rPr>
              <a:t>over </a:t>
            </a:r>
            <a:r>
              <a:rPr sz="3400" b="1" spc="-5" dirty="0">
                <a:latin typeface="Calibri"/>
                <a:cs typeface="Calibri"/>
              </a:rPr>
              <a:t>the</a:t>
            </a:r>
            <a:r>
              <a:rPr sz="3400" b="1" spc="25" dirty="0">
                <a:latin typeface="Calibri"/>
                <a:cs typeface="Calibri"/>
              </a:rPr>
              <a:t> </a:t>
            </a:r>
            <a:r>
              <a:rPr sz="3400" b="1" spc="-5" dirty="0">
                <a:latin typeface="Calibri"/>
                <a:cs typeface="Calibri"/>
              </a:rPr>
              <a:t>alphabet</a:t>
            </a:r>
            <a:endParaRPr sz="3400">
              <a:latin typeface="Calibri"/>
              <a:cs typeface="Calibri"/>
            </a:endParaRPr>
          </a:p>
          <a:p>
            <a:pPr marL="2305050">
              <a:lnSpc>
                <a:spcPct val="100000"/>
              </a:lnSpc>
              <a:spcBef>
                <a:spcPts val="1545"/>
              </a:spcBef>
              <a:tabLst>
                <a:tab pos="3812540" algn="l"/>
              </a:tabLst>
            </a:pP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4000" b="1" spc="-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40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a	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4000">
              <a:latin typeface="Symbol"/>
              <a:cs typeface="Symbol"/>
            </a:endParaRPr>
          </a:p>
          <a:p>
            <a:pPr marL="353695">
              <a:lnSpc>
                <a:spcPct val="100000"/>
              </a:lnSpc>
              <a:spcBef>
                <a:spcPts val="1750"/>
              </a:spcBef>
              <a:tabLst>
                <a:tab pos="1841500" algn="l"/>
                <a:tab pos="3047365" algn="l"/>
                <a:tab pos="3685540" algn="l"/>
              </a:tabLst>
            </a:pPr>
            <a:r>
              <a:rPr sz="3400" b="1" spc="-15" dirty="0">
                <a:latin typeface="Calibri"/>
                <a:cs typeface="Calibri"/>
              </a:rPr>
              <a:t>where	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L =</a:t>
            </a:r>
            <a:r>
              <a:rPr sz="34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400" b="1" dirty="0">
                <a:solidFill>
                  <a:srgbClr val="0000CC"/>
                </a:solidFill>
                <a:latin typeface="Calibri"/>
                <a:cs typeface="Calibri"/>
              </a:rPr>
              <a:t>a	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ab	abb abbb abbbb</a:t>
            </a:r>
            <a:r>
              <a:rPr sz="34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400" b="1" spc="-10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400">
              <a:latin typeface="Symbol"/>
              <a:cs typeface="Symbol"/>
            </a:endParaRPr>
          </a:p>
          <a:p>
            <a:pPr marL="355600" marR="292100">
              <a:lnSpc>
                <a:spcPts val="3679"/>
              </a:lnSpc>
              <a:spcBef>
                <a:spcPts val="1335"/>
              </a:spcBef>
            </a:pPr>
            <a:r>
              <a:rPr sz="3400" b="1" spc="-165" dirty="0">
                <a:latin typeface="Arial Narrow"/>
                <a:cs typeface="Arial Narrow"/>
              </a:rPr>
              <a:t>“</a:t>
            </a:r>
            <a:r>
              <a:rPr sz="3400" b="1" spc="-165" dirty="0">
                <a:latin typeface="Calibri"/>
                <a:cs typeface="Calibri"/>
              </a:rPr>
              <a:t>all </a:t>
            </a:r>
            <a:r>
              <a:rPr sz="3400" b="1" spc="-15" dirty="0">
                <a:latin typeface="Calibri"/>
                <a:cs typeface="Calibri"/>
              </a:rPr>
              <a:t>words </a:t>
            </a:r>
            <a:r>
              <a:rPr sz="3400" b="1" spc="-5" dirty="0">
                <a:latin typeface="Calibri"/>
                <a:cs typeface="Calibri"/>
              </a:rPr>
              <a:t>of the </a:t>
            </a:r>
            <a:r>
              <a:rPr sz="3400" b="1" spc="-15" dirty="0">
                <a:latin typeface="Calibri"/>
                <a:cs typeface="Calibri"/>
              </a:rPr>
              <a:t>form </a:t>
            </a:r>
            <a:r>
              <a:rPr sz="3400" b="1" spc="-10" dirty="0">
                <a:latin typeface="Calibri"/>
                <a:cs typeface="Calibri"/>
              </a:rPr>
              <a:t>one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400" b="1" spc="-15" dirty="0">
                <a:latin typeface="Calibri"/>
                <a:cs typeface="Calibri"/>
              </a:rPr>
              <a:t>followed by  </a:t>
            </a:r>
            <a:r>
              <a:rPr sz="3400" b="1" spc="-5" dirty="0">
                <a:latin typeface="Calibri"/>
                <a:cs typeface="Calibri"/>
              </a:rPr>
              <a:t>some number of </a:t>
            </a:r>
            <a:r>
              <a:rPr sz="3400" b="1" spc="-10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400" b="1" spc="-100" dirty="0">
                <a:latin typeface="Arial Narrow"/>
                <a:cs typeface="Arial Narrow"/>
              </a:rPr>
              <a:t>’</a:t>
            </a:r>
            <a:r>
              <a:rPr sz="3400" b="1" spc="-100" dirty="0">
                <a:latin typeface="Calibri"/>
                <a:cs typeface="Calibri"/>
              </a:rPr>
              <a:t>s </a:t>
            </a:r>
            <a:r>
              <a:rPr sz="3400" b="1" spc="-15" dirty="0">
                <a:latin typeface="Calibri"/>
                <a:cs typeface="Calibri"/>
              </a:rPr>
              <a:t>(maybe </a:t>
            </a:r>
            <a:r>
              <a:rPr sz="3400" b="1" spc="-5" dirty="0">
                <a:latin typeface="Calibri"/>
                <a:cs typeface="Calibri"/>
              </a:rPr>
              <a:t>no </a:t>
            </a:r>
            <a:r>
              <a:rPr sz="3400" b="1" spc="-10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400" b="1" spc="-100" dirty="0">
                <a:latin typeface="Arial Narrow"/>
                <a:cs typeface="Arial Narrow"/>
              </a:rPr>
              <a:t>’</a:t>
            </a:r>
            <a:r>
              <a:rPr sz="3400" b="1" spc="-100" dirty="0">
                <a:latin typeface="Calibri"/>
                <a:cs typeface="Calibri"/>
              </a:rPr>
              <a:t>s </a:t>
            </a:r>
            <a:r>
              <a:rPr sz="3400" b="1" spc="-20" dirty="0">
                <a:latin typeface="Calibri"/>
                <a:cs typeface="Calibri"/>
              </a:rPr>
              <a:t>at</a:t>
            </a:r>
            <a:r>
              <a:rPr sz="3400" b="1" spc="220" dirty="0">
                <a:latin typeface="Calibri"/>
                <a:cs typeface="Calibri"/>
              </a:rPr>
              <a:t> </a:t>
            </a:r>
            <a:r>
              <a:rPr sz="3400" b="1" spc="-135" dirty="0">
                <a:latin typeface="Calibri"/>
                <a:cs typeface="Calibri"/>
              </a:rPr>
              <a:t>all)</a:t>
            </a:r>
            <a:r>
              <a:rPr sz="3400" b="1" spc="-135" dirty="0">
                <a:latin typeface="Arial Narrow"/>
                <a:cs typeface="Arial Narrow"/>
              </a:rPr>
              <a:t>”</a:t>
            </a:r>
            <a:endParaRPr sz="3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2853690" algn="l"/>
              </a:tabLst>
            </a:pPr>
            <a:r>
              <a:rPr sz="3400" b="1" spc="-15" dirty="0">
                <a:latin typeface="Calibri"/>
                <a:cs typeface="Calibri"/>
              </a:rPr>
              <a:t>we</a:t>
            </a:r>
            <a:r>
              <a:rPr sz="3400" b="1" dirty="0">
                <a:latin typeface="Calibri"/>
                <a:cs typeface="Calibri"/>
              </a:rPr>
              <a:t> </a:t>
            </a:r>
            <a:r>
              <a:rPr sz="3400" b="1" spc="-30" dirty="0">
                <a:latin typeface="Calibri"/>
                <a:cs typeface="Calibri"/>
              </a:rPr>
              <a:t>may</a:t>
            </a:r>
            <a:r>
              <a:rPr sz="3400" b="1" spc="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write	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L =</a:t>
            </a:r>
            <a:r>
              <a:rPr sz="34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(ab*)</a:t>
            </a:r>
            <a:endParaRPr sz="3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3839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8590" y="461594"/>
            <a:ext cx="1228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(ab</a:t>
            </a:r>
            <a:r>
              <a:rPr spc="-20" dirty="0"/>
              <a:t>)</a:t>
            </a:r>
            <a:r>
              <a:rPr dirty="0"/>
              <a:t>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379"/>
            <a:ext cx="7729220" cy="42570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509"/>
              </a:spcBef>
              <a:tabLst>
                <a:tab pos="2298700" algn="l"/>
                <a:tab pos="2931160" algn="l"/>
                <a:tab pos="3627754" algn="l"/>
              </a:tabLst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(ab)*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700" spc="-5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700" b="1" spc="-5" dirty="0">
                <a:latin typeface="Calibri"/>
                <a:cs typeface="Calibri"/>
              </a:rPr>
              <a:t>or	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ab	</a:t>
            </a:r>
            <a:r>
              <a:rPr sz="3700" b="1" spc="-5" dirty="0">
                <a:latin typeface="Calibri"/>
                <a:cs typeface="Calibri"/>
              </a:rPr>
              <a:t>or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abab </a:t>
            </a:r>
            <a:r>
              <a:rPr sz="3700" b="1" spc="-5" dirty="0">
                <a:latin typeface="Calibri"/>
                <a:cs typeface="Calibri"/>
              </a:rPr>
              <a:t>or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ababab</a:t>
            </a:r>
            <a:r>
              <a:rPr sz="3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endParaRPr sz="370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20" dirty="0">
                <a:latin typeface="Calibri"/>
                <a:cs typeface="Calibri"/>
              </a:rPr>
              <a:t>Parentheses are </a:t>
            </a:r>
            <a:r>
              <a:rPr sz="3700" b="1" spc="-5" dirty="0">
                <a:latin typeface="Calibri"/>
                <a:cs typeface="Calibri"/>
              </a:rPr>
              <a:t>not </a:t>
            </a:r>
            <a:r>
              <a:rPr sz="3700" b="1" spc="-30" dirty="0">
                <a:latin typeface="Calibri"/>
                <a:cs typeface="Calibri"/>
              </a:rPr>
              <a:t>letters </a:t>
            </a:r>
            <a:r>
              <a:rPr sz="3700" b="1" spc="-5" dirty="0">
                <a:latin typeface="Calibri"/>
                <a:cs typeface="Calibri"/>
              </a:rPr>
              <a:t>in the  </a:t>
            </a:r>
            <a:r>
              <a:rPr sz="3700" b="1" spc="-10" dirty="0">
                <a:latin typeface="Calibri"/>
                <a:cs typeface="Calibri"/>
              </a:rPr>
              <a:t>alphabet </a:t>
            </a:r>
            <a:r>
              <a:rPr sz="3700" b="1" spc="-5" dirty="0">
                <a:latin typeface="Calibri"/>
                <a:cs typeface="Calibri"/>
              </a:rPr>
              <a:t>of this </a:t>
            </a:r>
            <a:r>
              <a:rPr sz="3700" b="1" spc="-10" dirty="0">
                <a:latin typeface="Calibri"/>
                <a:cs typeface="Calibri"/>
              </a:rPr>
              <a:t>language, </a:t>
            </a:r>
            <a:r>
              <a:rPr sz="3700" b="1" spc="-5" dirty="0">
                <a:latin typeface="Calibri"/>
                <a:cs typeface="Calibri"/>
              </a:rPr>
              <a:t>so </a:t>
            </a:r>
            <a:r>
              <a:rPr sz="3700" b="1" spc="-10" dirty="0">
                <a:latin typeface="Calibri"/>
                <a:cs typeface="Calibri"/>
              </a:rPr>
              <a:t>they can  </a:t>
            </a:r>
            <a:r>
              <a:rPr sz="3700" b="1" spc="-5" dirty="0">
                <a:latin typeface="Calibri"/>
                <a:cs typeface="Calibri"/>
              </a:rPr>
              <a:t>be used </a:t>
            </a:r>
            <a:r>
              <a:rPr sz="3700" b="1" spc="-25" dirty="0">
                <a:latin typeface="Calibri"/>
                <a:cs typeface="Calibri"/>
              </a:rPr>
              <a:t>to </a:t>
            </a:r>
            <a:r>
              <a:rPr sz="3700" b="1" spc="-15" dirty="0">
                <a:latin typeface="Calibri"/>
                <a:cs typeface="Calibri"/>
              </a:rPr>
              <a:t>indicate factoring </a:t>
            </a:r>
            <a:r>
              <a:rPr sz="3700" b="1" spc="-10" dirty="0">
                <a:latin typeface="Calibri"/>
                <a:cs typeface="Calibri"/>
              </a:rPr>
              <a:t>without  accidentally changing </a:t>
            </a:r>
            <a:r>
              <a:rPr sz="3700" b="1" spc="-5" dirty="0">
                <a:latin typeface="Calibri"/>
                <a:cs typeface="Calibri"/>
              </a:rPr>
              <a:t>the</a:t>
            </a:r>
            <a:r>
              <a:rPr sz="3700" b="1" spc="65" dirty="0">
                <a:latin typeface="Calibri"/>
                <a:cs typeface="Calibri"/>
              </a:rPr>
              <a:t> </a:t>
            </a:r>
            <a:r>
              <a:rPr sz="3700" b="1" spc="-20" dirty="0">
                <a:latin typeface="Calibri"/>
                <a:cs typeface="Calibri"/>
              </a:rPr>
              <a:t>words.</a:t>
            </a:r>
            <a:endParaRPr sz="3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70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30" dirty="0">
                <a:latin typeface="Calibri"/>
                <a:cs typeface="Calibri"/>
              </a:rPr>
              <a:t>Like </a:t>
            </a:r>
            <a:r>
              <a:rPr sz="3700" b="1" spc="-5" dirty="0">
                <a:latin typeface="Calibri"/>
                <a:cs typeface="Calibri"/>
              </a:rPr>
              <a:t>the </a:t>
            </a:r>
            <a:r>
              <a:rPr sz="3700" b="1" spc="-20" dirty="0">
                <a:latin typeface="Calibri"/>
                <a:cs typeface="Calibri"/>
              </a:rPr>
              <a:t>powers </a:t>
            </a:r>
            <a:r>
              <a:rPr sz="3700" b="1" spc="-5" dirty="0">
                <a:latin typeface="Calibri"/>
                <a:cs typeface="Calibri"/>
              </a:rPr>
              <a:t>in</a:t>
            </a:r>
            <a:r>
              <a:rPr sz="3700" b="1" spc="65" dirty="0">
                <a:latin typeface="Calibri"/>
                <a:cs typeface="Calibri"/>
              </a:rPr>
              <a:t> </a:t>
            </a:r>
            <a:r>
              <a:rPr sz="3700" b="1" spc="-25" dirty="0">
                <a:latin typeface="Calibri"/>
                <a:cs typeface="Calibri"/>
              </a:rPr>
              <a:t>algebra</a:t>
            </a:r>
            <a:endParaRPr sz="3700">
              <a:latin typeface="Calibri"/>
              <a:cs typeface="Calibri"/>
            </a:endParaRPr>
          </a:p>
          <a:p>
            <a:pPr marL="1414780">
              <a:lnSpc>
                <a:spcPct val="100000"/>
              </a:lnSpc>
              <a:spcBef>
                <a:spcPts val="1380"/>
              </a:spcBef>
            </a:pP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ab* means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a(b*), not</a:t>
            </a:r>
            <a:r>
              <a:rPr sz="3700" b="1" spc="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(ab)*</a:t>
            </a:r>
            <a:endParaRPr sz="3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9234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289" y="461594"/>
            <a:ext cx="2852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(</a:t>
            </a:r>
            <a:r>
              <a:rPr b="0" spc="-5" dirty="0">
                <a:latin typeface="Calibri"/>
                <a:cs typeface="Calibri"/>
              </a:rPr>
              <a:t>xx*</a:t>
            </a:r>
            <a:r>
              <a:rPr spc="-5" dirty="0"/>
              <a:t>) vs.</a:t>
            </a:r>
            <a:r>
              <a:rPr spc="-50" dirty="0"/>
              <a:t> </a:t>
            </a:r>
            <a:r>
              <a:rPr dirty="0"/>
              <a:t>(</a:t>
            </a:r>
            <a:r>
              <a:rPr b="0" dirty="0">
                <a:latin typeface="Calibri"/>
                <a:cs typeface="Calibri"/>
              </a:rPr>
              <a:t>x</a:t>
            </a:r>
            <a:r>
              <a:rPr sz="4350" b="0" baseline="24904" dirty="0">
                <a:latin typeface="Calibri"/>
                <a:cs typeface="Calibri"/>
              </a:rPr>
              <a:t>+</a:t>
            </a:r>
            <a:r>
              <a:rPr sz="4400" dirty="0"/>
              <a:t>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840" y="1548206"/>
            <a:ext cx="7994650" cy="4479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0560">
              <a:lnSpc>
                <a:spcPct val="100000"/>
              </a:lnSpc>
              <a:spcBef>
                <a:spcPts val="95"/>
              </a:spcBef>
            </a:pPr>
            <a:r>
              <a:rPr sz="3700" b="1" i="1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675" b="1" i="1" baseline="-20408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= (xx*)</a:t>
            </a:r>
            <a:endParaRPr sz="37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95"/>
              </a:spcBef>
            </a:pPr>
            <a:r>
              <a:rPr sz="3700" b="1" spc="-10" dirty="0">
                <a:latin typeface="Calibri"/>
                <a:cs typeface="Calibri"/>
              </a:rPr>
              <a:t>means</a:t>
            </a:r>
            <a:r>
              <a:rPr sz="3700" b="1" spc="5" dirty="0">
                <a:latin typeface="Calibri"/>
                <a:cs typeface="Calibri"/>
              </a:rPr>
              <a:t> </a:t>
            </a:r>
            <a:r>
              <a:rPr sz="3700" b="1" spc="-5" dirty="0">
                <a:latin typeface="Calibri"/>
                <a:cs typeface="Calibri"/>
              </a:rPr>
              <a:t>?</a:t>
            </a:r>
            <a:endParaRPr sz="3700">
              <a:latin typeface="Calibri"/>
              <a:cs typeface="Calibri"/>
            </a:endParaRPr>
          </a:p>
          <a:p>
            <a:pPr marL="794385" marR="43180">
              <a:lnSpc>
                <a:spcPct val="88200"/>
              </a:lnSpc>
              <a:spcBef>
                <a:spcPts val="1130"/>
              </a:spcBef>
            </a:pPr>
            <a:r>
              <a:rPr sz="3300" b="1" spc="-60" dirty="0">
                <a:latin typeface="Calibri"/>
                <a:cs typeface="Calibri"/>
              </a:rPr>
              <a:t>We </a:t>
            </a:r>
            <a:r>
              <a:rPr sz="3300" b="1" spc="-15" dirty="0">
                <a:latin typeface="Calibri"/>
                <a:cs typeface="Calibri"/>
              </a:rPr>
              <a:t>start </a:t>
            </a:r>
            <a:r>
              <a:rPr sz="3300" b="1" spc="-5" dirty="0">
                <a:latin typeface="Calibri"/>
                <a:cs typeface="Calibri"/>
              </a:rPr>
              <a:t>each </a:t>
            </a:r>
            <a:r>
              <a:rPr sz="3300" b="1" spc="-15" dirty="0">
                <a:latin typeface="Calibri"/>
                <a:cs typeface="Calibri"/>
              </a:rPr>
              <a:t>word </a:t>
            </a:r>
            <a:r>
              <a:rPr sz="3300" b="1" dirty="0">
                <a:latin typeface="Calibri"/>
                <a:cs typeface="Calibri"/>
              </a:rPr>
              <a:t>of </a:t>
            </a:r>
            <a:r>
              <a:rPr sz="3300" b="1" i="1" spc="-5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300" b="1" i="1" spc="-7" baseline="-20202" dirty="0">
                <a:solidFill>
                  <a:srgbClr val="0000CC"/>
                </a:solidFill>
                <a:latin typeface="Constantia"/>
                <a:cs typeface="Constantia"/>
              </a:rPr>
              <a:t>1 </a:t>
            </a:r>
            <a:r>
              <a:rPr sz="3300" b="1" dirty="0">
                <a:latin typeface="Calibri"/>
                <a:cs typeface="Calibri"/>
              </a:rPr>
              <a:t>by </a:t>
            </a:r>
            <a:r>
              <a:rPr sz="3300" b="1" spc="-5" dirty="0">
                <a:latin typeface="Calibri"/>
                <a:cs typeface="Calibri"/>
              </a:rPr>
              <a:t>writing down  </a:t>
            </a:r>
            <a:r>
              <a:rPr sz="3300" b="1" dirty="0">
                <a:latin typeface="Calibri"/>
                <a:cs typeface="Calibri"/>
              </a:rPr>
              <a:t>an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3300" b="1" dirty="0">
                <a:latin typeface="Calibri"/>
                <a:cs typeface="Calibri"/>
              </a:rPr>
              <a:t>and then </a:t>
            </a:r>
            <a:r>
              <a:rPr sz="3300" b="1" spc="-15" dirty="0">
                <a:latin typeface="Calibri"/>
                <a:cs typeface="Calibri"/>
              </a:rPr>
              <a:t>we </a:t>
            </a:r>
            <a:r>
              <a:rPr sz="3300" b="1" spc="-10" dirty="0">
                <a:latin typeface="Calibri"/>
                <a:cs typeface="Calibri"/>
              </a:rPr>
              <a:t>follow </a:t>
            </a:r>
            <a:r>
              <a:rPr sz="3300" b="1" spc="5" dirty="0">
                <a:latin typeface="Calibri"/>
                <a:cs typeface="Calibri"/>
              </a:rPr>
              <a:t>it </a:t>
            </a:r>
            <a:r>
              <a:rPr sz="3300" b="1" dirty="0">
                <a:latin typeface="Calibri"/>
                <a:cs typeface="Calibri"/>
              </a:rPr>
              <a:t>with some  </a:t>
            </a:r>
            <a:r>
              <a:rPr sz="3300" b="1" spc="-10" dirty="0">
                <a:latin typeface="Calibri"/>
                <a:cs typeface="Calibri"/>
              </a:rPr>
              <a:t>string </a:t>
            </a:r>
            <a:r>
              <a:rPr sz="3300" b="1" dirty="0">
                <a:latin typeface="Calibri"/>
                <a:cs typeface="Calibri"/>
              </a:rPr>
              <a:t>of </a:t>
            </a:r>
            <a:r>
              <a:rPr sz="3300" b="1" spc="-9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95" dirty="0">
                <a:latin typeface="Arial Narrow"/>
                <a:cs typeface="Arial Narrow"/>
              </a:rPr>
              <a:t>’</a:t>
            </a:r>
            <a:r>
              <a:rPr sz="3300" b="1" spc="-95" dirty="0">
                <a:latin typeface="Calibri"/>
                <a:cs typeface="Calibri"/>
              </a:rPr>
              <a:t>s </a:t>
            </a:r>
            <a:r>
              <a:rPr sz="3300" b="1" dirty="0">
                <a:latin typeface="Calibri"/>
                <a:cs typeface="Calibri"/>
              </a:rPr>
              <a:t>(which </a:t>
            </a:r>
            <a:r>
              <a:rPr sz="3300" b="1" spc="-25" dirty="0">
                <a:latin typeface="Calibri"/>
                <a:cs typeface="Calibri"/>
              </a:rPr>
              <a:t>may </a:t>
            </a:r>
            <a:r>
              <a:rPr sz="3300" b="1" dirty="0">
                <a:latin typeface="Calibri"/>
                <a:cs typeface="Calibri"/>
              </a:rPr>
              <a:t>be no </a:t>
            </a:r>
            <a:r>
              <a:rPr sz="3300" b="1" spc="-10" dirty="0">
                <a:latin typeface="Calibri"/>
                <a:cs typeface="Calibri"/>
              </a:rPr>
              <a:t>more </a:t>
            </a:r>
            <a:r>
              <a:rPr sz="3300" b="1" spc="-9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95" dirty="0">
                <a:latin typeface="Arial Narrow"/>
                <a:cs typeface="Arial Narrow"/>
              </a:rPr>
              <a:t>’</a:t>
            </a:r>
            <a:r>
              <a:rPr sz="3300" b="1" spc="-95" dirty="0">
                <a:latin typeface="Calibri"/>
                <a:cs typeface="Calibri"/>
              </a:rPr>
              <a:t>s </a:t>
            </a:r>
            <a:r>
              <a:rPr sz="3300" b="1" spc="-20" dirty="0">
                <a:latin typeface="Calibri"/>
                <a:cs typeface="Calibri"/>
              </a:rPr>
              <a:t>at  </a:t>
            </a:r>
            <a:r>
              <a:rPr sz="3300" b="1" dirty="0">
                <a:latin typeface="Calibri"/>
                <a:cs typeface="Calibri"/>
              </a:rPr>
              <a:t>all.)</a:t>
            </a:r>
            <a:endParaRPr sz="3300">
              <a:latin typeface="Calibri"/>
              <a:cs typeface="Calibri"/>
            </a:endParaRPr>
          </a:p>
          <a:p>
            <a:pPr marL="153035" algn="ctr">
              <a:lnSpc>
                <a:spcPct val="100000"/>
              </a:lnSpc>
              <a:spcBef>
                <a:spcPts val="1570"/>
              </a:spcBef>
            </a:pPr>
            <a:r>
              <a:rPr sz="3700" b="1" spc="-75" dirty="0">
                <a:latin typeface="Calibri"/>
                <a:cs typeface="Calibri"/>
              </a:rPr>
              <a:t>We </a:t>
            </a:r>
            <a:r>
              <a:rPr sz="3700" b="1" spc="-10" dirty="0">
                <a:latin typeface="Calibri"/>
                <a:cs typeface="Calibri"/>
              </a:rPr>
              <a:t>can </a:t>
            </a:r>
            <a:r>
              <a:rPr sz="3700" b="1" spc="-5" dirty="0">
                <a:latin typeface="Calibri"/>
                <a:cs typeface="Calibri"/>
              </a:rPr>
              <a:t>use the </a:t>
            </a:r>
            <a:r>
              <a:rPr sz="3675" b="1" spc="-345" baseline="24943" dirty="0">
                <a:solidFill>
                  <a:srgbClr val="0000CC"/>
                </a:solidFill>
                <a:latin typeface="Arial Narrow"/>
                <a:cs typeface="Arial Narrow"/>
              </a:rPr>
              <a:t>+ </a:t>
            </a:r>
            <a:r>
              <a:rPr sz="3700" b="1" spc="-15" dirty="0">
                <a:latin typeface="Calibri"/>
                <a:cs typeface="Calibri"/>
              </a:rPr>
              <a:t>notation </a:t>
            </a:r>
            <a:r>
              <a:rPr sz="3700" b="1" spc="-5" dirty="0">
                <a:latin typeface="Calibri"/>
                <a:cs typeface="Calibri"/>
              </a:rPr>
              <a:t>and</a:t>
            </a:r>
            <a:r>
              <a:rPr sz="3700" b="1" spc="-35" dirty="0">
                <a:latin typeface="Calibri"/>
                <a:cs typeface="Calibri"/>
              </a:rPr>
              <a:t> </a:t>
            </a:r>
            <a:r>
              <a:rPr sz="3700" b="1" spc="-15" dirty="0">
                <a:latin typeface="Calibri"/>
                <a:cs typeface="Calibri"/>
              </a:rPr>
              <a:t>write</a:t>
            </a:r>
            <a:endParaRPr sz="3700">
              <a:latin typeface="Calibri"/>
              <a:cs typeface="Calibri"/>
            </a:endParaRPr>
          </a:p>
          <a:p>
            <a:pPr marL="153670" algn="ctr">
              <a:lnSpc>
                <a:spcPct val="100000"/>
              </a:lnSpc>
              <a:spcBef>
                <a:spcPts val="445"/>
              </a:spcBef>
            </a:pPr>
            <a:r>
              <a:rPr sz="3700" b="1" i="1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675" b="1" i="1" baseline="-20408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(x</a:t>
            </a:r>
            <a:r>
              <a:rPr sz="3675" b="1" baseline="24943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)</a:t>
            </a:r>
            <a:endParaRPr sz="3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1301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132" y="461594"/>
            <a:ext cx="5110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578485" algn="l"/>
                <a:tab pos="2347595" algn="l"/>
              </a:tabLst>
            </a:pPr>
            <a:r>
              <a:rPr i="1" spc="5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4350" i="1" spc="7" baseline="-21072" dirty="0">
                <a:solidFill>
                  <a:srgbClr val="0000CC"/>
                </a:solidFill>
                <a:latin typeface="Calibri"/>
                <a:cs typeface="Calibri"/>
              </a:rPr>
              <a:t>1	</a:t>
            </a:r>
            <a:r>
              <a:rPr sz="4400" dirty="0"/>
              <a:t>=</a:t>
            </a:r>
            <a:r>
              <a:rPr sz="4400" spc="5" dirty="0"/>
              <a:t> </a:t>
            </a:r>
            <a:r>
              <a:rPr sz="4400" spc="-5" dirty="0"/>
              <a:t>(</a:t>
            </a:r>
            <a:r>
              <a:rPr sz="4400" b="0" spc="-5" dirty="0">
                <a:latin typeface="Calibri"/>
                <a:cs typeface="Calibri"/>
              </a:rPr>
              <a:t>xx*</a:t>
            </a:r>
            <a:r>
              <a:rPr sz="4400" spc="-5" dirty="0"/>
              <a:t>)	</a:t>
            </a:r>
            <a:r>
              <a:rPr sz="4400" dirty="0"/>
              <a:t>and </a:t>
            </a:r>
            <a:r>
              <a:rPr sz="4400" i="1" spc="5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4350" i="1" spc="7" baseline="-21072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4400" dirty="0"/>
              <a:t>=</a:t>
            </a:r>
            <a:r>
              <a:rPr sz="4400" spc="-395" dirty="0"/>
              <a:t> </a:t>
            </a:r>
            <a:r>
              <a:rPr sz="4400" dirty="0"/>
              <a:t>(</a:t>
            </a:r>
            <a:r>
              <a:rPr sz="4400" b="0" dirty="0">
                <a:latin typeface="Calibri"/>
                <a:cs typeface="Calibri"/>
              </a:rPr>
              <a:t>x</a:t>
            </a:r>
            <a:r>
              <a:rPr sz="4350" b="0" baseline="24904" dirty="0">
                <a:latin typeface="Calibri"/>
                <a:cs typeface="Calibri"/>
              </a:rPr>
              <a:t>+</a:t>
            </a:r>
            <a:r>
              <a:rPr sz="4400" dirty="0"/>
              <a:t>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548206"/>
            <a:ext cx="8063230" cy="10966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68300" marR="17780" indent="-342900">
              <a:lnSpc>
                <a:spcPts val="4000"/>
              </a:lnSpc>
              <a:spcBef>
                <a:spcPts val="595"/>
              </a:spcBef>
              <a:buFont typeface="Arial"/>
              <a:buChar char="•"/>
              <a:tabLst>
                <a:tab pos="368300" algn="l"/>
              </a:tabLst>
            </a:pPr>
            <a:r>
              <a:rPr sz="3700" b="1" spc="-5" dirty="0">
                <a:latin typeface="Calibri"/>
                <a:cs typeface="Calibri"/>
              </a:rPr>
              <a:t>The </a:t>
            </a:r>
            <a:r>
              <a:rPr sz="3700" b="1" spc="-10" dirty="0">
                <a:latin typeface="Calibri"/>
                <a:cs typeface="Calibri"/>
              </a:rPr>
              <a:t>language </a:t>
            </a:r>
            <a:r>
              <a:rPr sz="3700" b="1" i="1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3675" b="1" i="1" baseline="-20408" dirty="0">
                <a:solidFill>
                  <a:srgbClr val="0000CC"/>
                </a:solidFill>
                <a:latin typeface="Calibri"/>
                <a:cs typeface="Calibri"/>
              </a:rPr>
              <a:t>1 </a:t>
            </a:r>
            <a:r>
              <a:rPr sz="3700" b="1" spc="-10" dirty="0">
                <a:latin typeface="Calibri"/>
                <a:cs typeface="Calibri"/>
              </a:rPr>
              <a:t>defined </a:t>
            </a:r>
            <a:r>
              <a:rPr sz="3700" b="1" spc="-15" dirty="0">
                <a:latin typeface="Calibri"/>
                <a:cs typeface="Calibri"/>
              </a:rPr>
              <a:t>above </a:t>
            </a:r>
            <a:r>
              <a:rPr sz="3700" b="1" spc="-10" dirty="0">
                <a:latin typeface="Calibri"/>
                <a:cs typeface="Calibri"/>
              </a:rPr>
              <a:t>can </a:t>
            </a:r>
            <a:r>
              <a:rPr sz="3700" b="1" spc="-5" dirty="0">
                <a:latin typeface="Calibri"/>
                <a:cs typeface="Calibri"/>
              </a:rPr>
              <a:t>also  be </a:t>
            </a:r>
            <a:r>
              <a:rPr sz="3700" b="1" spc="-10" dirty="0">
                <a:latin typeface="Calibri"/>
                <a:cs typeface="Calibri"/>
              </a:rPr>
              <a:t>defined </a:t>
            </a:r>
            <a:r>
              <a:rPr sz="3700" b="1" spc="-20" dirty="0">
                <a:latin typeface="Calibri"/>
                <a:cs typeface="Calibri"/>
              </a:rPr>
              <a:t>by </a:t>
            </a:r>
            <a:r>
              <a:rPr sz="3700" b="1" spc="-30" dirty="0">
                <a:latin typeface="Calibri"/>
                <a:cs typeface="Calibri"/>
              </a:rPr>
              <a:t>any </a:t>
            </a:r>
            <a:r>
              <a:rPr sz="3700" b="1" spc="-5" dirty="0">
                <a:latin typeface="Calibri"/>
                <a:cs typeface="Calibri"/>
              </a:rPr>
              <a:t>of these</a:t>
            </a:r>
            <a:r>
              <a:rPr sz="3700" b="1" spc="80" dirty="0">
                <a:latin typeface="Calibri"/>
                <a:cs typeface="Calibri"/>
              </a:rPr>
              <a:t> </a:t>
            </a:r>
            <a:r>
              <a:rPr sz="3700" b="1" spc="-15" dirty="0">
                <a:latin typeface="Calibri"/>
                <a:cs typeface="Calibri"/>
              </a:rPr>
              <a:t>expressions: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1410" y="2534538"/>
            <a:ext cx="44958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550" b="1" spc="7" baseline="-16516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0529" y="2676270"/>
            <a:ext cx="53708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13000" algn="l"/>
                <a:tab pos="4241800" algn="l"/>
              </a:tabLst>
            </a:pP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xx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*x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x*x</a:t>
            </a: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40" y="3860024"/>
            <a:ext cx="6527800" cy="188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43180" indent="1642745">
              <a:lnSpc>
                <a:spcPct val="110100"/>
              </a:lnSpc>
              <a:spcBef>
                <a:spcPts val="95"/>
              </a:spcBef>
              <a:tabLst>
                <a:tab pos="3165475" algn="l"/>
                <a:tab pos="4462780" algn="l"/>
              </a:tabLst>
            </a:pP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675" b="1" spc="15" baseline="24943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r>
              <a:rPr sz="3675" b="1" baseline="2494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x*</a:t>
            </a: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675" b="1" spc="15" baseline="24943" dirty="0">
                <a:solidFill>
                  <a:srgbClr val="0000CC"/>
                </a:solidFill>
                <a:latin typeface="Calibri"/>
                <a:cs typeface="Calibri"/>
              </a:rPr>
              <a:t>+</a:t>
            </a:r>
            <a:r>
              <a:rPr sz="3675" b="1" baseline="24943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x*x*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*xx*  </a:t>
            </a:r>
            <a:r>
              <a:rPr sz="3700" b="1" spc="-10" dirty="0">
                <a:latin typeface="Calibri"/>
                <a:cs typeface="Calibri"/>
              </a:rPr>
              <a:t>Remember</a:t>
            </a:r>
            <a:endParaRPr sz="3700">
              <a:latin typeface="Calibri"/>
              <a:cs typeface="Calibri"/>
            </a:endParaRPr>
          </a:p>
          <a:p>
            <a:pPr marL="990600">
              <a:lnSpc>
                <a:spcPct val="100000"/>
              </a:lnSpc>
              <a:spcBef>
                <a:spcPts val="470"/>
              </a:spcBef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x* </a:t>
            </a:r>
            <a:r>
              <a:rPr sz="3700" b="1" spc="-15" dirty="0">
                <a:latin typeface="Calibri"/>
                <a:cs typeface="Calibri"/>
              </a:rPr>
              <a:t>can </a:t>
            </a:r>
            <a:r>
              <a:rPr sz="3700" b="1" spc="-25" dirty="0">
                <a:latin typeface="Calibri"/>
                <a:cs typeface="Calibri"/>
              </a:rPr>
              <a:t>always </a:t>
            </a:r>
            <a:r>
              <a:rPr sz="3700" b="1" spc="-5" dirty="0">
                <a:latin typeface="Calibri"/>
                <a:cs typeface="Calibri"/>
              </a:rPr>
              <a:t>be</a:t>
            </a:r>
            <a:r>
              <a:rPr sz="3700" b="1" spc="40" dirty="0"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λ</a:t>
            </a:r>
            <a:endParaRPr sz="3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21630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452" y="1339263"/>
            <a:ext cx="7627620" cy="4500718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R="818515" algn="ctr">
              <a:lnSpc>
                <a:spcPct val="100000"/>
              </a:lnSpc>
              <a:spcBef>
                <a:spcPts val="1714"/>
              </a:spcBef>
            </a:pPr>
            <a:r>
              <a:rPr sz="4400" b="1" dirty="0">
                <a:solidFill>
                  <a:srgbClr val="0000CC"/>
                </a:solidFill>
                <a:latin typeface="Calibri"/>
                <a:cs typeface="Calibri"/>
              </a:rPr>
              <a:t>ab*a</a:t>
            </a:r>
            <a:endParaRPr sz="4400" dirty="0">
              <a:latin typeface="Calibri"/>
              <a:cs typeface="Calibri"/>
            </a:endParaRPr>
          </a:p>
          <a:p>
            <a:pPr marL="68580" algn="just">
              <a:lnSpc>
                <a:spcPct val="100000"/>
              </a:lnSpc>
              <a:spcBef>
                <a:spcPts val="1315"/>
              </a:spcBef>
            </a:pPr>
            <a:r>
              <a:rPr sz="3600" b="1" dirty="0">
                <a:latin typeface="Calibri"/>
                <a:cs typeface="Calibri"/>
              </a:rPr>
              <a:t>is the </a:t>
            </a:r>
            <a:r>
              <a:rPr sz="3600" b="1" spc="-5" dirty="0">
                <a:latin typeface="Calibri"/>
                <a:cs typeface="Calibri"/>
              </a:rPr>
              <a:t>set </a:t>
            </a:r>
            <a:r>
              <a:rPr sz="3600" b="1" dirty="0">
                <a:latin typeface="Calibri"/>
                <a:cs typeface="Calibri"/>
              </a:rPr>
              <a:t>of all </a:t>
            </a:r>
            <a:r>
              <a:rPr sz="3600" b="1" spc="-5" dirty="0">
                <a:latin typeface="Calibri"/>
                <a:cs typeface="Calibri"/>
              </a:rPr>
              <a:t>string </a:t>
            </a:r>
            <a:r>
              <a:rPr sz="3600" b="1" dirty="0">
                <a:latin typeface="Calibri"/>
                <a:cs typeface="Calibri"/>
              </a:rPr>
              <a:t>of </a:t>
            </a:r>
            <a:r>
              <a:rPr sz="3600" b="1" spc="-10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600" b="1" spc="-105" dirty="0">
                <a:latin typeface="Arial Narrow"/>
                <a:cs typeface="Arial Narrow"/>
              </a:rPr>
              <a:t>’</a:t>
            </a:r>
            <a:r>
              <a:rPr sz="3600" b="1" spc="-105" dirty="0">
                <a:latin typeface="Calibri"/>
                <a:cs typeface="Calibri"/>
              </a:rPr>
              <a:t>s </a:t>
            </a:r>
            <a:r>
              <a:rPr sz="3600" b="1" dirty="0">
                <a:latin typeface="Calibri"/>
                <a:cs typeface="Calibri"/>
              </a:rPr>
              <a:t>and </a:t>
            </a:r>
            <a:r>
              <a:rPr sz="3600" b="1" spc="-10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600" b="1" spc="-100" dirty="0">
                <a:latin typeface="Arial Narrow"/>
                <a:cs typeface="Arial Narrow"/>
              </a:rPr>
              <a:t>’</a:t>
            </a:r>
            <a:r>
              <a:rPr sz="3600" b="1" spc="-100" dirty="0">
                <a:latin typeface="Calibri"/>
                <a:cs typeface="Calibri"/>
              </a:rPr>
              <a:t>s</a:t>
            </a:r>
            <a:r>
              <a:rPr sz="3600" b="1" spc="1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that</a:t>
            </a:r>
            <a:endParaRPr sz="3600" dirty="0">
              <a:latin typeface="Calibri"/>
              <a:cs typeface="Calibri"/>
            </a:endParaRPr>
          </a:p>
          <a:p>
            <a:pPr marL="68580" marR="5080" algn="just">
              <a:lnSpc>
                <a:spcPct val="96000"/>
              </a:lnSpc>
              <a:spcBef>
                <a:spcPts val="775"/>
              </a:spcBef>
            </a:pPr>
            <a:r>
              <a:rPr sz="3600" b="1" spc="-25" dirty="0">
                <a:latin typeface="Calibri"/>
                <a:cs typeface="Calibri"/>
              </a:rPr>
              <a:t>have </a:t>
            </a:r>
            <a:r>
              <a:rPr sz="3600" b="1" spc="-20" dirty="0">
                <a:latin typeface="Calibri"/>
                <a:cs typeface="Calibri"/>
              </a:rPr>
              <a:t>at </a:t>
            </a:r>
            <a:r>
              <a:rPr sz="3600" b="1" spc="-10" dirty="0">
                <a:latin typeface="Calibri"/>
                <a:cs typeface="Calibri"/>
              </a:rPr>
              <a:t>least two </a:t>
            </a:r>
            <a:r>
              <a:rPr sz="3600" b="1" spc="-20" dirty="0">
                <a:latin typeface="Calibri"/>
                <a:cs typeface="Calibri"/>
              </a:rPr>
              <a:t>letters, </a:t>
            </a:r>
            <a:r>
              <a:rPr sz="3600" b="1" spc="-15" dirty="0">
                <a:latin typeface="Calibri"/>
                <a:cs typeface="Calibri"/>
              </a:rPr>
              <a:t>that </a:t>
            </a:r>
            <a:r>
              <a:rPr sz="3600" b="1" dirty="0">
                <a:latin typeface="Calibri"/>
                <a:cs typeface="Calibri"/>
              </a:rPr>
              <a:t>begin and  </a:t>
            </a:r>
            <a:r>
              <a:rPr sz="3600" b="1" spc="-5" dirty="0">
                <a:latin typeface="Calibri"/>
                <a:cs typeface="Calibri"/>
              </a:rPr>
              <a:t>end with </a:t>
            </a:r>
            <a:r>
              <a:rPr sz="3600" b="1" spc="-7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600" b="1" spc="-75" dirty="0">
                <a:latin typeface="Arial Narrow"/>
                <a:cs typeface="Arial Narrow"/>
              </a:rPr>
              <a:t>’</a:t>
            </a:r>
            <a:r>
              <a:rPr sz="3600" b="1" spc="-75" dirty="0">
                <a:latin typeface="Calibri"/>
                <a:cs typeface="Calibri"/>
              </a:rPr>
              <a:t>s, </a:t>
            </a:r>
            <a:r>
              <a:rPr sz="3600" b="1" spc="-5" dirty="0">
                <a:latin typeface="Calibri"/>
                <a:cs typeface="Calibri"/>
              </a:rPr>
              <a:t>and </a:t>
            </a:r>
            <a:r>
              <a:rPr sz="3600" b="1" spc="-10" dirty="0">
                <a:latin typeface="Calibri"/>
                <a:cs typeface="Calibri"/>
              </a:rPr>
              <a:t>that </a:t>
            </a:r>
            <a:r>
              <a:rPr sz="3600" b="1" spc="-25" dirty="0">
                <a:latin typeface="Calibri"/>
                <a:cs typeface="Calibri"/>
              </a:rPr>
              <a:t>have </a:t>
            </a:r>
            <a:r>
              <a:rPr sz="3600" b="1" dirty="0">
                <a:latin typeface="Calibri"/>
                <a:cs typeface="Calibri"/>
              </a:rPr>
              <a:t>nothing but  </a:t>
            </a:r>
            <a:r>
              <a:rPr sz="3600" b="1" spc="-10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600" b="1" spc="-100" dirty="0">
                <a:latin typeface="Arial Narrow"/>
                <a:cs typeface="Arial Narrow"/>
              </a:rPr>
              <a:t>’</a:t>
            </a:r>
            <a:r>
              <a:rPr sz="3600" b="1" spc="-100" dirty="0">
                <a:latin typeface="Calibri"/>
                <a:cs typeface="Calibri"/>
              </a:rPr>
              <a:t>s </a:t>
            </a:r>
            <a:r>
              <a:rPr sz="3600" b="1" dirty="0">
                <a:latin typeface="Calibri"/>
                <a:cs typeface="Calibri"/>
              </a:rPr>
              <a:t>inside (if </a:t>
            </a:r>
            <a:r>
              <a:rPr sz="3600" b="1" spc="-10" dirty="0">
                <a:latin typeface="Calibri"/>
                <a:cs typeface="Calibri"/>
              </a:rPr>
              <a:t>anything </a:t>
            </a:r>
            <a:r>
              <a:rPr sz="3600" b="1" spc="-20" dirty="0">
                <a:latin typeface="Calibri"/>
                <a:cs typeface="Calibri"/>
              </a:rPr>
              <a:t>at</a:t>
            </a:r>
            <a:r>
              <a:rPr sz="3600" b="1" spc="12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all).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5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(ab*a)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lang="en-US" sz="3200" b="1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aba</a:t>
            </a:r>
            <a:r>
              <a:rPr lang="en-US" sz="3200" b="1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 err="1">
                <a:solidFill>
                  <a:srgbClr val="0000CC"/>
                </a:solidFill>
                <a:latin typeface="Calibri"/>
                <a:cs typeface="Calibri"/>
              </a:rPr>
              <a:t>abba</a:t>
            </a:r>
            <a:r>
              <a:rPr lang="en-US" sz="3200" b="1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Calibri"/>
                <a:cs typeface="Calibri"/>
              </a:rPr>
              <a:t>abbba</a:t>
            </a:r>
            <a:r>
              <a:rPr lang="en-US" sz="32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 abbbba</a:t>
            </a:r>
            <a:r>
              <a:rPr sz="3200" b="1" spc="-1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200" dirty="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442423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356319"/>
            <a:ext cx="7721600" cy="462562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219450">
              <a:lnSpc>
                <a:spcPct val="100000"/>
              </a:lnSpc>
              <a:spcBef>
                <a:spcPts val="1030"/>
              </a:spcBef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a*b*</a:t>
            </a:r>
            <a:endParaRPr sz="3700" dirty="0">
              <a:latin typeface="Calibri"/>
              <a:cs typeface="Calibri"/>
            </a:endParaRPr>
          </a:p>
          <a:p>
            <a:pPr marL="13970" marR="12065">
              <a:lnSpc>
                <a:spcPts val="3550"/>
              </a:lnSpc>
              <a:spcBef>
                <a:spcPts val="1785"/>
              </a:spcBef>
            </a:pPr>
            <a:r>
              <a:rPr sz="3700" b="1" spc="-15" dirty="0">
                <a:latin typeface="Calibri"/>
                <a:cs typeface="Calibri"/>
              </a:rPr>
              <a:t>contains </a:t>
            </a:r>
            <a:r>
              <a:rPr sz="3700" b="1" spc="-5" dirty="0">
                <a:latin typeface="Calibri"/>
                <a:cs typeface="Calibri"/>
              </a:rPr>
              <a:t>all the </a:t>
            </a:r>
            <a:r>
              <a:rPr sz="3700" b="1" spc="-10" dirty="0">
                <a:latin typeface="Calibri"/>
                <a:cs typeface="Calibri"/>
              </a:rPr>
              <a:t>strings </a:t>
            </a:r>
            <a:r>
              <a:rPr sz="3700" b="1" spc="-5" dirty="0">
                <a:latin typeface="Calibri"/>
                <a:cs typeface="Calibri"/>
              </a:rPr>
              <a:t>of </a:t>
            </a:r>
            <a:r>
              <a:rPr sz="3700" b="1" spc="-10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105" dirty="0">
                <a:latin typeface="Arial Narrow"/>
                <a:cs typeface="Arial Narrow"/>
              </a:rPr>
              <a:t>’</a:t>
            </a:r>
            <a:r>
              <a:rPr sz="3700" b="1" spc="-105" dirty="0"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and </a:t>
            </a:r>
            <a:r>
              <a:rPr sz="3700" b="1" spc="-10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700" b="1" spc="-105" dirty="0">
                <a:latin typeface="Arial Narrow"/>
                <a:cs typeface="Arial Narrow"/>
              </a:rPr>
              <a:t>’</a:t>
            </a:r>
            <a:r>
              <a:rPr sz="3700" b="1" spc="-105" dirty="0"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in  </a:t>
            </a:r>
            <a:r>
              <a:rPr sz="3700" b="1" spc="-10" dirty="0">
                <a:latin typeface="Calibri"/>
                <a:cs typeface="Calibri"/>
              </a:rPr>
              <a:t>which </a:t>
            </a:r>
            <a:r>
              <a:rPr sz="3700" b="1" spc="-5" dirty="0">
                <a:latin typeface="Calibri"/>
                <a:cs typeface="Calibri"/>
              </a:rPr>
              <a:t>all the </a:t>
            </a:r>
            <a:r>
              <a:rPr sz="3700" b="1" spc="-10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105" dirty="0">
                <a:latin typeface="Arial Narrow"/>
                <a:cs typeface="Arial Narrow"/>
              </a:rPr>
              <a:t>’</a:t>
            </a:r>
            <a:r>
              <a:rPr sz="3700" b="1" spc="-105" dirty="0"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(if </a:t>
            </a:r>
            <a:r>
              <a:rPr sz="3700" b="1" spc="-25" dirty="0">
                <a:latin typeface="Calibri"/>
                <a:cs typeface="Calibri"/>
              </a:rPr>
              <a:t>any) </a:t>
            </a:r>
            <a:r>
              <a:rPr sz="3700" b="1" spc="-10" dirty="0">
                <a:latin typeface="Calibri"/>
                <a:cs typeface="Calibri"/>
              </a:rPr>
              <a:t>come </a:t>
            </a:r>
            <a:r>
              <a:rPr sz="3700" b="1" spc="-25" dirty="0">
                <a:latin typeface="Calibri"/>
                <a:cs typeface="Calibri"/>
              </a:rPr>
              <a:t>before </a:t>
            </a:r>
            <a:r>
              <a:rPr sz="3700" b="1" spc="-5" dirty="0">
                <a:latin typeface="Calibri"/>
                <a:cs typeface="Calibri"/>
              </a:rPr>
              <a:t>all  </a:t>
            </a:r>
            <a:r>
              <a:rPr sz="3700" b="1" spc="-10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700" b="1" spc="-105" dirty="0">
                <a:latin typeface="Arial Narrow"/>
                <a:cs typeface="Arial Narrow"/>
              </a:rPr>
              <a:t>’</a:t>
            </a:r>
            <a:r>
              <a:rPr sz="3700" b="1" spc="-105" dirty="0">
                <a:latin typeface="Calibri"/>
                <a:cs typeface="Calibri"/>
              </a:rPr>
              <a:t>s </a:t>
            </a:r>
            <a:r>
              <a:rPr sz="3700" b="1" spc="-5" dirty="0">
                <a:latin typeface="Calibri"/>
                <a:cs typeface="Calibri"/>
              </a:rPr>
              <a:t>(if</a:t>
            </a:r>
            <a:r>
              <a:rPr sz="3700" b="1" spc="105" dirty="0">
                <a:latin typeface="Calibri"/>
                <a:cs typeface="Calibri"/>
              </a:rPr>
              <a:t> </a:t>
            </a:r>
            <a:r>
              <a:rPr sz="3700" b="1" spc="-25" dirty="0">
                <a:latin typeface="Calibri"/>
                <a:cs typeface="Calibri"/>
              </a:rPr>
              <a:t>any)</a:t>
            </a:r>
            <a:endParaRPr sz="3700" dirty="0">
              <a:latin typeface="Calibri"/>
              <a:cs typeface="Calibri"/>
            </a:endParaRPr>
          </a:p>
          <a:p>
            <a:pPr marL="13970" marR="5080" indent="-1905">
              <a:lnSpc>
                <a:spcPts val="3550"/>
              </a:lnSpc>
              <a:spcBef>
                <a:spcPts val="1125"/>
              </a:spcBef>
              <a:tabLst>
                <a:tab pos="2453005" algn="l"/>
                <a:tab pos="2896870" algn="l"/>
                <a:tab pos="3362960" algn="l"/>
                <a:tab pos="4039870" algn="l"/>
                <a:tab pos="6972300" algn="l"/>
              </a:tabLst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(a*</a:t>
            </a:r>
            <a:r>
              <a:rPr sz="3700" b="1" spc="-1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*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) = </a:t>
            </a:r>
            <a:r>
              <a:rPr sz="3700" b="1" spc="5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lang="en-US" sz="3700" dirty="0">
                <a:solidFill>
                  <a:srgbClr val="0000CC"/>
                </a:solidFill>
                <a:latin typeface="Times New Roman"/>
                <a:cs typeface="Times New Roman"/>
              </a:rPr>
              <a:t>,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10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sz="3700" b="1" spc="-5" dirty="0" err="1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lang="en-US" sz="3700" b="1" spc="5" dirty="0">
                <a:solidFill>
                  <a:srgbClr val="0000CC"/>
                </a:solidFill>
                <a:latin typeface="Calibri"/>
                <a:cs typeface="Calibri"/>
              </a:rPr>
              <a:t>  </a:t>
            </a:r>
          </a:p>
          <a:p>
            <a:pPr marL="13970" marR="5080" indent="-1905">
              <a:lnSpc>
                <a:spcPts val="3550"/>
              </a:lnSpc>
              <a:spcBef>
                <a:spcPts val="1125"/>
              </a:spcBef>
              <a:tabLst>
                <a:tab pos="2453005" algn="l"/>
                <a:tab pos="2896870" algn="l"/>
                <a:tab pos="3362960" algn="l"/>
                <a:tab pos="4039870" algn="l"/>
                <a:tab pos="6972300" algn="l"/>
              </a:tabLst>
            </a:pPr>
            <a:r>
              <a:rPr lang="en-US" sz="3700" b="1" spc="5" dirty="0">
                <a:solidFill>
                  <a:srgbClr val="0000CC"/>
                </a:solidFill>
                <a:latin typeface="Calibri"/>
                <a:cs typeface="Calibri"/>
              </a:rPr>
              <a:t>                  </a:t>
            </a:r>
            <a:r>
              <a:rPr sz="3700" b="1" spc="-10" dirty="0" err="1">
                <a:solidFill>
                  <a:srgbClr val="0000CC"/>
                </a:solidFill>
                <a:latin typeface="Calibri"/>
                <a:cs typeface="Calibri"/>
              </a:rPr>
              <a:t>aa</a:t>
            </a:r>
            <a:r>
              <a:rPr sz="3700" b="1" spc="-5" dirty="0" err="1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lang="en-US" sz="3700" b="1" spc="-5" dirty="0" err="1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spc="-5" dirty="0" err="1">
                <a:solidFill>
                  <a:srgbClr val="0000CC"/>
                </a:solidFill>
                <a:latin typeface="Calibri"/>
                <a:cs typeface="Calibri"/>
              </a:rPr>
              <a:t>abb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  </a:t>
            </a:r>
            <a:r>
              <a:rPr sz="3700" b="1" spc="-5" dirty="0" err="1">
                <a:solidFill>
                  <a:srgbClr val="0000CC"/>
                </a:solidFill>
                <a:latin typeface="Calibri"/>
                <a:cs typeface="Calibri"/>
              </a:rPr>
              <a:t>bbb</a:t>
            </a:r>
            <a:r>
              <a:rPr lang="en-US" sz="3700" b="1" spc="-5" dirty="0">
                <a:solidFill>
                  <a:srgbClr val="0000CC"/>
                </a:solidFill>
                <a:latin typeface="Calibri"/>
                <a:cs typeface="Calibri"/>
              </a:rPr>
              <a:t>,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 aaaa</a:t>
            </a:r>
            <a:r>
              <a:rPr sz="370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…</a:t>
            </a: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700" dirty="0">
              <a:latin typeface="Symbol"/>
              <a:cs typeface="Symbol"/>
            </a:endParaRPr>
          </a:p>
          <a:p>
            <a:pPr marL="12700">
              <a:lnSpc>
                <a:spcPts val="4325"/>
              </a:lnSpc>
              <a:spcBef>
                <a:spcPts val="35"/>
              </a:spcBef>
            </a:pPr>
            <a:r>
              <a:rPr sz="3700" b="1" spc="-5" dirty="0">
                <a:solidFill>
                  <a:srgbClr val="C00000"/>
                </a:solidFill>
                <a:latin typeface="Calibri"/>
                <a:cs typeface="Calibri"/>
              </a:rPr>
              <a:t>notice</a:t>
            </a:r>
            <a:r>
              <a:rPr sz="37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700" b="1" spc="-15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endParaRPr sz="3700" dirty="0">
              <a:latin typeface="Calibri"/>
              <a:cs typeface="Calibri"/>
            </a:endParaRPr>
          </a:p>
          <a:p>
            <a:pPr marL="280670">
              <a:lnSpc>
                <a:spcPts val="4325"/>
              </a:lnSpc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ba </a:t>
            </a:r>
            <a:r>
              <a:rPr sz="3700" b="1" spc="-5" dirty="0">
                <a:latin typeface="Calibri"/>
                <a:cs typeface="Calibri"/>
              </a:rPr>
              <a:t>and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aba </a:t>
            </a:r>
            <a:r>
              <a:rPr sz="3700" b="1" spc="-20" dirty="0">
                <a:latin typeface="Calibri"/>
                <a:cs typeface="Calibri"/>
              </a:rPr>
              <a:t>are </a:t>
            </a:r>
            <a:r>
              <a:rPr sz="3700" b="1" spc="-5" dirty="0">
                <a:latin typeface="Calibri"/>
                <a:cs typeface="Calibri"/>
              </a:rPr>
              <a:t>not in this</a:t>
            </a:r>
            <a:r>
              <a:rPr sz="3700" b="1" spc="70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language</a:t>
            </a:r>
            <a:endParaRPr sz="3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51155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56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6654" y="461594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0810" algn="l"/>
              </a:tabLst>
            </a:pPr>
            <a:r>
              <a:rPr dirty="0"/>
              <a:t>a*b*	</a:t>
            </a:r>
            <a:r>
              <a:rPr spc="-5" dirty="0"/>
              <a:t>vs.</a:t>
            </a:r>
            <a:r>
              <a:rPr spc="-65" dirty="0"/>
              <a:t> </a:t>
            </a:r>
            <a:r>
              <a:rPr spc="-5" dirty="0"/>
              <a:t>(ab)*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794" y="1423440"/>
            <a:ext cx="5000625" cy="34201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329565" algn="ctr">
              <a:lnSpc>
                <a:spcPct val="100000"/>
              </a:lnSpc>
              <a:spcBef>
                <a:spcPts val="2355"/>
              </a:spcBef>
            </a:pPr>
            <a:r>
              <a:rPr sz="5400" b="1" dirty="0">
                <a:solidFill>
                  <a:srgbClr val="0000CC"/>
                </a:solidFill>
                <a:latin typeface="Calibri"/>
                <a:cs typeface="Calibri"/>
              </a:rPr>
              <a:t>a*b* ≠</a:t>
            </a:r>
            <a:r>
              <a:rPr sz="54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5400" b="1" spc="-5" dirty="0">
                <a:solidFill>
                  <a:srgbClr val="0000CC"/>
                </a:solidFill>
                <a:latin typeface="Calibri"/>
                <a:cs typeface="Calibri"/>
              </a:rPr>
              <a:t>(ab)*</a:t>
            </a:r>
            <a:endParaRPr sz="5400">
              <a:latin typeface="Calibri"/>
              <a:cs typeface="Calibri"/>
            </a:endParaRPr>
          </a:p>
          <a:p>
            <a:pPr marR="177165" algn="ctr">
              <a:lnSpc>
                <a:spcPct val="100000"/>
              </a:lnSpc>
              <a:spcBef>
                <a:spcPts val="1664"/>
              </a:spcBef>
            </a:pP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(ab)* </a:t>
            </a:r>
            <a:r>
              <a:rPr sz="4000" b="1" spc="-15" dirty="0">
                <a:latin typeface="Calibri"/>
                <a:cs typeface="Calibri"/>
              </a:rPr>
              <a:t>can </a:t>
            </a:r>
            <a:r>
              <a:rPr sz="4000" b="1" spc="-20" dirty="0">
                <a:latin typeface="Calibri"/>
                <a:cs typeface="Calibri"/>
              </a:rPr>
              <a:t>contain</a:t>
            </a:r>
            <a:r>
              <a:rPr sz="4000" b="1" spc="5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abab</a:t>
            </a:r>
            <a:endParaRPr sz="4000">
              <a:latin typeface="Calibri"/>
              <a:cs typeface="Calibri"/>
            </a:endParaRPr>
          </a:p>
          <a:p>
            <a:pPr marL="319405" algn="ctr">
              <a:lnSpc>
                <a:spcPct val="100000"/>
              </a:lnSpc>
              <a:spcBef>
                <a:spcPts val="960"/>
              </a:spcBef>
            </a:pPr>
            <a:r>
              <a:rPr sz="4000" b="1" spc="-5" dirty="0">
                <a:solidFill>
                  <a:srgbClr val="CC0000"/>
                </a:solidFill>
                <a:latin typeface="Calibri"/>
                <a:cs typeface="Calibri"/>
              </a:rPr>
              <a:t>but</a:t>
            </a:r>
            <a:endParaRPr sz="4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a*b* </a:t>
            </a:r>
            <a:r>
              <a:rPr sz="4000" b="1" spc="-80" dirty="0">
                <a:latin typeface="Calibri"/>
                <a:cs typeface="Calibri"/>
              </a:rPr>
              <a:t>can</a:t>
            </a:r>
            <a:r>
              <a:rPr sz="4000" b="1" spc="-80" dirty="0">
                <a:latin typeface="Arial Narrow"/>
                <a:cs typeface="Arial Narrow"/>
              </a:rPr>
              <a:t>’</a:t>
            </a:r>
            <a:r>
              <a:rPr sz="4000" b="1" spc="-80" dirty="0">
                <a:latin typeface="Calibri"/>
                <a:cs typeface="Calibri"/>
              </a:rPr>
              <a:t>t </a:t>
            </a:r>
            <a:r>
              <a:rPr sz="4000" b="1" spc="-20" dirty="0">
                <a:latin typeface="Calibri"/>
                <a:cs typeface="Calibri"/>
              </a:rPr>
              <a:t>contain</a:t>
            </a:r>
            <a:r>
              <a:rPr sz="4000" b="1" spc="85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abab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25619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57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1536" y="461594"/>
            <a:ext cx="44862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110" dirty="0"/>
              <a:t> </a:t>
            </a:r>
            <a:r>
              <a:rPr spc="-1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612138"/>
            <a:ext cx="7846059" cy="440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19367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600" b="1" spc="-5" dirty="0">
                <a:latin typeface="Calibri"/>
                <a:cs typeface="Calibri"/>
              </a:rPr>
              <a:t>Let </a:t>
            </a:r>
            <a:r>
              <a:rPr sz="26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2600" b="1" spc="-5" dirty="0">
                <a:latin typeface="Calibri"/>
                <a:cs typeface="Calibri"/>
              </a:rPr>
              <a:t>and </a:t>
            </a:r>
            <a:r>
              <a:rPr sz="2600" b="1" dirty="0">
                <a:solidFill>
                  <a:srgbClr val="0000CC"/>
                </a:solidFill>
                <a:latin typeface="Calibri"/>
                <a:cs typeface="Calibri"/>
              </a:rPr>
              <a:t>B </a:t>
            </a:r>
            <a:r>
              <a:rPr sz="2600" b="1" dirty="0">
                <a:latin typeface="Calibri"/>
                <a:cs typeface="Calibri"/>
              </a:rPr>
              <a:t>be </a:t>
            </a:r>
            <a:r>
              <a:rPr sz="2600" b="1" spc="-10" dirty="0">
                <a:latin typeface="Calibri"/>
                <a:cs typeface="Calibri"/>
              </a:rPr>
              <a:t>languages. </a:t>
            </a:r>
            <a:r>
              <a:rPr sz="2600" b="1" spc="-45" dirty="0">
                <a:latin typeface="Calibri"/>
                <a:cs typeface="Calibri"/>
              </a:rPr>
              <a:t>We </a:t>
            </a:r>
            <a:r>
              <a:rPr sz="2600" b="1" spc="-10" dirty="0">
                <a:latin typeface="Calibri"/>
                <a:cs typeface="Calibri"/>
              </a:rPr>
              <a:t>define </a:t>
            </a:r>
            <a:r>
              <a:rPr sz="2600" b="1" spc="-5" dirty="0">
                <a:latin typeface="Calibri"/>
                <a:cs typeface="Calibri"/>
              </a:rPr>
              <a:t>the </a:t>
            </a:r>
            <a:r>
              <a:rPr sz="2600" b="1" spc="-10" dirty="0">
                <a:latin typeface="Calibri"/>
                <a:cs typeface="Calibri"/>
              </a:rPr>
              <a:t>regular  operations </a:t>
            </a:r>
            <a:r>
              <a:rPr sz="2600" b="1" spc="-5" dirty="0">
                <a:latin typeface="Calibri"/>
                <a:cs typeface="Calibri"/>
              </a:rPr>
              <a:t>union, </a:t>
            </a:r>
            <a:r>
              <a:rPr sz="2600" b="1" spc="-10" dirty="0">
                <a:latin typeface="Calibri"/>
                <a:cs typeface="Calibri"/>
              </a:rPr>
              <a:t>concatenation, </a:t>
            </a:r>
            <a:r>
              <a:rPr sz="2600" b="1" spc="-5" dirty="0">
                <a:latin typeface="Calibri"/>
                <a:cs typeface="Calibri"/>
              </a:rPr>
              <a:t>and </a:t>
            </a:r>
            <a:r>
              <a:rPr sz="2600" b="1" spc="-15" dirty="0">
                <a:latin typeface="Calibri"/>
                <a:cs typeface="Calibri"/>
              </a:rPr>
              <a:t>star </a:t>
            </a:r>
            <a:r>
              <a:rPr sz="2600" b="1" dirty="0">
                <a:latin typeface="Calibri"/>
                <a:cs typeface="Calibri"/>
              </a:rPr>
              <a:t>as</a:t>
            </a:r>
            <a:r>
              <a:rPr sz="2600" b="1" spc="80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follows.</a:t>
            </a:r>
            <a:endParaRPr sz="26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740"/>
              </a:spcBef>
              <a:buFont typeface="Arial"/>
              <a:buChar char="–"/>
              <a:tabLst>
                <a:tab pos="782320" algn="l"/>
              </a:tabLst>
            </a:pPr>
            <a:r>
              <a:rPr sz="3300" b="1" dirty="0">
                <a:solidFill>
                  <a:srgbClr val="C00000"/>
                </a:solidFill>
                <a:latin typeface="Calibri"/>
                <a:cs typeface="Calibri"/>
              </a:rPr>
              <a:t>Union</a:t>
            </a:r>
            <a:r>
              <a:rPr sz="33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:</a:t>
            </a:r>
            <a:endParaRPr sz="3300">
              <a:latin typeface="Calibri"/>
              <a:cs typeface="Calibri"/>
            </a:endParaRPr>
          </a:p>
          <a:p>
            <a:pPr marL="1946275">
              <a:lnSpc>
                <a:spcPct val="100000"/>
              </a:lnSpc>
              <a:spcBef>
                <a:spcPts val="830"/>
              </a:spcBef>
            </a:pP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3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B = {x | x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33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 or x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3300" b="1" spc="-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3300">
              <a:latin typeface="Calibri"/>
              <a:cs typeface="Calibri"/>
            </a:endParaRPr>
          </a:p>
          <a:p>
            <a:pPr marL="782320" marR="900430" lvl="1" indent="-782320">
              <a:lnSpc>
                <a:spcPts val="4790"/>
              </a:lnSpc>
              <a:spcBef>
                <a:spcPts val="225"/>
              </a:spcBef>
              <a:buFont typeface="Arial"/>
              <a:buChar char="–"/>
              <a:tabLst>
                <a:tab pos="782320" algn="l"/>
              </a:tabLst>
            </a:pPr>
            <a:r>
              <a:rPr sz="3300" b="1" spc="-15" dirty="0">
                <a:solidFill>
                  <a:srgbClr val="C00000"/>
                </a:solidFill>
                <a:latin typeface="Calibri"/>
                <a:cs typeface="Calibri"/>
              </a:rPr>
              <a:t>Concatenation </a:t>
            </a:r>
            <a:r>
              <a:rPr sz="3300" b="1" dirty="0">
                <a:latin typeface="Calibri"/>
                <a:cs typeface="Calibri"/>
              </a:rPr>
              <a:t>: (simply no </a:t>
            </a:r>
            <a:r>
              <a:rPr sz="3300" b="1" spc="-15" dirty="0">
                <a:latin typeface="Calibri"/>
                <a:cs typeface="Calibri"/>
              </a:rPr>
              <a:t>written) </a:t>
            </a:r>
            <a:r>
              <a:rPr sz="33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300" b="1" spc="-5" dirty="0">
                <a:solidFill>
                  <a:srgbClr val="0000CC"/>
                </a:solidFill>
                <a:latin typeface="Symbol"/>
                <a:cs typeface="Symbol"/>
              </a:rPr>
              <a:t></a:t>
            </a:r>
            <a:r>
              <a:rPr sz="33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B =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{xy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| x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33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 and y </a:t>
            </a:r>
            <a:r>
              <a:rPr sz="3300" b="1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3300" b="1" spc="-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33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459"/>
              </a:spcBef>
              <a:buFont typeface="Arial"/>
              <a:buChar char="–"/>
              <a:tabLst>
                <a:tab pos="782320" algn="l"/>
              </a:tabLst>
            </a:pPr>
            <a:r>
              <a:rPr sz="3300" b="1" spc="-15" dirty="0">
                <a:solidFill>
                  <a:srgbClr val="C00000"/>
                </a:solidFill>
                <a:latin typeface="Calibri"/>
                <a:cs typeface="Calibri"/>
              </a:rPr>
              <a:t>Star</a:t>
            </a:r>
            <a:r>
              <a:rPr sz="33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:</a:t>
            </a:r>
            <a:endParaRPr sz="3300">
              <a:latin typeface="Calibri"/>
              <a:cs typeface="Calibri"/>
            </a:endParaRPr>
          </a:p>
          <a:p>
            <a:pPr marL="783590">
              <a:lnSpc>
                <a:spcPct val="100000"/>
              </a:lnSpc>
              <a:spcBef>
                <a:spcPts val="525"/>
              </a:spcBef>
            </a:pP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A* =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{x</a:t>
            </a:r>
            <a:r>
              <a:rPr sz="3300" b="1" spc="-7" baseline="-20202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7" baseline="-20202" dirty="0">
                <a:solidFill>
                  <a:srgbClr val="0000CC"/>
                </a:solidFill>
                <a:latin typeface="Calibri"/>
                <a:cs typeface="Calibri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7" baseline="-20202" dirty="0">
                <a:solidFill>
                  <a:srgbClr val="0000CC"/>
                </a:solidFill>
                <a:latin typeface="Calibri"/>
                <a:cs typeface="Calibri"/>
              </a:rPr>
              <a:t>3 </a:t>
            </a:r>
            <a:r>
              <a:rPr sz="3300" b="1" dirty="0">
                <a:solidFill>
                  <a:srgbClr val="0000CC"/>
                </a:solidFill>
                <a:latin typeface="Times New Roman"/>
                <a:cs typeface="Times New Roman"/>
              </a:rPr>
              <a:t>…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spc="-7" baseline="-20202" dirty="0">
                <a:solidFill>
                  <a:srgbClr val="0000CC"/>
                </a:solidFill>
                <a:latin typeface="Calibri"/>
                <a:cs typeface="Calibri"/>
              </a:rPr>
              <a:t>k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| k </a:t>
            </a:r>
            <a:r>
              <a:rPr sz="3300" b="1" spc="-5" dirty="0">
                <a:solidFill>
                  <a:srgbClr val="0000CC"/>
                </a:solidFill>
                <a:latin typeface="Symbol"/>
                <a:cs typeface="Symbol"/>
              </a:rPr>
              <a:t></a:t>
            </a:r>
            <a:r>
              <a:rPr sz="33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0 and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each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x</a:t>
            </a:r>
            <a:r>
              <a:rPr sz="3300" b="1" baseline="-20202" dirty="0">
                <a:solidFill>
                  <a:srgbClr val="0000CC"/>
                </a:solidFill>
                <a:latin typeface="Calibri"/>
                <a:cs typeface="Calibri"/>
              </a:rPr>
              <a:t>i </a:t>
            </a:r>
            <a:r>
              <a:rPr sz="3300" b="1" spc="-5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3300" b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A}</a:t>
            </a:r>
            <a:endParaRPr sz="33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14452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58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5378" y="467690"/>
            <a:ext cx="2333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Union</a:t>
            </a:r>
            <a:r>
              <a:rPr spc="-90" dirty="0"/>
              <a:t> </a:t>
            </a:r>
            <a:r>
              <a:rPr dirty="0"/>
              <a:t>(</a:t>
            </a:r>
            <a:r>
              <a:rPr dirty="0">
                <a:latin typeface="Symbol"/>
                <a:cs typeface="Symbol"/>
              </a:rPr>
              <a:t>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63674"/>
            <a:ext cx="7614920" cy="38665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041400" marR="5080" indent="-457200">
              <a:lnSpc>
                <a:spcPts val="4750"/>
              </a:lnSpc>
              <a:spcBef>
                <a:spcPts val="295"/>
              </a:spcBef>
            </a:pP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y </a:t>
            </a:r>
            <a:r>
              <a:rPr sz="4000" b="1" spc="-15" dirty="0">
                <a:latin typeface="Calibri"/>
                <a:cs typeface="Calibri"/>
              </a:rPr>
              <a:t>where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x </a:t>
            </a:r>
            <a:r>
              <a:rPr sz="4000" b="1" spc="-5" dirty="0">
                <a:latin typeface="Calibri"/>
                <a:cs typeface="Calibri"/>
              </a:rPr>
              <a:t>and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y </a:t>
            </a:r>
            <a:r>
              <a:rPr sz="4000" b="1" spc="-25" dirty="0">
                <a:latin typeface="Calibri"/>
                <a:cs typeface="Calibri"/>
              </a:rPr>
              <a:t>are </a:t>
            </a:r>
            <a:r>
              <a:rPr sz="4000" b="1" spc="-10" dirty="0">
                <a:latin typeface="Calibri"/>
                <a:cs typeface="Calibri"/>
              </a:rPr>
              <a:t>strings </a:t>
            </a:r>
            <a:r>
              <a:rPr sz="4000" b="1" spc="-5" dirty="0">
                <a:latin typeface="Calibri"/>
                <a:cs typeface="Calibri"/>
              </a:rPr>
              <a:t>of  </a:t>
            </a:r>
            <a:r>
              <a:rPr sz="4000" b="1" spc="-25" dirty="0">
                <a:latin typeface="Calibri"/>
                <a:cs typeface="Calibri"/>
              </a:rPr>
              <a:t>characters </a:t>
            </a:r>
            <a:r>
              <a:rPr sz="4000" b="1" spc="-20" dirty="0">
                <a:latin typeface="Calibri"/>
                <a:cs typeface="Calibri"/>
              </a:rPr>
              <a:t>from </a:t>
            </a:r>
            <a:r>
              <a:rPr sz="4000" b="1" spc="-5" dirty="0">
                <a:latin typeface="Calibri"/>
                <a:cs typeface="Calibri"/>
              </a:rPr>
              <a:t>an</a:t>
            </a:r>
            <a:r>
              <a:rPr sz="4000" b="1" spc="7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alphabet</a:t>
            </a:r>
            <a:endParaRPr sz="400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1825"/>
              </a:spcBef>
            </a:pPr>
            <a:r>
              <a:rPr sz="4000" b="1" spc="-10" dirty="0">
                <a:latin typeface="Calibri"/>
                <a:cs typeface="Calibri"/>
              </a:rPr>
              <a:t>means</a:t>
            </a:r>
            <a:endParaRPr sz="4000">
              <a:latin typeface="Calibri"/>
              <a:cs typeface="Calibri"/>
            </a:endParaRPr>
          </a:p>
          <a:p>
            <a:pPr marL="12700" marR="2971800" indent="2058035">
              <a:lnSpc>
                <a:spcPct val="126600"/>
              </a:lnSpc>
              <a:spcBef>
                <a:spcPts val="2505"/>
              </a:spcBef>
              <a:tabLst>
                <a:tab pos="3155315" algn="l"/>
              </a:tabLst>
            </a:pPr>
            <a:r>
              <a:rPr sz="3600" b="1" spc="-25" dirty="0">
                <a:solidFill>
                  <a:srgbClr val="CC0000"/>
                </a:solidFill>
                <a:latin typeface="Calibri"/>
                <a:cs typeface="Calibri"/>
              </a:rPr>
              <a:t>“either </a:t>
            </a:r>
            <a:r>
              <a:rPr sz="3600" b="1" dirty="0">
                <a:latin typeface="Calibri"/>
                <a:cs typeface="Calibri"/>
              </a:rPr>
              <a:t>x </a:t>
            </a:r>
            <a:r>
              <a:rPr sz="3600" b="1" dirty="0">
                <a:solidFill>
                  <a:srgbClr val="CC0000"/>
                </a:solidFill>
                <a:latin typeface="Calibri"/>
                <a:cs typeface="Calibri"/>
              </a:rPr>
              <a:t>or</a:t>
            </a:r>
            <a:r>
              <a:rPr sz="3600" b="1" spc="-6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600" b="1" spc="-350" dirty="0">
                <a:latin typeface="Calibri"/>
                <a:cs typeface="Calibri"/>
              </a:rPr>
              <a:t>y</a:t>
            </a:r>
            <a:r>
              <a:rPr sz="3600" b="1" spc="-350" dirty="0">
                <a:solidFill>
                  <a:srgbClr val="CC0000"/>
                </a:solidFill>
                <a:latin typeface="Arial Narrow"/>
                <a:cs typeface="Arial Narrow"/>
              </a:rPr>
              <a:t>”  </a:t>
            </a:r>
            <a:r>
              <a:rPr sz="3600" b="1" dirty="0">
                <a:latin typeface="Calibri"/>
                <a:cs typeface="Calibri"/>
              </a:rPr>
              <a:t>Also </a:t>
            </a:r>
            <a:r>
              <a:rPr sz="3600" b="1" spc="-15" dirty="0">
                <a:latin typeface="Calibri"/>
                <a:cs typeface="Calibri"/>
              </a:rPr>
              <a:t>written</a:t>
            </a:r>
            <a:r>
              <a:rPr sz="3600" b="1" spc="-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as	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x +</a:t>
            </a:r>
            <a:r>
              <a:rPr sz="4000" b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794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59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4594"/>
            <a:ext cx="7908925" cy="398970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485140" indent="-342900">
              <a:lnSpc>
                <a:spcPts val="402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latin typeface="Calibri"/>
                <a:cs typeface="Calibri"/>
              </a:rPr>
              <a:t>Consider the </a:t>
            </a:r>
            <a:r>
              <a:rPr sz="3600" b="1" spc="-10" dirty="0">
                <a:latin typeface="Calibri"/>
                <a:cs typeface="Calibri"/>
              </a:rPr>
              <a:t>language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T </a:t>
            </a:r>
            <a:r>
              <a:rPr sz="3600" b="1" spc="-10" dirty="0">
                <a:latin typeface="Calibri"/>
                <a:cs typeface="Calibri"/>
              </a:rPr>
              <a:t>defined </a:t>
            </a:r>
            <a:r>
              <a:rPr sz="3600" b="1" spc="-20" dirty="0">
                <a:latin typeface="Calibri"/>
                <a:cs typeface="Calibri"/>
              </a:rPr>
              <a:t>over  </a:t>
            </a:r>
            <a:r>
              <a:rPr sz="3600" b="1" dirty="0">
                <a:latin typeface="Calibri"/>
                <a:cs typeface="Calibri"/>
              </a:rPr>
              <a:t>the </a:t>
            </a:r>
            <a:r>
              <a:rPr sz="3600" b="1" spc="-5" dirty="0">
                <a:latin typeface="Calibri"/>
                <a:cs typeface="Calibri"/>
              </a:rPr>
              <a:t>alphabet </a:t>
            </a:r>
            <a:r>
              <a:rPr sz="36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6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6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a b</a:t>
            </a:r>
            <a:r>
              <a:rPr sz="3600" b="1" spc="-10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36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600">
              <a:latin typeface="Symbol"/>
              <a:cs typeface="Symbol"/>
            </a:endParaRPr>
          </a:p>
          <a:p>
            <a:pPr marL="355600">
              <a:lnSpc>
                <a:spcPct val="100000"/>
              </a:lnSpc>
              <a:spcBef>
                <a:spcPts val="1750"/>
              </a:spcBef>
            </a:pP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T = </a:t>
            </a:r>
            <a:r>
              <a:rPr sz="28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c ab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cb 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abb cbb abbb cbbb abbbb</a:t>
            </a:r>
            <a:r>
              <a:rPr sz="2800" b="1" spc="1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cbbbb…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2800">
              <a:latin typeface="Symbol"/>
              <a:cs typeface="Symbol"/>
            </a:endParaRPr>
          </a:p>
          <a:p>
            <a:pPr marL="585470" marR="5080">
              <a:lnSpc>
                <a:spcPts val="3529"/>
              </a:lnSpc>
              <a:spcBef>
                <a:spcPts val="1465"/>
              </a:spcBef>
            </a:pPr>
            <a:r>
              <a:rPr sz="3200" b="1" dirty="0">
                <a:latin typeface="Calibri"/>
                <a:cs typeface="Calibri"/>
              </a:rPr>
              <a:t>all the </a:t>
            </a:r>
            <a:r>
              <a:rPr sz="3200" b="1" spc="-10" dirty="0">
                <a:latin typeface="Calibri"/>
                <a:cs typeface="Calibri"/>
              </a:rPr>
              <a:t>words </a:t>
            </a:r>
            <a:r>
              <a:rPr sz="3200" b="1" dirty="0">
                <a:latin typeface="Calibri"/>
                <a:cs typeface="Calibri"/>
              </a:rPr>
              <a:t>in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T </a:t>
            </a:r>
            <a:r>
              <a:rPr sz="3200" b="1" dirty="0">
                <a:latin typeface="Calibri"/>
                <a:cs typeface="Calibri"/>
              </a:rPr>
              <a:t>begin </a:t>
            </a:r>
            <a:r>
              <a:rPr sz="3200" b="1" spc="-5" dirty="0">
                <a:latin typeface="Calibri"/>
                <a:cs typeface="Calibri"/>
              </a:rPr>
              <a:t>with </a:t>
            </a:r>
            <a:r>
              <a:rPr sz="3200" b="1" dirty="0">
                <a:latin typeface="Calibri"/>
                <a:cs typeface="Calibri"/>
              </a:rPr>
              <a:t>an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3200" b="1" dirty="0">
                <a:latin typeface="Calibri"/>
                <a:cs typeface="Calibri"/>
              </a:rPr>
              <a:t>or a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3200" b="1" spc="-1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  then </a:t>
            </a:r>
            <a:r>
              <a:rPr sz="3200" b="1" spc="-10" dirty="0">
                <a:latin typeface="Calibri"/>
                <a:cs typeface="Calibri"/>
              </a:rPr>
              <a:t>are followed by </a:t>
            </a:r>
            <a:r>
              <a:rPr sz="3200" b="1" dirty="0">
                <a:latin typeface="Calibri"/>
                <a:cs typeface="Calibri"/>
              </a:rPr>
              <a:t>some </a:t>
            </a:r>
            <a:r>
              <a:rPr sz="3200" b="1" spc="-5" dirty="0">
                <a:latin typeface="Calibri"/>
                <a:cs typeface="Calibri"/>
              </a:rPr>
              <a:t>number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-7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200" b="1" spc="-70" dirty="0">
                <a:latin typeface="Arial Narrow"/>
                <a:cs typeface="Arial Narrow"/>
              </a:rPr>
              <a:t>’</a:t>
            </a:r>
            <a:r>
              <a:rPr sz="3200" b="1" spc="-70" dirty="0">
                <a:latin typeface="Calibri"/>
                <a:cs typeface="Calibri"/>
              </a:rPr>
              <a:t>s.</a:t>
            </a:r>
            <a:endParaRPr sz="3200">
              <a:latin typeface="Calibri"/>
              <a:cs typeface="Calibri"/>
            </a:endParaRPr>
          </a:p>
          <a:p>
            <a:pPr marL="1158875">
              <a:lnSpc>
                <a:spcPct val="100000"/>
              </a:lnSpc>
              <a:spcBef>
                <a:spcPts val="1040"/>
              </a:spcBef>
            </a:pP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T =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((a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c)</a:t>
            </a:r>
            <a:r>
              <a:rPr sz="3200" b="1" spc="-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b*)</a:t>
            </a:r>
            <a:endParaRPr sz="3200">
              <a:latin typeface="Calibri"/>
              <a:cs typeface="Calibri"/>
            </a:endParaRPr>
          </a:p>
          <a:p>
            <a:pPr marR="21590" algn="ctr">
              <a:lnSpc>
                <a:spcPct val="100000"/>
              </a:lnSpc>
              <a:spcBef>
                <a:spcPts val="430"/>
              </a:spcBef>
            </a:pP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(either a or c then some</a:t>
            </a:r>
            <a:r>
              <a:rPr sz="3200" b="1" spc="-8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45" dirty="0">
                <a:solidFill>
                  <a:srgbClr val="0000CC"/>
                </a:solidFill>
                <a:latin typeface="Calibri"/>
                <a:cs typeface="Calibri"/>
              </a:rPr>
              <a:t>b’s)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5855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1097" y="461594"/>
            <a:ext cx="3910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Finite </a:t>
            </a:r>
            <a:r>
              <a:rPr spc="-5" dirty="0"/>
              <a:t>language</a:t>
            </a:r>
            <a:r>
              <a:rPr spc="-85" dirty="0"/>
              <a:t> </a:t>
            </a:r>
            <a:r>
              <a:rPr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8201"/>
            <a:ext cx="7981950" cy="44507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355600" marR="113664" indent="-342900">
              <a:lnSpc>
                <a:spcPct val="75200"/>
              </a:lnSpc>
              <a:spcBef>
                <a:spcPts val="11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500" b="1" spc="-60" dirty="0">
                <a:latin typeface="Calibri"/>
                <a:cs typeface="Calibri"/>
              </a:rPr>
              <a:t>We </a:t>
            </a:r>
            <a:r>
              <a:rPr sz="3500" b="1" spc="-10" dirty="0">
                <a:latin typeface="Calibri"/>
                <a:cs typeface="Calibri"/>
              </a:rPr>
              <a:t>can </a:t>
            </a:r>
            <a:r>
              <a:rPr sz="3500" b="1" spc="-5" dirty="0">
                <a:latin typeface="Calibri"/>
                <a:cs typeface="Calibri"/>
              </a:rPr>
              <a:t>define </a:t>
            </a:r>
            <a:r>
              <a:rPr sz="3500" b="1" spc="-20" dirty="0">
                <a:latin typeface="Calibri"/>
                <a:cs typeface="Calibri"/>
              </a:rPr>
              <a:t>any </a:t>
            </a:r>
            <a:r>
              <a:rPr sz="3500" b="1" spc="-15" dirty="0">
                <a:latin typeface="Calibri"/>
                <a:cs typeface="Calibri"/>
              </a:rPr>
              <a:t>finite </a:t>
            </a:r>
            <a:r>
              <a:rPr sz="3500" b="1" spc="-5" dirty="0">
                <a:latin typeface="Calibri"/>
                <a:cs typeface="Calibri"/>
              </a:rPr>
              <a:t>language </a:t>
            </a:r>
            <a:r>
              <a:rPr sz="3500" b="1" spc="-10" dirty="0">
                <a:latin typeface="Calibri"/>
                <a:cs typeface="Calibri"/>
              </a:rPr>
              <a:t>by </a:t>
            </a:r>
            <a:r>
              <a:rPr sz="3500" b="1" dirty="0">
                <a:latin typeface="Calibri"/>
                <a:cs typeface="Calibri"/>
              </a:rPr>
              <a:t>our  new</a:t>
            </a:r>
            <a:r>
              <a:rPr sz="3500" b="1" spc="-30" dirty="0">
                <a:latin typeface="Calibri"/>
                <a:cs typeface="Calibri"/>
              </a:rPr>
              <a:t> </a:t>
            </a:r>
            <a:r>
              <a:rPr sz="3500" b="1" spc="-15" dirty="0">
                <a:latin typeface="Calibri"/>
                <a:cs typeface="Calibri"/>
              </a:rPr>
              <a:t>expression.</a:t>
            </a:r>
            <a:endParaRPr sz="3500">
              <a:latin typeface="Calibri"/>
              <a:cs typeface="Calibri"/>
            </a:endParaRPr>
          </a:p>
          <a:p>
            <a:pPr marL="355600" marR="5080" indent="-342900">
              <a:lnSpc>
                <a:spcPct val="77600"/>
              </a:lnSpc>
              <a:spcBef>
                <a:spcPts val="11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500" b="1" spc="5" dirty="0">
                <a:latin typeface="Calibri"/>
                <a:cs typeface="Calibri"/>
              </a:rPr>
              <a:t>E.g.: </a:t>
            </a:r>
            <a:r>
              <a:rPr sz="3500" b="1" dirty="0">
                <a:latin typeface="Calibri"/>
                <a:cs typeface="Calibri"/>
              </a:rPr>
              <a:t>Consider a </a:t>
            </a:r>
            <a:r>
              <a:rPr sz="3500" b="1" spc="-15" dirty="0">
                <a:latin typeface="Calibri"/>
                <a:cs typeface="Calibri"/>
              </a:rPr>
              <a:t>finite </a:t>
            </a:r>
            <a:r>
              <a:rPr sz="3500" b="1" spc="-5" dirty="0">
                <a:latin typeface="Calibri"/>
                <a:cs typeface="Calibri"/>
              </a:rPr>
              <a:t>language </a:t>
            </a: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L </a:t>
            </a:r>
            <a:r>
              <a:rPr sz="3500" b="1" spc="-15" dirty="0">
                <a:latin typeface="Calibri"/>
                <a:cs typeface="Calibri"/>
              </a:rPr>
              <a:t>contains  </a:t>
            </a:r>
            <a:r>
              <a:rPr sz="3500" b="1" dirty="0">
                <a:latin typeface="Calibri"/>
                <a:cs typeface="Calibri"/>
              </a:rPr>
              <a:t>all the </a:t>
            </a:r>
            <a:r>
              <a:rPr sz="3500" b="1" spc="-5" dirty="0">
                <a:latin typeface="Calibri"/>
                <a:cs typeface="Calibri"/>
              </a:rPr>
              <a:t>strings </a:t>
            </a:r>
            <a:r>
              <a:rPr sz="3500" b="1" dirty="0">
                <a:latin typeface="Calibri"/>
                <a:cs typeface="Calibri"/>
              </a:rPr>
              <a:t>of </a:t>
            </a:r>
            <a:r>
              <a:rPr sz="3500" b="1" spc="-1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500" b="1" spc="-100" dirty="0">
                <a:latin typeface="Arial Narrow"/>
                <a:cs typeface="Arial Narrow"/>
              </a:rPr>
              <a:t>’</a:t>
            </a:r>
            <a:r>
              <a:rPr sz="3500" b="1" spc="-100" dirty="0">
                <a:latin typeface="Calibri"/>
                <a:cs typeface="Calibri"/>
              </a:rPr>
              <a:t>s </a:t>
            </a:r>
            <a:r>
              <a:rPr sz="3500" b="1" dirty="0">
                <a:latin typeface="Calibri"/>
                <a:cs typeface="Calibri"/>
              </a:rPr>
              <a:t>and </a:t>
            </a:r>
            <a:r>
              <a:rPr sz="3500" b="1" spc="-10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500" b="1" spc="-100" dirty="0">
                <a:latin typeface="Arial Narrow"/>
                <a:cs typeface="Arial Narrow"/>
              </a:rPr>
              <a:t>’</a:t>
            </a:r>
            <a:r>
              <a:rPr sz="3500" b="1" spc="-100" dirty="0">
                <a:latin typeface="Calibri"/>
                <a:cs typeface="Calibri"/>
              </a:rPr>
              <a:t>s </a:t>
            </a:r>
            <a:r>
              <a:rPr sz="3500" b="1" dirty="0">
                <a:latin typeface="Calibri"/>
                <a:cs typeface="Calibri"/>
              </a:rPr>
              <a:t>of </a:t>
            </a:r>
            <a:r>
              <a:rPr sz="3500" b="1" spc="-5" dirty="0">
                <a:latin typeface="Calibri"/>
                <a:cs typeface="Calibri"/>
              </a:rPr>
              <a:t>length </a:t>
            </a:r>
            <a:r>
              <a:rPr sz="3500" b="1" spc="-320" dirty="0">
                <a:solidFill>
                  <a:srgbClr val="0000CC"/>
                </a:solidFill>
                <a:latin typeface="Arial Narrow"/>
                <a:cs typeface="Arial Narrow"/>
              </a:rPr>
              <a:t>3 </a:t>
            </a:r>
            <a:r>
              <a:rPr sz="3500" b="1" spc="-320" dirty="0">
                <a:latin typeface="Arial Narrow"/>
                <a:cs typeface="Arial Narrow"/>
              </a:rPr>
              <a:t> </a:t>
            </a:r>
            <a:r>
              <a:rPr sz="3500" b="1" spc="-15" dirty="0">
                <a:latin typeface="Calibri"/>
                <a:cs typeface="Calibri"/>
              </a:rPr>
              <a:t>exactly:</a:t>
            </a:r>
            <a:endParaRPr sz="3500">
              <a:latin typeface="Calibri"/>
              <a:cs typeface="Calibri"/>
            </a:endParaRPr>
          </a:p>
          <a:p>
            <a:pPr marL="469900">
              <a:lnSpc>
                <a:spcPts val="4185"/>
              </a:lnSpc>
              <a:spcBef>
                <a:spcPts val="35"/>
              </a:spcBef>
            </a:pP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L = </a:t>
            </a:r>
            <a:r>
              <a:rPr sz="35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aaa </a:t>
            </a:r>
            <a:r>
              <a:rPr sz="3500" b="1" spc="-5" dirty="0">
                <a:solidFill>
                  <a:srgbClr val="0000CC"/>
                </a:solidFill>
                <a:latin typeface="Calibri"/>
                <a:cs typeface="Calibri"/>
              </a:rPr>
              <a:t>aab </a:t>
            </a: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aba abb baa bab bba</a:t>
            </a:r>
            <a:r>
              <a:rPr sz="3500" b="1" spc="-2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bbb</a:t>
            </a:r>
            <a:r>
              <a:rPr sz="3500" b="1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3500">
              <a:latin typeface="Symbol"/>
              <a:cs typeface="Symbol"/>
            </a:endParaRPr>
          </a:p>
          <a:p>
            <a:pPr marL="355600" marR="118110" indent="-342900">
              <a:lnSpc>
                <a:spcPts val="356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500" b="1" spc="-5" dirty="0">
                <a:latin typeface="Calibri"/>
                <a:cs typeface="Calibri"/>
              </a:rPr>
              <a:t>The </a:t>
            </a:r>
            <a:r>
              <a:rPr sz="3500" b="1" spc="-20" dirty="0">
                <a:latin typeface="Calibri"/>
                <a:cs typeface="Calibri"/>
              </a:rPr>
              <a:t>first letter </a:t>
            </a:r>
            <a:r>
              <a:rPr sz="3500" b="1" spc="-15" dirty="0">
                <a:latin typeface="Calibri"/>
                <a:cs typeface="Calibri"/>
              </a:rPr>
              <a:t>can </a:t>
            </a:r>
            <a:r>
              <a:rPr sz="3500" b="1" dirty="0">
                <a:latin typeface="Calibri"/>
                <a:cs typeface="Calibri"/>
              </a:rPr>
              <a:t>be </a:t>
            </a:r>
            <a:r>
              <a:rPr sz="3500" b="1" spc="-5" dirty="0">
                <a:latin typeface="Calibri"/>
                <a:cs typeface="Calibri"/>
              </a:rPr>
              <a:t>either </a:t>
            </a:r>
            <a:r>
              <a:rPr sz="35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500" b="1" dirty="0">
                <a:latin typeface="Calibri"/>
                <a:cs typeface="Calibri"/>
              </a:rPr>
              <a:t>or </a:t>
            </a:r>
            <a:r>
              <a:rPr sz="3500" b="1" spc="-8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500" b="1" spc="-80" dirty="0">
                <a:latin typeface="Arial Narrow"/>
                <a:cs typeface="Arial Narrow"/>
              </a:rPr>
              <a:t>. </a:t>
            </a:r>
            <a:r>
              <a:rPr sz="3500" b="1" dirty="0">
                <a:latin typeface="Calibri"/>
                <a:cs typeface="Calibri"/>
              </a:rPr>
              <a:t>So do  the 2nd and </a:t>
            </a:r>
            <a:r>
              <a:rPr sz="3500" b="1" spc="-15" dirty="0">
                <a:latin typeface="Calibri"/>
                <a:cs typeface="Calibri"/>
              </a:rPr>
              <a:t>3rd</a:t>
            </a:r>
            <a:r>
              <a:rPr sz="3500" b="1" spc="-60" dirty="0">
                <a:latin typeface="Calibri"/>
                <a:cs typeface="Calibri"/>
              </a:rPr>
              <a:t> </a:t>
            </a:r>
            <a:r>
              <a:rPr sz="3500" b="1" spc="-65" dirty="0">
                <a:latin typeface="Calibri"/>
                <a:cs typeface="Calibri"/>
              </a:rPr>
              <a:t>letter.</a:t>
            </a:r>
            <a:endParaRPr sz="3500">
              <a:latin typeface="Calibri"/>
              <a:cs typeface="Calibri"/>
            </a:endParaRPr>
          </a:p>
          <a:p>
            <a:pPr marR="495934" algn="ctr">
              <a:lnSpc>
                <a:spcPts val="4580"/>
              </a:lnSpc>
            </a:pP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L = ((a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b) (a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b) (a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b))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148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573" y="461594"/>
            <a:ext cx="4675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Finite language</a:t>
            </a:r>
            <a:r>
              <a:rPr spc="-55" dirty="0"/>
              <a:t> </a:t>
            </a:r>
            <a:r>
              <a:rPr sz="2900" spc="-5" dirty="0"/>
              <a:t>(cont.)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853439" y="1230479"/>
            <a:ext cx="7243445" cy="460629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91135" algn="ctr">
              <a:lnSpc>
                <a:spcPct val="100000"/>
              </a:lnSpc>
              <a:spcBef>
                <a:spcPts val="2540"/>
              </a:spcBef>
            </a:pPr>
            <a:r>
              <a:rPr sz="4000" b="1" spc="-5" dirty="0">
                <a:latin typeface="Calibri"/>
                <a:cs typeface="Calibri"/>
              </a:rPr>
              <a:t>or </a:t>
            </a:r>
            <a:r>
              <a:rPr sz="4000" b="1" spc="-25" dirty="0">
                <a:latin typeface="Calibri"/>
                <a:cs typeface="Calibri"/>
              </a:rPr>
              <a:t>we </a:t>
            </a:r>
            <a:r>
              <a:rPr sz="4000" b="1" spc="-15" dirty="0">
                <a:latin typeface="Calibri"/>
                <a:cs typeface="Calibri"/>
              </a:rPr>
              <a:t>can </a:t>
            </a:r>
            <a:r>
              <a:rPr sz="4000" b="1" spc="-5" dirty="0">
                <a:latin typeface="Calibri"/>
                <a:cs typeface="Calibri"/>
              </a:rPr>
              <a:t>simply </a:t>
            </a:r>
            <a:r>
              <a:rPr sz="4000" b="1" spc="-20" dirty="0">
                <a:latin typeface="Calibri"/>
                <a:cs typeface="Calibri"/>
              </a:rPr>
              <a:t>write </a:t>
            </a:r>
            <a:r>
              <a:rPr sz="4000" b="1" spc="-5" dirty="0">
                <a:latin typeface="Calibri"/>
                <a:cs typeface="Calibri"/>
              </a:rPr>
              <a:t>shortly</a:t>
            </a:r>
            <a:r>
              <a:rPr sz="4000" b="1" spc="95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as</a:t>
            </a:r>
            <a:endParaRPr sz="4000">
              <a:latin typeface="Calibri"/>
              <a:cs typeface="Calibri"/>
            </a:endParaRPr>
          </a:p>
          <a:p>
            <a:pPr marL="194310" algn="ctr">
              <a:lnSpc>
                <a:spcPct val="100000"/>
              </a:lnSpc>
              <a:spcBef>
                <a:spcPts val="2435"/>
              </a:spcBef>
            </a:pPr>
            <a:r>
              <a:rPr sz="3600" b="1" dirty="0">
                <a:solidFill>
                  <a:srgbClr val="0000CC"/>
                </a:solidFill>
                <a:latin typeface="Calibri"/>
                <a:cs typeface="Calibri"/>
              </a:rPr>
              <a:t>L = </a:t>
            </a:r>
            <a:r>
              <a:rPr sz="3600" b="1" spc="-10" dirty="0">
                <a:solidFill>
                  <a:srgbClr val="0000CC"/>
                </a:solidFill>
                <a:latin typeface="Calibri"/>
                <a:cs typeface="Calibri"/>
              </a:rPr>
              <a:t>(a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0000CC"/>
                </a:solidFill>
                <a:latin typeface="Calibri"/>
                <a:cs typeface="Calibri"/>
              </a:rPr>
              <a:t>b)</a:t>
            </a:r>
            <a:r>
              <a:rPr sz="3600" b="1" spc="-7" baseline="25462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3600" baseline="25462">
              <a:latin typeface="Calibri"/>
              <a:cs typeface="Calibri"/>
            </a:endParaRPr>
          </a:p>
          <a:p>
            <a:pPr marL="38100" marR="30480">
              <a:lnSpc>
                <a:spcPct val="90000"/>
              </a:lnSpc>
              <a:spcBef>
                <a:spcPts val="3360"/>
              </a:spcBef>
            </a:pPr>
            <a:r>
              <a:rPr sz="4000" b="1" spc="-5" dirty="0">
                <a:latin typeface="Calibri"/>
                <a:cs typeface="Calibri"/>
              </a:rPr>
              <a:t>if </a:t>
            </a:r>
            <a:r>
              <a:rPr sz="4000" b="1" spc="-25" dirty="0">
                <a:latin typeface="Calibri"/>
                <a:cs typeface="Calibri"/>
              </a:rPr>
              <a:t>we </a:t>
            </a:r>
            <a:r>
              <a:rPr sz="4000" b="1" spc="-20" dirty="0">
                <a:latin typeface="Calibri"/>
                <a:cs typeface="Calibri"/>
              </a:rPr>
              <a:t>write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(a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r>
              <a:rPr sz="4000" b="1" spc="-5" dirty="0">
                <a:latin typeface="Calibri"/>
                <a:cs typeface="Calibri"/>
              </a:rPr>
              <a:t>, it means the  </a:t>
            </a:r>
            <a:r>
              <a:rPr sz="4000" b="1" spc="-10" dirty="0">
                <a:latin typeface="Calibri"/>
                <a:cs typeface="Calibri"/>
              </a:rPr>
              <a:t>set </a:t>
            </a:r>
            <a:r>
              <a:rPr sz="4000" b="1" spc="-5" dirty="0">
                <a:latin typeface="Calibri"/>
                <a:cs typeface="Calibri"/>
              </a:rPr>
              <a:t>of all possible </a:t>
            </a:r>
            <a:r>
              <a:rPr sz="4000" b="1" spc="-10" dirty="0">
                <a:latin typeface="Calibri"/>
                <a:cs typeface="Calibri"/>
              </a:rPr>
              <a:t>strings </a:t>
            </a:r>
            <a:r>
              <a:rPr sz="4000" b="1" spc="-5" dirty="0">
                <a:latin typeface="Calibri"/>
                <a:cs typeface="Calibri"/>
              </a:rPr>
              <a:t>of </a:t>
            </a:r>
            <a:r>
              <a:rPr sz="4000" b="1" spc="-30" dirty="0">
                <a:latin typeface="Calibri"/>
                <a:cs typeface="Calibri"/>
              </a:rPr>
              <a:t>letters  </a:t>
            </a:r>
            <a:r>
              <a:rPr sz="4000" b="1" spc="-20" dirty="0">
                <a:latin typeface="Calibri"/>
                <a:cs typeface="Calibri"/>
              </a:rPr>
              <a:t>from </a:t>
            </a:r>
            <a:r>
              <a:rPr sz="4000" b="1" spc="-5" dirty="0">
                <a:latin typeface="Calibri"/>
                <a:cs typeface="Calibri"/>
              </a:rPr>
              <a:t>the alphabet </a:t>
            </a:r>
            <a:r>
              <a:rPr sz="40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40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4000" b="1" dirty="0">
                <a:solidFill>
                  <a:srgbClr val="0000CC"/>
                </a:solidFill>
                <a:latin typeface="Symbol"/>
                <a:cs typeface="Symbol"/>
              </a:rPr>
              <a:t></a:t>
            </a:r>
            <a:r>
              <a:rPr sz="4000" b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40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4000" b="1" spc="-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4000" b="1" spc="-15" dirty="0">
                <a:solidFill>
                  <a:srgbClr val="0000CC"/>
                </a:solidFill>
                <a:latin typeface="Symbol"/>
                <a:cs typeface="Symbol"/>
              </a:rPr>
              <a:t></a:t>
            </a:r>
            <a:endParaRPr sz="40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sz="4000" b="1" spc="-5" dirty="0">
                <a:latin typeface="Calibri"/>
                <a:cs typeface="Calibri"/>
              </a:rPr>
              <a:t>including the null </a:t>
            </a:r>
            <a:r>
              <a:rPr sz="4000" b="1" spc="-10" dirty="0">
                <a:latin typeface="Calibri"/>
                <a:cs typeface="Calibri"/>
              </a:rPr>
              <a:t>string</a:t>
            </a:r>
            <a:r>
              <a:rPr sz="4000" b="1" spc="45" dirty="0"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λ</a:t>
            </a:r>
            <a:endParaRPr sz="4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89412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765" y="461594"/>
            <a:ext cx="2223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50010"/>
            <a:ext cx="7595234" cy="4434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latin typeface="Calibri"/>
                <a:cs typeface="Calibri"/>
              </a:rPr>
              <a:t>If we </a:t>
            </a:r>
            <a:r>
              <a:rPr sz="3700" b="1" spc="-15" dirty="0">
                <a:latin typeface="Calibri"/>
                <a:cs typeface="Calibri"/>
              </a:rPr>
              <a:t>write</a:t>
            </a:r>
            <a:endParaRPr sz="3700">
              <a:latin typeface="Calibri"/>
              <a:cs typeface="Calibri"/>
            </a:endParaRPr>
          </a:p>
          <a:p>
            <a:pPr marL="3128010">
              <a:lnSpc>
                <a:spcPct val="100000"/>
              </a:lnSpc>
            </a:pP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a(a </a:t>
            </a: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700" b="1" spc="-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endParaRPr sz="3700">
              <a:latin typeface="Calibri"/>
              <a:cs typeface="Calibri"/>
            </a:endParaRPr>
          </a:p>
          <a:p>
            <a:pPr marL="355600" marR="132715">
              <a:lnSpc>
                <a:spcPts val="3550"/>
              </a:lnSpc>
              <a:spcBef>
                <a:spcPts val="860"/>
              </a:spcBef>
            </a:pPr>
            <a:r>
              <a:rPr sz="3700" b="1" spc="-15" dirty="0">
                <a:latin typeface="Calibri"/>
                <a:cs typeface="Calibri"/>
              </a:rPr>
              <a:t>we </a:t>
            </a:r>
            <a:r>
              <a:rPr sz="3700" b="1" spc="-10" dirty="0">
                <a:latin typeface="Calibri"/>
                <a:cs typeface="Calibri"/>
              </a:rPr>
              <a:t>can </a:t>
            </a:r>
            <a:r>
              <a:rPr sz="3700" b="1" spc="-5" dirty="0">
                <a:latin typeface="Calibri"/>
                <a:cs typeface="Calibri"/>
              </a:rPr>
              <a:t>describe all </a:t>
            </a:r>
            <a:r>
              <a:rPr sz="3700" b="1" spc="-20" dirty="0">
                <a:latin typeface="Calibri"/>
                <a:cs typeface="Calibri"/>
              </a:rPr>
              <a:t>words </a:t>
            </a:r>
            <a:r>
              <a:rPr sz="3700" b="1" spc="-15" dirty="0">
                <a:latin typeface="Calibri"/>
                <a:cs typeface="Calibri"/>
              </a:rPr>
              <a:t>that </a:t>
            </a:r>
            <a:r>
              <a:rPr sz="3700" b="1" spc="-5" dirty="0">
                <a:latin typeface="Calibri"/>
                <a:cs typeface="Calibri"/>
              </a:rPr>
              <a:t>begin  with the </a:t>
            </a:r>
            <a:r>
              <a:rPr sz="3700" b="1" spc="-25" dirty="0">
                <a:latin typeface="Calibri"/>
                <a:cs typeface="Calibri"/>
              </a:rPr>
              <a:t>letter</a:t>
            </a:r>
            <a:r>
              <a:rPr sz="3700" b="1" spc="45" dirty="0">
                <a:latin typeface="Calibri"/>
                <a:cs typeface="Calibri"/>
              </a:rPr>
              <a:t>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.</a:t>
            </a:r>
            <a:endParaRPr sz="37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1860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latin typeface="Calibri"/>
                <a:cs typeface="Calibri"/>
              </a:rPr>
              <a:t>If we </a:t>
            </a:r>
            <a:r>
              <a:rPr sz="3700" b="1" spc="-10" dirty="0">
                <a:latin typeface="Calibri"/>
                <a:cs typeface="Calibri"/>
              </a:rPr>
              <a:t>would </a:t>
            </a:r>
            <a:r>
              <a:rPr sz="3700" b="1" spc="-25" dirty="0">
                <a:latin typeface="Calibri"/>
                <a:cs typeface="Calibri"/>
              </a:rPr>
              <a:t>like </a:t>
            </a:r>
            <a:r>
              <a:rPr sz="3700" b="1" spc="-20" dirty="0">
                <a:latin typeface="Calibri"/>
                <a:cs typeface="Calibri"/>
              </a:rPr>
              <a:t>to </a:t>
            </a:r>
            <a:r>
              <a:rPr sz="3700" b="1" spc="-5" dirty="0">
                <a:latin typeface="Calibri"/>
                <a:cs typeface="Calibri"/>
              </a:rPr>
              <a:t>describe all </a:t>
            </a:r>
            <a:r>
              <a:rPr sz="3700" b="1" spc="-20" dirty="0">
                <a:latin typeface="Calibri"/>
                <a:cs typeface="Calibri"/>
              </a:rPr>
              <a:t>words  </a:t>
            </a:r>
            <a:r>
              <a:rPr sz="3700" b="1" spc="-15" dirty="0">
                <a:latin typeface="Calibri"/>
                <a:cs typeface="Calibri"/>
              </a:rPr>
              <a:t>that </a:t>
            </a:r>
            <a:r>
              <a:rPr sz="3700" b="1" spc="-5" dirty="0">
                <a:solidFill>
                  <a:srgbClr val="C00000"/>
                </a:solidFill>
                <a:latin typeface="Calibri"/>
                <a:cs typeface="Calibri"/>
              </a:rPr>
              <a:t>begin with an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700" b="1" spc="-5" dirty="0">
                <a:latin typeface="Calibri"/>
                <a:cs typeface="Calibri"/>
              </a:rPr>
              <a:t>and </a:t>
            </a:r>
            <a:r>
              <a:rPr sz="3700" b="1" spc="-5" dirty="0">
                <a:solidFill>
                  <a:srgbClr val="C00000"/>
                </a:solidFill>
                <a:latin typeface="Calibri"/>
                <a:cs typeface="Calibri"/>
              </a:rPr>
              <a:t>end with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700" b="1" spc="-5" dirty="0">
                <a:latin typeface="Calibri"/>
                <a:cs typeface="Calibri"/>
              </a:rPr>
              <a:t>,  </a:t>
            </a:r>
            <a:r>
              <a:rPr sz="3700" b="1" spc="-15" dirty="0">
                <a:latin typeface="Calibri"/>
                <a:cs typeface="Calibri"/>
              </a:rPr>
              <a:t>we </a:t>
            </a:r>
            <a:r>
              <a:rPr sz="3700" b="1" spc="-10" dirty="0">
                <a:latin typeface="Calibri"/>
                <a:cs typeface="Calibri"/>
              </a:rPr>
              <a:t>can define </a:t>
            </a:r>
            <a:r>
              <a:rPr sz="3700" b="1" spc="-20" dirty="0">
                <a:latin typeface="Calibri"/>
                <a:cs typeface="Calibri"/>
              </a:rPr>
              <a:t>by </a:t>
            </a:r>
            <a:r>
              <a:rPr sz="3700" b="1" spc="-5" dirty="0">
                <a:latin typeface="Calibri"/>
                <a:cs typeface="Calibri"/>
              </a:rPr>
              <a:t>the</a:t>
            </a:r>
            <a:r>
              <a:rPr sz="3700" b="1" spc="65" dirty="0">
                <a:latin typeface="Calibri"/>
                <a:cs typeface="Calibri"/>
              </a:rPr>
              <a:t> </a:t>
            </a:r>
            <a:r>
              <a:rPr sz="3700" b="1" spc="-20" dirty="0">
                <a:latin typeface="Calibri"/>
                <a:cs typeface="Calibri"/>
              </a:rPr>
              <a:t>expression</a:t>
            </a:r>
            <a:endParaRPr sz="3700">
              <a:latin typeface="Calibri"/>
              <a:cs typeface="Calibri"/>
            </a:endParaRPr>
          </a:p>
          <a:p>
            <a:pPr marL="1038225">
              <a:lnSpc>
                <a:spcPct val="100000"/>
              </a:lnSpc>
              <a:spcBef>
                <a:spcPts val="925"/>
              </a:spcBef>
            </a:pPr>
            <a:r>
              <a:rPr sz="3700" b="1" spc="-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(a</a:t>
            </a:r>
            <a:r>
              <a:rPr sz="3700" b="1" spc="-5" dirty="0">
                <a:latin typeface="Symbol"/>
                <a:cs typeface="Symbol"/>
              </a:rPr>
              <a:t></a:t>
            </a:r>
            <a:r>
              <a:rPr sz="3700" b="1" spc="-5" dirty="0">
                <a:latin typeface="Calibri"/>
                <a:cs typeface="Calibri"/>
              </a:rPr>
              <a:t>b)*</a:t>
            </a:r>
            <a:r>
              <a:rPr sz="3700" b="1" spc="-5" dirty="0">
                <a:solidFill>
                  <a:srgbClr val="6F2F9F"/>
                </a:solidFill>
                <a:latin typeface="Calibri"/>
                <a:cs typeface="Calibri"/>
              </a:rPr>
              <a:t>b </a:t>
            </a:r>
            <a:r>
              <a:rPr sz="3700" b="1" spc="-5" dirty="0">
                <a:latin typeface="Calibri"/>
                <a:cs typeface="Calibri"/>
              </a:rPr>
              <a:t>= </a:t>
            </a:r>
            <a:r>
              <a:rPr sz="3700" b="1" spc="-15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3700" b="1" spc="-15" dirty="0">
                <a:latin typeface="Calibri"/>
                <a:cs typeface="Calibri"/>
              </a:rPr>
              <a:t>(arbitrary</a:t>
            </a:r>
            <a:r>
              <a:rPr sz="3700" b="1" spc="25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string)</a:t>
            </a:r>
            <a:r>
              <a:rPr sz="3700" b="1" spc="-10" dirty="0">
                <a:solidFill>
                  <a:srgbClr val="6F2F9F"/>
                </a:solidFill>
                <a:latin typeface="Calibri"/>
                <a:cs typeface="Calibri"/>
              </a:rPr>
              <a:t>b</a:t>
            </a:r>
            <a:endParaRPr sz="3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8115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0850" y="461594"/>
            <a:ext cx="32912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Null</a:t>
            </a:r>
            <a:r>
              <a:rPr spc="-9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298"/>
            <a:ext cx="7910830" cy="43548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5600" marR="759460" indent="-342900">
              <a:lnSpc>
                <a:spcPts val="3950"/>
              </a:lnSpc>
              <a:spcBef>
                <a:spcPts val="63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7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or </a:t>
            </a:r>
            <a:r>
              <a:rPr sz="37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λ </a:t>
            </a:r>
            <a:r>
              <a:rPr sz="3700" b="1" spc="-5" dirty="0">
                <a:latin typeface="Calibri"/>
                <a:cs typeface="Calibri"/>
              </a:rPr>
              <a:t>is the </a:t>
            </a:r>
            <a:r>
              <a:rPr sz="3700" b="1" spc="-15" dirty="0">
                <a:latin typeface="Calibri"/>
                <a:cs typeface="Calibri"/>
              </a:rPr>
              <a:t>symbol </a:t>
            </a:r>
            <a:r>
              <a:rPr sz="3700" b="1" spc="-5" dirty="0">
                <a:latin typeface="Calibri"/>
                <a:cs typeface="Calibri"/>
              </a:rPr>
              <a:t>of null </a:t>
            </a:r>
            <a:r>
              <a:rPr sz="3700" b="1" spc="-10" dirty="0">
                <a:latin typeface="Calibri"/>
                <a:cs typeface="Calibri"/>
              </a:rPr>
              <a:t>string</a:t>
            </a:r>
            <a:r>
              <a:rPr sz="3700" b="1" spc="-105" dirty="0">
                <a:latin typeface="Calibri"/>
                <a:cs typeface="Calibri"/>
              </a:rPr>
              <a:t> </a:t>
            </a:r>
            <a:r>
              <a:rPr sz="3700" b="1" spc="-5" dirty="0">
                <a:latin typeface="Calibri"/>
                <a:cs typeface="Calibri"/>
              </a:rPr>
              <a:t>in  </a:t>
            </a:r>
            <a:r>
              <a:rPr sz="3700" b="1" spc="-15" dirty="0">
                <a:latin typeface="Calibri"/>
                <a:cs typeface="Calibri"/>
              </a:rPr>
              <a:t>regular</a:t>
            </a:r>
            <a:r>
              <a:rPr sz="3700" b="1" spc="-10" dirty="0">
                <a:latin typeface="Calibri"/>
                <a:cs typeface="Calibri"/>
              </a:rPr>
              <a:t> </a:t>
            </a:r>
            <a:r>
              <a:rPr sz="3700" b="1" spc="-15" dirty="0">
                <a:latin typeface="Calibri"/>
                <a:cs typeface="Calibri"/>
              </a:rPr>
              <a:t>expression.</a:t>
            </a:r>
            <a:endParaRPr sz="3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10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r>
              <a:rPr sz="37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is the </a:t>
            </a:r>
            <a:r>
              <a:rPr sz="3700" b="1" spc="-15" dirty="0">
                <a:latin typeface="Calibri"/>
                <a:cs typeface="Calibri"/>
              </a:rPr>
              <a:t>symbol </a:t>
            </a:r>
            <a:r>
              <a:rPr sz="3700" b="1" spc="-25" dirty="0">
                <a:latin typeface="Calibri"/>
                <a:cs typeface="Calibri"/>
              </a:rPr>
              <a:t>for </a:t>
            </a:r>
            <a:r>
              <a:rPr sz="3700" b="1" spc="-145" dirty="0">
                <a:latin typeface="Arial Narrow"/>
                <a:cs typeface="Arial Narrow"/>
              </a:rPr>
              <a:t>“</a:t>
            </a:r>
            <a:r>
              <a:rPr sz="3700" b="1" spc="-145" dirty="0">
                <a:latin typeface="Calibri"/>
                <a:cs typeface="Calibri"/>
              </a:rPr>
              <a:t>Null</a:t>
            </a:r>
            <a:r>
              <a:rPr sz="3700" b="1" spc="5" dirty="0">
                <a:latin typeface="Calibri"/>
                <a:cs typeface="Calibri"/>
              </a:rPr>
              <a:t> </a:t>
            </a:r>
            <a:r>
              <a:rPr sz="3700" b="1" spc="-90" dirty="0">
                <a:latin typeface="Calibri"/>
                <a:cs typeface="Calibri"/>
              </a:rPr>
              <a:t>Language</a:t>
            </a:r>
            <a:r>
              <a:rPr sz="3700" b="1" spc="-90" dirty="0">
                <a:latin typeface="Arial Narrow"/>
                <a:cs typeface="Arial Narrow"/>
              </a:rPr>
              <a:t>”</a:t>
            </a:r>
            <a:endParaRPr sz="37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5" dirty="0">
                <a:latin typeface="Calibri"/>
                <a:cs typeface="Calibri"/>
              </a:rPr>
              <a:t>Don</a:t>
            </a:r>
            <a:r>
              <a:rPr sz="3700" b="1" spc="-5" dirty="0">
                <a:latin typeface="Times New Roman"/>
                <a:cs typeface="Times New Roman"/>
              </a:rPr>
              <a:t>’</a:t>
            </a:r>
            <a:r>
              <a:rPr sz="3700" b="1" spc="-5" dirty="0">
                <a:latin typeface="Calibri"/>
                <a:cs typeface="Calibri"/>
              </a:rPr>
              <a:t>t</a:t>
            </a:r>
            <a:r>
              <a:rPr sz="3700" b="1" spc="10" dirty="0">
                <a:latin typeface="Calibri"/>
                <a:cs typeface="Calibri"/>
              </a:rPr>
              <a:t> </a:t>
            </a:r>
            <a:r>
              <a:rPr sz="3700" b="1" spc="-15" dirty="0">
                <a:latin typeface="Calibri"/>
                <a:cs typeface="Calibri"/>
              </a:rPr>
              <a:t>confuse!</a:t>
            </a:r>
            <a:endParaRPr sz="3700">
              <a:latin typeface="Calibri"/>
              <a:cs typeface="Calibri"/>
            </a:endParaRPr>
          </a:p>
          <a:p>
            <a:pPr marL="756285" marR="5080" lvl="1" indent="-287020">
              <a:lnSpc>
                <a:spcPts val="3579"/>
              </a:lnSpc>
              <a:spcBef>
                <a:spcPts val="850"/>
              </a:spcBef>
              <a:buFont typeface="Arial"/>
              <a:buChar char="–"/>
              <a:tabLst>
                <a:tab pos="756920" algn="l"/>
                <a:tab pos="1788160" algn="l"/>
              </a:tabLst>
            </a:pP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33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300" b="1" dirty="0">
                <a:solidFill>
                  <a:srgbClr val="0000CC"/>
                </a:solidFill>
                <a:latin typeface="Times New Roman"/>
                <a:cs typeface="Times New Roman"/>
              </a:rPr>
              <a:t>λ	</a:t>
            </a:r>
            <a:r>
              <a:rPr sz="3300" b="1" spc="-15" dirty="0">
                <a:latin typeface="Calibri"/>
                <a:cs typeface="Calibri"/>
              </a:rPr>
              <a:t>represents </a:t>
            </a:r>
            <a:r>
              <a:rPr sz="3300" b="1" dirty="0">
                <a:latin typeface="Calibri"/>
                <a:cs typeface="Calibri"/>
              </a:rPr>
              <a:t>the </a:t>
            </a:r>
            <a:r>
              <a:rPr sz="3300" b="1" spc="-10" dirty="0">
                <a:latin typeface="Calibri"/>
                <a:cs typeface="Calibri"/>
              </a:rPr>
              <a:t>language containing  </a:t>
            </a:r>
            <a:r>
              <a:rPr sz="3300" b="1" dirty="0">
                <a:latin typeface="Calibri"/>
                <a:cs typeface="Calibri"/>
              </a:rPr>
              <a:t>a single string, the </a:t>
            </a:r>
            <a:r>
              <a:rPr sz="3300" b="1" spc="-5" dirty="0">
                <a:latin typeface="Calibri"/>
                <a:cs typeface="Calibri"/>
              </a:rPr>
              <a:t>empty string. </a:t>
            </a:r>
            <a:r>
              <a:rPr sz="3300" b="1" dirty="0">
                <a:solidFill>
                  <a:srgbClr val="990033"/>
                </a:solidFill>
                <a:latin typeface="Wingdings"/>
                <a:cs typeface="Wingdings"/>
              </a:rPr>
              <a:t></a:t>
            </a:r>
            <a:r>
              <a:rPr sz="3300" b="1" spc="-9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r>
              <a:rPr sz="33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λ</a:t>
            </a:r>
            <a:r>
              <a:rPr sz="3300" b="1" spc="-5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sz="3300">
              <a:latin typeface="Calibri"/>
              <a:cs typeface="Calibri"/>
            </a:endParaRPr>
          </a:p>
          <a:p>
            <a:pPr marL="756285" marR="1066165" lvl="1" indent="-287020">
              <a:lnSpc>
                <a:spcPts val="3350"/>
              </a:lnSpc>
              <a:spcBef>
                <a:spcPts val="960"/>
              </a:spcBef>
              <a:buFont typeface="Arial"/>
              <a:buChar char="–"/>
              <a:tabLst>
                <a:tab pos="756920" algn="l"/>
              </a:tabLst>
            </a:pPr>
            <a:r>
              <a:rPr sz="3300" b="1" dirty="0">
                <a:solidFill>
                  <a:srgbClr val="0000CC"/>
                </a:solidFill>
                <a:latin typeface="Calibri"/>
                <a:cs typeface="Calibri"/>
              </a:rPr>
              <a:t>R = </a:t>
            </a:r>
            <a:r>
              <a:rPr sz="3300" b="1" spc="-5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r>
              <a:rPr sz="33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300" b="1" spc="-15" dirty="0">
                <a:latin typeface="Calibri"/>
                <a:cs typeface="Calibri"/>
              </a:rPr>
              <a:t>represents </a:t>
            </a:r>
            <a:r>
              <a:rPr sz="3300" b="1" dirty="0">
                <a:latin typeface="Calibri"/>
                <a:cs typeface="Calibri"/>
              </a:rPr>
              <a:t>the </a:t>
            </a:r>
            <a:r>
              <a:rPr sz="3300" b="1" spc="-10" dirty="0">
                <a:latin typeface="Calibri"/>
                <a:cs typeface="Calibri"/>
              </a:rPr>
              <a:t>language</a:t>
            </a:r>
            <a:r>
              <a:rPr sz="3300" b="1" spc="-95" dirty="0">
                <a:latin typeface="Calibri"/>
                <a:cs typeface="Calibri"/>
              </a:rPr>
              <a:t> </a:t>
            </a:r>
            <a:r>
              <a:rPr sz="3300" b="1" spc="-10" dirty="0">
                <a:latin typeface="Calibri"/>
                <a:cs typeface="Calibri"/>
              </a:rPr>
              <a:t>that  </a:t>
            </a:r>
            <a:r>
              <a:rPr sz="3300" b="1" dirty="0">
                <a:latin typeface="Calibri"/>
                <a:cs typeface="Calibri"/>
              </a:rPr>
              <a:t>doesn</a:t>
            </a:r>
            <a:r>
              <a:rPr sz="3300" b="1" dirty="0">
                <a:latin typeface="Times New Roman"/>
                <a:cs typeface="Times New Roman"/>
              </a:rPr>
              <a:t>’</a:t>
            </a:r>
            <a:r>
              <a:rPr sz="3300" b="1" dirty="0">
                <a:latin typeface="Calibri"/>
                <a:cs typeface="Calibri"/>
              </a:rPr>
              <a:t>t </a:t>
            </a:r>
            <a:r>
              <a:rPr sz="3300" b="1" spc="-15" dirty="0">
                <a:latin typeface="Calibri"/>
                <a:cs typeface="Calibri"/>
              </a:rPr>
              <a:t>contain </a:t>
            </a:r>
            <a:r>
              <a:rPr sz="3300" b="1" spc="-20" dirty="0">
                <a:latin typeface="Calibri"/>
                <a:cs typeface="Calibri"/>
              </a:rPr>
              <a:t>any</a:t>
            </a:r>
            <a:r>
              <a:rPr sz="3300" b="1" spc="5" dirty="0">
                <a:latin typeface="Calibri"/>
                <a:cs typeface="Calibri"/>
              </a:rPr>
              <a:t> </a:t>
            </a:r>
            <a:r>
              <a:rPr sz="3300" b="1" spc="-5" dirty="0">
                <a:latin typeface="Calibri"/>
                <a:cs typeface="Calibri"/>
              </a:rPr>
              <a:t>strings.</a:t>
            </a:r>
            <a:endParaRPr sz="33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88518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8131"/>
            <a:ext cx="8063230" cy="41351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10" dirty="0">
                <a:latin typeface="Calibri"/>
                <a:cs typeface="Calibri"/>
              </a:rPr>
              <a:t>Let </a:t>
            </a:r>
            <a:r>
              <a:rPr sz="3200" b="1" spc="-5" dirty="0">
                <a:latin typeface="Calibri"/>
                <a:cs typeface="Calibri"/>
              </a:rPr>
              <a:t>consider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5" dirty="0">
                <a:latin typeface="Calibri"/>
                <a:cs typeface="Calibri"/>
              </a:rPr>
              <a:t>language </a:t>
            </a:r>
            <a:r>
              <a:rPr sz="3200" b="1" spc="-10" dirty="0">
                <a:latin typeface="Calibri"/>
                <a:cs typeface="Calibri"/>
              </a:rPr>
              <a:t>defined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by</a:t>
            </a:r>
            <a:endParaRPr sz="3200">
              <a:latin typeface="Calibri"/>
              <a:cs typeface="Calibri"/>
            </a:endParaRPr>
          </a:p>
          <a:p>
            <a:pPr marL="2564130">
              <a:lnSpc>
                <a:spcPct val="100000"/>
              </a:lnSpc>
              <a:spcBef>
                <a:spcPts val="815"/>
              </a:spcBef>
            </a:pP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(a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b)*a(a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200" b="1" spc="-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does it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produce</a:t>
            </a:r>
            <a:r>
              <a:rPr sz="3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65"/>
              </a:spcBef>
            </a:pPr>
            <a:r>
              <a:rPr sz="3200" b="1" spc="-5" dirty="0">
                <a:latin typeface="Calibri"/>
                <a:cs typeface="Calibri"/>
              </a:rPr>
              <a:t>The language </a:t>
            </a:r>
            <a:r>
              <a:rPr sz="3200" b="1" dirty="0">
                <a:latin typeface="Calibri"/>
                <a:cs typeface="Calibri"/>
              </a:rPr>
              <a:t>of all </a:t>
            </a:r>
            <a:r>
              <a:rPr sz="3200" b="1" spc="-10" dirty="0">
                <a:latin typeface="Calibri"/>
                <a:cs typeface="Calibri"/>
              </a:rPr>
              <a:t>words over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alphabet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25"/>
              </a:spcBef>
            </a:pP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2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= {a, b} </a:t>
            </a:r>
            <a:r>
              <a:rPr sz="3200" b="1" spc="-5" dirty="0">
                <a:latin typeface="Calibri"/>
                <a:cs typeface="Calibri"/>
              </a:rPr>
              <a:t>that </a:t>
            </a:r>
            <a:r>
              <a:rPr sz="3200" b="1" spc="-20" dirty="0">
                <a:latin typeface="Calibri"/>
                <a:cs typeface="Calibri"/>
              </a:rPr>
              <a:t>have </a:t>
            </a:r>
            <a:r>
              <a:rPr sz="3200" b="1" dirty="0">
                <a:latin typeface="Calibri"/>
                <a:cs typeface="Calibri"/>
              </a:rPr>
              <a:t>an </a:t>
            </a:r>
            <a:r>
              <a:rPr sz="3200" b="1" i="1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200" b="1" dirty="0">
                <a:latin typeface="Calibri"/>
                <a:cs typeface="Calibri"/>
              </a:rPr>
              <a:t>in</a:t>
            </a:r>
            <a:r>
              <a:rPr sz="3200" b="1" spc="-1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somewhere.</a:t>
            </a:r>
            <a:endParaRPr sz="3200">
              <a:latin typeface="Calibri"/>
              <a:cs typeface="Calibri"/>
            </a:endParaRPr>
          </a:p>
          <a:p>
            <a:pPr marL="355600" marR="5080">
              <a:lnSpc>
                <a:spcPct val="116199"/>
              </a:lnSpc>
              <a:spcBef>
                <a:spcPts val="290"/>
              </a:spcBef>
            </a:pPr>
            <a:r>
              <a:rPr sz="3200" b="1" spc="-5" dirty="0">
                <a:latin typeface="Calibri"/>
                <a:cs typeface="Calibri"/>
              </a:rPr>
              <a:t>Only </a:t>
            </a:r>
            <a:r>
              <a:rPr sz="3200" b="1" spc="-10" dirty="0">
                <a:latin typeface="Calibri"/>
                <a:cs typeface="Calibri"/>
              </a:rPr>
              <a:t>words </a:t>
            </a:r>
            <a:r>
              <a:rPr sz="3200" b="1" spc="-5" dirty="0">
                <a:latin typeface="Calibri"/>
                <a:cs typeface="Calibri"/>
              </a:rPr>
              <a:t>which </a:t>
            </a:r>
            <a:r>
              <a:rPr sz="3200" b="1" spc="-10" dirty="0">
                <a:latin typeface="Calibri"/>
                <a:cs typeface="Calibri"/>
              </a:rPr>
              <a:t>are </a:t>
            </a:r>
            <a:r>
              <a:rPr sz="3200" b="1" spc="-5" dirty="0">
                <a:latin typeface="Calibri"/>
                <a:cs typeface="Calibri"/>
              </a:rPr>
              <a:t>not </a:t>
            </a:r>
            <a:r>
              <a:rPr sz="3200" b="1" dirty="0">
                <a:latin typeface="Calibri"/>
                <a:cs typeface="Calibri"/>
              </a:rPr>
              <a:t>in this </a:t>
            </a:r>
            <a:r>
              <a:rPr sz="3200" b="1" spc="-5" dirty="0">
                <a:latin typeface="Calibri"/>
                <a:cs typeface="Calibri"/>
              </a:rPr>
              <a:t>language</a:t>
            </a:r>
            <a:r>
              <a:rPr sz="3200" b="1" spc="-1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are  </a:t>
            </a:r>
            <a:r>
              <a:rPr sz="3200" b="1" dirty="0">
                <a:latin typeface="Calibri"/>
                <a:cs typeface="Calibri"/>
              </a:rPr>
              <a:t>those </a:t>
            </a:r>
            <a:r>
              <a:rPr sz="3200" b="1" spc="-5" dirty="0">
                <a:latin typeface="Calibri"/>
                <a:cs typeface="Calibri"/>
              </a:rPr>
              <a:t>that </a:t>
            </a:r>
            <a:r>
              <a:rPr sz="3200" b="1" spc="-20" dirty="0">
                <a:latin typeface="Calibri"/>
                <a:cs typeface="Calibri"/>
              </a:rPr>
              <a:t>have </a:t>
            </a:r>
            <a:r>
              <a:rPr sz="3200" b="1" dirty="0">
                <a:latin typeface="Calibri"/>
                <a:cs typeface="Calibri"/>
              </a:rPr>
              <a:t>only </a:t>
            </a:r>
            <a:r>
              <a:rPr sz="3200" b="1" spc="-9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200" b="1" spc="-90" dirty="0">
                <a:latin typeface="Arial Narrow"/>
                <a:cs typeface="Arial Narrow"/>
              </a:rPr>
              <a:t>’</a:t>
            </a:r>
            <a:r>
              <a:rPr sz="3200" b="1" spc="-90" dirty="0">
                <a:latin typeface="Calibri"/>
                <a:cs typeface="Calibri"/>
              </a:rPr>
              <a:t>s </a:t>
            </a:r>
            <a:r>
              <a:rPr sz="3200" b="1" dirty="0">
                <a:latin typeface="Calibri"/>
                <a:cs typeface="Calibri"/>
              </a:rPr>
              <a:t>and the </a:t>
            </a:r>
            <a:r>
              <a:rPr sz="3200" b="1" spc="-15" dirty="0">
                <a:latin typeface="Calibri"/>
                <a:cs typeface="Calibri"/>
              </a:rPr>
              <a:t>word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200" b="1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80827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61594"/>
            <a:ext cx="5509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Union of </a:t>
            </a:r>
            <a:r>
              <a:rPr spc="-15" dirty="0"/>
              <a:t>two</a:t>
            </a:r>
            <a:r>
              <a:rPr spc="-70" dirty="0"/>
              <a:t> </a:t>
            </a:r>
            <a:r>
              <a:rPr spc="-10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3633"/>
            <a:ext cx="7689215" cy="423037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marR="55244" indent="-342900">
              <a:lnSpc>
                <a:spcPts val="38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</a:tabLst>
            </a:pPr>
            <a:r>
              <a:rPr sz="3800" b="1" spc="-5" dirty="0">
                <a:latin typeface="Calibri"/>
                <a:cs typeface="Calibri"/>
              </a:rPr>
              <a:t>Those </a:t>
            </a:r>
            <a:r>
              <a:rPr sz="3800" b="1" spc="-20" dirty="0">
                <a:latin typeface="Calibri"/>
                <a:cs typeface="Calibri"/>
              </a:rPr>
              <a:t>words </a:t>
            </a:r>
            <a:r>
              <a:rPr sz="3800" b="1" spc="-5" dirty="0">
                <a:latin typeface="Calibri"/>
                <a:cs typeface="Calibri"/>
              </a:rPr>
              <a:t>which compose </a:t>
            </a:r>
            <a:r>
              <a:rPr sz="3800" b="1" dirty="0">
                <a:latin typeface="Calibri"/>
                <a:cs typeface="Calibri"/>
              </a:rPr>
              <a:t>of </a:t>
            </a:r>
            <a:r>
              <a:rPr sz="3800" b="1" spc="-5" dirty="0">
                <a:latin typeface="Calibri"/>
                <a:cs typeface="Calibri"/>
              </a:rPr>
              <a:t>only </a:t>
            </a:r>
            <a:r>
              <a:rPr sz="38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800" b="1" spc="-7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800" b="1" spc="-75" dirty="0">
                <a:latin typeface="Calibri"/>
                <a:cs typeface="Calibri"/>
              </a:rPr>
              <a:t>’s </a:t>
            </a:r>
            <a:r>
              <a:rPr sz="3800" b="1" spc="-15" dirty="0">
                <a:latin typeface="Calibri"/>
                <a:cs typeface="Calibri"/>
              </a:rPr>
              <a:t>are </a:t>
            </a:r>
            <a:r>
              <a:rPr sz="3800" b="1" spc="-5" dirty="0">
                <a:latin typeface="Calibri"/>
                <a:cs typeface="Calibri"/>
              </a:rPr>
              <a:t>defined </a:t>
            </a:r>
            <a:r>
              <a:rPr sz="3800" b="1" spc="-15" dirty="0">
                <a:latin typeface="Calibri"/>
                <a:cs typeface="Calibri"/>
              </a:rPr>
              <a:t>by </a:t>
            </a:r>
            <a:r>
              <a:rPr sz="3800" b="1" dirty="0">
                <a:latin typeface="Calibri"/>
                <a:cs typeface="Calibri"/>
              </a:rPr>
              <a:t>the </a:t>
            </a:r>
            <a:r>
              <a:rPr sz="3800" b="1" spc="-15" dirty="0">
                <a:latin typeface="Calibri"/>
                <a:cs typeface="Calibri"/>
              </a:rPr>
              <a:t>expression</a:t>
            </a:r>
            <a:r>
              <a:rPr sz="3800" b="1" spc="30" dirty="0">
                <a:latin typeface="Calibri"/>
                <a:cs typeface="Calibri"/>
              </a:rPr>
              <a:t> </a:t>
            </a:r>
            <a:r>
              <a:rPr sz="3800" b="1" spc="-60" dirty="0">
                <a:solidFill>
                  <a:srgbClr val="0000CC"/>
                </a:solidFill>
                <a:latin typeface="Calibri"/>
                <a:cs typeface="Calibri"/>
              </a:rPr>
              <a:t>b*</a:t>
            </a:r>
            <a:r>
              <a:rPr sz="3800" b="1" spc="-60" dirty="0">
                <a:latin typeface="Arial Narrow"/>
                <a:cs typeface="Arial Narrow"/>
              </a:rPr>
              <a:t>.</a:t>
            </a:r>
            <a:endParaRPr sz="3800">
              <a:latin typeface="Arial Narrow"/>
              <a:cs typeface="Arial Narrow"/>
            </a:endParaRPr>
          </a:p>
          <a:p>
            <a:pPr marL="737870">
              <a:lnSpc>
                <a:spcPts val="4015"/>
              </a:lnSpc>
            </a:pPr>
            <a:r>
              <a:rPr sz="3800" b="1" spc="-75" dirty="0">
                <a:latin typeface="Arial Narrow"/>
                <a:cs typeface="Arial Narrow"/>
              </a:rPr>
              <a:t>(</a:t>
            </a:r>
            <a:r>
              <a:rPr sz="3800" b="1" spc="-75" dirty="0">
                <a:solidFill>
                  <a:srgbClr val="0000CC"/>
                </a:solidFill>
                <a:latin typeface="Calibri"/>
                <a:cs typeface="Calibri"/>
              </a:rPr>
              <a:t>b* </a:t>
            </a:r>
            <a:r>
              <a:rPr sz="3800" b="1" spc="-5" dirty="0">
                <a:latin typeface="Calibri"/>
                <a:cs typeface="Calibri"/>
              </a:rPr>
              <a:t>also </a:t>
            </a:r>
            <a:r>
              <a:rPr sz="3800" b="1" dirty="0">
                <a:latin typeface="Calibri"/>
                <a:cs typeface="Calibri"/>
              </a:rPr>
              <a:t>includes the null </a:t>
            </a:r>
            <a:r>
              <a:rPr sz="3800" b="1" spc="-10" dirty="0">
                <a:latin typeface="Calibri"/>
                <a:cs typeface="Calibri"/>
              </a:rPr>
              <a:t>string</a:t>
            </a:r>
            <a:r>
              <a:rPr sz="3800" b="1" spc="-30" dirty="0">
                <a:latin typeface="Calibri"/>
                <a:cs typeface="Calibri"/>
              </a:rPr>
              <a:t> </a:t>
            </a:r>
            <a:r>
              <a:rPr sz="3800" b="1" spc="-100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3800" b="1" spc="-100" dirty="0">
                <a:latin typeface="Arial Narrow"/>
                <a:cs typeface="Arial Narrow"/>
              </a:rPr>
              <a:t>)</a:t>
            </a:r>
            <a:endParaRPr sz="3800">
              <a:latin typeface="Arial Narrow"/>
              <a:cs typeface="Arial Narrow"/>
            </a:endParaRPr>
          </a:p>
          <a:p>
            <a:pPr marL="355600" marR="5080" indent="-342900">
              <a:lnSpc>
                <a:spcPts val="3910"/>
              </a:lnSpc>
              <a:spcBef>
                <a:spcPts val="545"/>
              </a:spcBef>
              <a:buFont typeface="Arial"/>
              <a:buChar char="•"/>
              <a:tabLst>
                <a:tab pos="355600" algn="l"/>
              </a:tabLst>
            </a:pPr>
            <a:r>
              <a:rPr sz="3800" b="1" spc="-20" dirty="0">
                <a:latin typeface="Calibri"/>
                <a:cs typeface="Calibri"/>
              </a:rPr>
              <a:t>Therefore, </a:t>
            </a:r>
            <a:r>
              <a:rPr sz="3800" b="1" dirty="0">
                <a:latin typeface="Calibri"/>
                <a:cs typeface="Calibri"/>
              </a:rPr>
              <a:t>the </a:t>
            </a:r>
            <a:r>
              <a:rPr sz="3800" b="1" spc="-10" dirty="0">
                <a:latin typeface="Calibri"/>
                <a:cs typeface="Calibri"/>
              </a:rPr>
              <a:t>language </a:t>
            </a:r>
            <a:r>
              <a:rPr sz="3800" b="1" dirty="0">
                <a:latin typeface="Calibri"/>
                <a:cs typeface="Calibri"/>
              </a:rPr>
              <a:t>of all </a:t>
            </a:r>
            <a:r>
              <a:rPr sz="3800" b="1" spc="-10" dirty="0">
                <a:latin typeface="Calibri"/>
                <a:cs typeface="Calibri"/>
              </a:rPr>
              <a:t>strings  </a:t>
            </a:r>
            <a:r>
              <a:rPr sz="3800" b="1" spc="-15" dirty="0">
                <a:latin typeface="Calibri"/>
                <a:cs typeface="Calibri"/>
              </a:rPr>
              <a:t>over </a:t>
            </a:r>
            <a:r>
              <a:rPr sz="3800" b="1" dirty="0">
                <a:latin typeface="Calibri"/>
                <a:cs typeface="Calibri"/>
              </a:rPr>
              <a:t>the </a:t>
            </a:r>
            <a:r>
              <a:rPr sz="3800" b="1" spc="-5" dirty="0">
                <a:latin typeface="Calibri"/>
                <a:cs typeface="Calibri"/>
              </a:rPr>
              <a:t>alphabet </a:t>
            </a:r>
            <a:r>
              <a:rPr sz="3800" b="1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8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3800" b="1" spc="-5" dirty="0">
                <a:solidFill>
                  <a:srgbClr val="0000CC"/>
                </a:solidFill>
                <a:latin typeface="Calibri"/>
                <a:cs typeface="Calibri"/>
              </a:rPr>
              <a:t>{a, </a:t>
            </a:r>
            <a:r>
              <a:rPr sz="3800" b="1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r>
              <a:rPr sz="3800" b="1" spc="-1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800" b="1" spc="-15" dirty="0">
                <a:latin typeface="Calibri"/>
                <a:cs typeface="Calibri"/>
              </a:rPr>
              <a:t>are</a:t>
            </a:r>
            <a:endParaRPr sz="3800">
              <a:latin typeface="Calibri"/>
              <a:cs typeface="Calibri"/>
            </a:endParaRPr>
          </a:p>
          <a:p>
            <a:pPr marL="469900">
              <a:lnSpc>
                <a:spcPts val="3835"/>
              </a:lnSpc>
            </a:pPr>
            <a:r>
              <a:rPr sz="3800" b="1" dirty="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3800" b="1" spc="-10" dirty="0">
                <a:solidFill>
                  <a:srgbClr val="C00000"/>
                </a:solidFill>
                <a:latin typeface="Calibri"/>
                <a:cs typeface="Calibri"/>
              </a:rPr>
              <a:t>strings </a:t>
            </a:r>
            <a:r>
              <a:rPr sz="3800" b="1" dirty="0">
                <a:latin typeface="Calibri"/>
                <a:cs typeface="Calibri"/>
              </a:rPr>
              <a:t>= </a:t>
            </a:r>
            <a:r>
              <a:rPr sz="3800" b="1" spc="-5" dirty="0">
                <a:latin typeface="Calibri"/>
                <a:cs typeface="Calibri"/>
              </a:rPr>
              <a:t>(all </a:t>
            </a:r>
            <a:r>
              <a:rPr sz="3800" b="1" spc="-10" dirty="0">
                <a:latin typeface="Calibri"/>
                <a:cs typeface="Calibri"/>
              </a:rPr>
              <a:t>strings </a:t>
            </a:r>
            <a:r>
              <a:rPr sz="3800" b="1" spc="-5" dirty="0">
                <a:latin typeface="Calibri"/>
                <a:cs typeface="Calibri"/>
              </a:rPr>
              <a:t>with </a:t>
            </a:r>
            <a:r>
              <a:rPr sz="3800" b="1" dirty="0">
                <a:latin typeface="Calibri"/>
                <a:cs typeface="Calibri"/>
              </a:rPr>
              <a:t>an </a:t>
            </a:r>
            <a:r>
              <a:rPr sz="3800" b="1" spc="-1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800" b="1" spc="-110" dirty="0">
                <a:latin typeface="Arial Narrow"/>
                <a:cs typeface="Arial Narrow"/>
              </a:rPr>
              <a:t>)</a:t>
            </a:r>
            <a:r>
              <a:rPr sz="3800" b="1" spc="-30" dirty="0">
                <a:latin typeface="Arial Narrow"/>
                <a:cs typeface="Arial Narrow"/>
              </a:rPr>
              <a:t> </a:t>
            </a:r>
            <a:r>
              <a:rPr sz="3800" b="1" dirty="0">
                <a:latin typeface="Symbol"/>
                <a:cs typeface="Symbol"/>
              </a:rPr>
              <a:t></a:t>
            </a:r>
            <a:endParaRPr sz="3800">
              <a:latin typeface="Symbol"/>
              <a:cs typeface="Symbol"/>
            </a:endParaRPr>
          </a:p>
          <a:p>
            <a:pPr marL="756285">
              <a:lnSpc>
                <a:spcPts val="4105"/>
              </a:lnSpc>
            </a:pPr>
            <a:r>
              <a:rPr sz="3800" b="1" dirty="0">
                <a:latin typeface="Calibri"/>
                <a:cs typeface="Calibri"/>
              </a:rPr>
              <a:t>(all </a:t>
            </a:r>
            <a:r>
              <a:rPr sz="3800" b="1" spc="-10" dirty="0">
                <a:latin typeface="Calibri"/>
                <a:cs typeface="Calibri"/>
              </a:rPr>
              <a:t>string </a:t>
            </a:r>
            <a:r>
              <a:rPr sz="3800" b="1" spc="-5" dirty="0">
                <a:latin typeface="Calibri"/>
                <a:cs typeface="Calibri"/>
              </a:rPr>
              <a:t>without </a:t>
            </a:r>
            <a:r>
              <a:rPr sz="3800" b="1" dirty="0">
                <a:latin typeface="Calibri"/>
                <a:cs typeface="Calibri"/>
              </a:rPr>
              <a:t>an</a:t>
            </a:r>
            <a:r>
              <a:rPr sz="3800" b="1" spc="-35" dirty="0">
                <a:latin typeface="Calibri"/>
                <a:cs typeface="Calibri"/>
              </a:rPr>
              <a:t> </a:t>
            </a:r>
            <a:r>
              <a:rPr sz="3800" b="1" spc="-1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800" b="1" spc="-110" dirty="0">
                <a:latin typeface="Arial Narrow"/>
                <a:cs typeface="Arial Narrow"/>
              </a:rPr>
              <a:t>)</a:t>
            </a:r>
            <a:endParaRPr sz="3800">
              <a:latin typeface="Arial Narrow"/>
              <a:cs typeface="Arial Narrow"/>
            </a:endParaRPr>
          </a:p>
          <a:p>
            <a:pPr marL="927100">
              <a:lnSpc>
                <a:spcPts val="4355"/>
              </a:lnSpc>
            </a:pPr>
            <a:r>
              <a:rPr sz="3800" b="1" dirty="0">
                <a:latin typeface="Calibri"/>
                <a:cs typeface="Calibri"/>
              </a:rPr>
              <a:t>(a </a:t>
            </a:r>
            <a:r>
              <a:rPr sz="3800" b="1" dirty="0">
                <a:latin typeface="Symbol"/>
                <a:cs typeface="Symbol"/>
              </a:rPr>
              <a:t></a:t>
            </a:r>
            <a:r>
              <a:rPr sz="3800" b="1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Calibri"/>
                <a:cs typeface="Calibri"/>
              </a:rPr>
              <a:t>b)* = </a:t>
            </a:r>
            <a:r>
              <a:rPr sz="3800" b="1" dirty="0">
                <a:solidFill>
                  <a:srgbClr val="C00000"/>
                </a:solidFill>
                <a:latin typeface="Calibri"/>
                <a:cs typeface="Calibri"/>
              </a:rPr>
              <a:t>(a </a:t>
            </a:r>
            <a:r>
              <a:rPr sz="3800" b="1" dirty="0">
                <a:solidFill>
                  <a:srgbClr val="C00000"/>
                </a:solidFill>
                <a:latin typeface="Symbol"/>
                <a:cs typeface="Symbol"/>
              </a:rPr>
              <a:t></a:t>
            </a:r>
            <a:r>
              <a:rPr sz="3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C00000"/>
                </a:solidFill>
                <a:latin typeface="Calibri"/>
                <a:cs typeface="Calibri"/>
              </a:rPr>
              <a:t>b)*a(a </a:t>
            </a:r>
            <a:r>
              <a:rPr sz="3800" b="1" dirty="0">
                <a:solidFill>
                  <a:srgbClr val="C00000"/>
                </a:solidFill>
                <a:latin typeface="Symbol"/>
                <a:cs typeface="Symbol"/>
              </a:rPr>
              <a:t></a:t>
            </a:r>
            <a:r>
              <a:rPr sz="3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C00000"/>
                </a:solidFill>
                <a:latin typeface="Calibri"/>
                <a:cs typeface="Calibri"/>
              </a:rPr>
              <a:t>b)* </a:t>
            </a:r>
            <a:r>
              <a:rPr sz="3800" b="1" dirty="0">
                <a:latin typeface="Symbol"/>
                <a:cs typeface="Symbol"/>
              </a:rPr>
              <a:t></a:t>
            </a:r>
            <a:r>
              <a:rPr sz="3800" b="1" spc="-450" dirty="0">
                <a:latin typeface="Times New Roman"/>
                <a:cs typeface="Times New Roman"/>
              </a:rPr>
              <a:t> </a:t>
            </a:r>
            <a:r>
              <a:rPr sz="3800" b="1" spc="-5" dirty="0">
                <a:latin typeface="Calibri"/>
                <a:cs typeface="Calibri"/>
              </a:rPr>
              <a:t>b*</a:t>
            </a:r>
            <a:endParaRPr sz="3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30996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2486"/>
            <a:ext cx="7746365" cy="412051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55600" marR="121285" indent="-342900">
              <a:lnSpc>
                <a:spcPct val="751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3700" b="1" spc="-10" dirty="0">
                <a:latin typeface="Calibri"/>
                <a:cs typeface="Calibri"/>
              </a:rPr>
              <a:t>How can we </a:t>
            </a:r>
            <a:r>
              <a:rPr sz="3700" b="1" spc="-5" dirty="0">
                <a:latin typeface="Calibri"/>
                <a:cs typeface="Calibri"/>
              </a:rPr>
              <a:t>describe the </a:t>
            </a:r>
            <a:r>
              <a:rPr sz="3700" b="1" spc="-10" dirty="0">
                <a:latin typeface="Calibri"/>
                <a:cs typeface="Calibri"/>
              </a:rPr>
              <a:t>language </a:t>
            </a:r>
            <a:r>
              <a:rPr sz="3700" b="1" spc="-5" dirty="0">
                <a:latin typeface="Calibri"/>
                <a:cs typeface="Calibri"/>
              </a:rPr>
              <a:t>of  all </a:t>
            </a:r>
            <a:r>
              <a:rPr sz="3700" b="1" spc="-20" dirty="0">
                <a:latin typeface="Calibri"/>
                <a:cs typeface="Calibri"/>
              </a:rPr>
              <a:t>words </a:t>
            </a:r>
            <a:r>
              <a:rPr sz="3700" b="1" spc="-15" dirty="0">
                <a:latin typeface="Calibri"/>
                <a:cs typeface="Calibri"/>
              </a:rPr>
              <a:t>that </a:t>
            </a:r>
            <a:r>
              <a:rPr sz="3700" b="1" spc="-25" dirty="0">
                <a:latin typeface="Calibri"/>
                <a:cs typeface="Calibri"/>
              </a:rPr>
              <a:t>have </a:t>
            </a:r>
            <a:r>
              <a:rPr sz="3700" b="1" spc="-25" dirty="0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sz="3700" b="1" spc="-10" dirty="0">
                <a:solidFill>
                  <a:srgbClr val="C00000"/>
                </a:solidFill>
                <a:latin typeface="Calibri"/>
                <a:cs typeface="Calibri"/>
              </a:rPr>
              <a:t>least </a:t>
            </a:r>
            <a:r>
              <a:rPr sz="3700" b="1" spc="-15" dirty="0">
                <a:latin typeface="Calibri"/>
                <a:cs typeface="Calibri"/>
              </a:rPr>
              <a:t>two </a:t>
            </a:r>
            <a:r>
              <a:rPr sz="3700" b="1" spc="-10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105" dirty="0">
                <a:latin typeface="Arial Narrow"/>
                <a:cs typeface="Arial Narrow"/>
              </a:rPr>
              <a:t>’</a:t>
            </a:r>
            <a:r>
              <a:rPr sz="3700" b="1" spc="-105" dirty="0">
                <a:latin typeface="Calibri"/>
                <a:cs typeface="Calibri"/>
              </a:rPr>
              <a:t>s</a:t>
            </a:r>
            <a:r>
              <a:rPr sz="3700" b="1" spc="125" dirty="0">
                <a:latin typeface="Calibri"/>
                <a:cs typeface="Calibri"/>
              </a:rPr>
              <a:t> </a:t>
            </a:r>
            <a:r>
              <a:rPr sz="3700" b="1" spc="-5" dirty="0">
                <a:latin typeface="Calibri"/>
                <a:cs typeface="Calibri"/>
              </a:rPr>
              <a:t>?</a:t>
            </a:r>
            <a:endParaRPr sz="3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700" b="1" spc="-10" dirty="0">
                <a:solidFill>
                  <a:srgbClr val="CC0000"/>
                </a:solidFill>
                <a:latin typeface="Calibri"/>
                <a:cs typeface="Calibri"/>
              </a:rPr>
              <a:t>Answer</a:t>
            </a:r>
            <a:endParaRPr sz="3700">
              <a:latin typeface="Calibri"/>
              <a:cs typeface="Calibri"/>
            </a:endParaRPr>
          </a:p>
          <a:p>
            <a:pPr marL="327025" algn="ctr">
              <a:lnSpc>
                <a:spcPct val="100000"/>
              </a:lnSpc>
              <a:spcBef>
                <a:spcPts val="50"/>
              </a:spcBef>
            </a:pPr>
            <a:r>
              <a:rPr sz="3700" b="1" spc="-5" dirty="0">
                <a:latin typeface="Calibri"/>
                <a:cs typeface="Calibri"/>
              </a:rPr>
              <a:t>(a </a:t>
            </a:r>
            <a:r>
              <a:rPr sz="3700" b="1" spc="-5" dirty="0">
                <a:latin typeface="Symbol"/>
                <a:cs typeface="Symbol"/>
              </a:rPr>
              <a:t></a:t>
            </a:r>
            <a:r>
              <a:rPr sz="3700" b="1" spc="-5" dirty="0"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b)*</a:t>
            </a:r>
            <a:r>
              <a:rPr sz="37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(a </a:t>
            </a:r>
            <a:r>
              <a:rPr sz="3700" b="1" spc="-5" dirty="0">
                <a:latin typeface="Symbol"/>
                <a:cs typeface="Symbol"/>
              </a:rPr>
              <a:t></a:t>
            </a:r>
            <a:r>
              <a:rPr sz="3700" b="1" spc="-5" dirty="0"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b)*</a:t>
            </a:r>
            <a:r>
              <a:rPr sz="37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(a </a:t>
            </a:r>
            <a:r>
              <a:rPr sz="3700" b="1" spc="-5" dirty="0">
                <a:latin typeface="Symbol"/>
                <a:cs typeface="Symbol"/>
              </a:rPr>
              <a:t></a:t>
            </a:r>
            <a:r>
              <a:rPr sz="3700" b="1" spc="-280" dirty="0">
                <a:latin typeface="Times New Roman"/>
                <a:cs typeface="Times New Roman"/>
              </a:rPr>
              <a:t> </a:t>
            </a:r>
            <a:r>
              <a:rPr sz="3700" b="1" spc="-5" dirty="0">
                <a:latin typeface="Calibri"/>
                <a:cs typeface="Calibri"/>
              </a:rPr>
              <a:t>b)*</a:t>
            </a:r>
            <a:endParaRPr sz="3700">
              <a:latin typeface="Calibri"/>
              <a:cs typeface="Calibri"/>
            </a:endParaRPr>
          </a:p>
          <a:p>
            <a:pPr marL="355600" marR="637540" indent="-342900">
              <a:lnSpc>
                <a:spcPct val="74900"/>
              </a:lnSpc>
              <a:spcBef>
                <a:spcPts val="2220"/>
              </a:spcBef>
            </a:pPr>
            <a:r>
              <a:rPr sz="3700" b="1" spc="-5" dirty="0">
                <a:latin typeface="Calibri"/>
                <a:cs typeface="Calibri"/>
              </a:rPr>
              <a:t>= </a:t>
            </a:r>
            <a:r>
              <a:rPr sz="3700" b="1" dirty="0">
                <a:latin typeface="Calibri"/>
                <a:cs typeface="Calibri"/>
              </a:rPr>
              <a:t>(some </a:t>
            </a:r>
            <a:r>
              <a:rPr sz="3700" b="1" spc="-10" dirty="0">
                <a:latin typeface="Calibri"/>
                <a:cs typeface="Calibri"/>
              </a:rPr>
              <a:t>beginning)(the </a:t>
            </a:r>
            <a:r>
              <a:rPr sz="3700" b="1" spc="-25" dirty="0">
                <a:latin typeface="Calibri"/>
                <a:cs typeface="Calibri"/>
              </a:rPr>
              <a:t>first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)(some  </a:t>
            </a:r>
            <a:r>
              <a:rPr sz="3700" b="1" spc="-10" dirty="0">
                <a:latin typeface="Calibri"/>
                <a:cs typeface="Calibri"/>
              </a:rPr>
              <a:t>middle)(the </a:t>
            </a:r>
            <a:r>
              <a:rPr sz="3700" b="1" spc="-5" dirty="0">
                <a:latin typeface="Calibri"/>
                <a:cs typeface="Calibri"/>
              </a:rPr>
              <a:t>second </a:t>
            </a:r>
            <a:r>
              <a:rPr sz="37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700" b="1" spc="-5" dirty="0">
                <a:latin typeface="Calibri"/>
                <a:cs typeface="Calibri"/>
              </a:rPr>
              <a:t>)(some</a:t>
            </a:r>
            <a:r>
              <a:rPr sz="3700" b="1" spc="80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end)</a:t>
            </a:r>
            <a:endParaRPr sz="3700">
              <a:latin typeface="Calibri"/>
              <a:cs typeface="Calibri"/>
            </a:endParaRPr>
          </a:p>
          <a:p>
            <a:pPr marL="355600" marR="5080">
              <a:lnSpc>
                <a:spcPct val="80000"/>
              </a:lnSpc>
              <a:spcBef>
                <a:spcPts val="1680"/>
              </a:spcBef>
            </a:pPr>
            <a:r>
              <a:rPr sz="2600" b="1" spc="-10" dirty="0">
                <a:latin typeface="Calibri"/>
                <a:cs typeface="Calibri"/>
              </a:rPr>
              <a:t>where </a:t>
            </a:r>
            <a:r>
              <a:rPr sz="2600" b="1" spc="-5" dirty="0">
                <a:latin typeface="Calibri"/>
                <a:cs typeface="Calibri"/>
              </a:rPr>
              <a:t>the </a:t>
            </a:r>
            <a:r>
              <a:rPr sz="2600" b="1" spc="-10" dirty="0">
                <a:latin typeface="Calibri"/>
                <a:cs typeface="Calibri"/>
              </a:rPr>
              <a:t>arbitrary </a:t>
            </a:r>
            <a:r>
              <a:rPr sz="2600" b="1" spc="-5" dirty="0">
                <a:latin typeface="Calibri"/>
                <a:cs typeface="Calibri"/>
              </a:rPr>
              <a:t>parts can </a:t>
            </a:r>
            <a:r>
              <a:rPr sz="2600" b="1" spc="-20" dirty="0">
                <a:latin typeface="Calibri"/>
                <a:cs typeface="Calibri"/>
              </a:rPr>
              <a:t>have </a:t>
            </a:r>
            <a:r>
              <a:rPr sz="2600" b="1" dirty="0">
                <a:latin typeface="Calibri"/>
                <a:cs typeface="Calibri"/>
              </a:rPr>
              <a:t>as </a:t>
            </a:r>
            <a:r>
              <a:rPr sz="2600" b="1" spc="-15" dirty="0">
                <a:latin typeface="Calibri"/>
                <a:cs typeface="Calibri"/>
              </a:rPr>
              <a:t>many </a:t>
            </a:r>
            <a:r>
              <a:rPr sz="2600" b="1" spc="-7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600" b="1" spc="-75" dirty="0">
                <a:latin typeface="Arial Narrow"/>
                <a:cs typeface="Arial Narrow"/>
              </a:rPr>
              <a:t>’</a:t>
            </a:r>
            <a:r>
              <a:rPr sz="2600" b="1" spc="-75" dirty="0">
                <a:latin typeface="Calibri"/>
                <a:cs typeface="Calibri"/>
              </a:rPr>
              <a:t>s </a:t>
            </a:r>
            <a:r>
              <a:rPr sz="2600" b="1" dirty="0">
                <a:latin typeface="Calibri"/>
                <a:cs typeface="Calibri"/>
              </a:rPr>
              <a:t>(or </a:t>
            </a:r>
            <a:r>
              <a:rPr sz="2600" b="1" spc="-5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600" b="1" spc="-55" dirty="0">
                <a:latin typeface="Arial Narrow"/>
                <a:cs typeface="Arial Narrow"/>
              </a:rPr>
              <a:t>’</a:t>
            </a:r>
            <a:r>
              <a:rPr sz="2600" b="1" spc="-55" dirty="0">
                <a:latin typeface="Calibri"/>
                <a:cs typeface="Calibri"/>
              </a:rPr>
              <a:t>s)  </a:t>
            </a:r>
            <a:r>
              <a:rPr sz="2600" b="1" dirty="0">
                <a:latin typeface="Calibri"/>
                <a:cs typeface="Calibri"/>
              </a:rPr>
              <a:t>as </a:t>
            </a:r>
            <a:r>
              <a:rPr sz="2600" b="1" spc="-10" dirty="0">
                <a:latin typeface="Calibri"/>
                <a:cs typeface="Calibri"/>
              </a:rPr>
              <a:t>they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want.</a:t>
            </a:r>
            <a:endParaRPr sz="2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1836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1546"/>
            <a:ext cx="8035290" cy="42932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marR="5080" indent="-342900">
              <a:lnSpc>
                <a:spcPts val="4420"/>
              </a:lnSpc>
              <a:spcBef>
                <a:spcPts val="5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spc="-5" dirty="0">
                <a:latin typeface="Calibri"/>
                <a:cs typeface="Calibri"/>
              </a:rPr>
              <a:t>Is </a:t>
            </a:r>
            <a:r>
              <a:rPr sz="4000" b="1" spc="-15" dirty="0">
                <a:latin typeface="Calibri"/>
                <a:cs typeface="Calibri"/>
              </a:rPr>
              <a:t>there </a:t>
            </a:r>
            <a:r>
              <a:rPr sz="4000" b="1" spc="-30" dirty="0">
                <a:latin typeface="Calibri"/>
                <a:cs typeface="Calibri"/>
              </a:rPr>
              <a:t>any </a:t>
            </a:r>
            <a:r>
              <a:rPr sz="4000" b="1" spc="-5" dirty="0">
                <a:latin typeface="Calibri"/>
                <a:cs typeface="Calibri"/>
              </a:rPr>
              <a:t>other </a:t>
            </a: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RE </a:t>
            </a:r>
            <a:r>
              <a:rPr sz="4000" b="1" spc="-15" dirty="0">
                <a:latin typeface="Calibri"/>
                <a:cs typeface="Calibri"/>
              </a:rPr>
              <a:t>that can </a:t>
            </a:r>
            <a:r>
              <a:rPr sz="4000" b="1" spc="-10" dirty="0">
                <a:latin typeface="Calibri"/>
                <a:cs typeface="Calibri"/>
              </a:rPr>
              <a:t>define  </a:t>
            </a:r>
            <a:r>
              <a:rPr sz="4000" b="1" spc="-5" dirty="0">
                <a:latin typeface="Calibri"/>
                <a:cs typeface="Calibri"/>
              </a:rPr>
              <a:t>the </a:t>
            </a:r>
            <a:r>
              <a:rPr sz="4000" b="1" spc="-10" dirty="0">
                <a:latin typeface="Calibri"/>
                <a:cs typeface="Calibri"/>
              </a:rPr>
              <a:t>language with </a:t>
            </a:r>
            <a:r>
              <a:rPr sz="4000" b="1" spc="-25" dirty="0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sz="4000" b="1" spc="-15" dirty="0">
                <a:solidFill>
                  <a:srgbClr val="C00000"/>
                </a:solidFill>
                <a:latin typeface="Calibri"/>
                <a:cs typeface="Calibri"/>
              </a:rPr>
              <a:t>least </a:t>
            </a:r>
            <a:r>
              <a:rPr sz="4000" b="1" spc="-20" dirty="0">
                <a:latin typeface="Calibri"/>
                <a:cs typeface="Calibri"/>
              </a:rPr>
              <a:t>two </a:t>
            </a:r>
            <a:r>
              <a:rPr sz="4000" b="1" spc="-12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4000" b="1" spc="-120" dirty="0">
                <a:latin typeface="Arial Narrow"/>
                <a:cs typeface="Arial Narrow"/>
              </a:rPr>
              <a:t>’</a:t>
            </a:r>
            <a:r>
              <a:rPr sz="4000" b="1" spc="-120" dirty="0">
                <a:latin typeface="Calibri"/>
                <a:cs typeface="Calibri"/>
              </a:rPr>
              <a:t>s</a:t>
            </a:r>
            <a:r>
              <a:rPr sz="4000" b="1" spc="14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?</a:t>
            </a:r>
            <a:endParaRPr sz="4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90"/>
              </a:spcBef>
            </a:pPr>
            <a:r>
              <a:rPr sz="3600" b="1" spc="-5" dirty="0">
                <a:solidFill>
                  <a:srgbClr val="CC0000"/>
                </a:solidFill>
                <a:latin typeface="Calibri"/>
                <a:cs typeface="Calibri"/>
              </a:rPr>
              <a:t>Answer: </a:t>
            </a:r>
            <a:r>
              <a:rPr sz="3600" b="1" spc="-75" dirty="0">
                <a:latin typeface="Calibri"/>
                <a:cs typeface="Calibri"/>
              </a:rPr>
              <a:t>Yes. </a:t>
            </a:r>
            <a:r>
              <a:rPr sz="3600" b="1" spc="5" dirty="0">
                <a:latin typeface="Calibri"/>
                <a:cs typeface="Calibri"/>
              </a:rPr>
              <a:t>E.g.: </a:t>
            </a:r>
            <a:r>
              <a:rPr sz="3600" b="1" spc="-5" dirty="0">
                <a:latin typeface="Calibri"/>
                <a:cs typeface="Calibri"/>
              </a:rPr>
              <a:t>b*</a:t>
            </a:r>
            <a:r>
              <a:rPr sz="36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600" b="1" spc="-5" dirty="0">
                <a:latin typeface="Calibri"/>
                <a:cs typeface="Calibri"/>
              </a:rPr>
              <a:t>b*</a:t>
            </a:r>
            <a:r>
              <a:rPr sz="36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600" b="1" spc="-5" dirty="0">
                <a:latin typeface="Calibri"/>
                <a:cs typeface="Calibri"/>
              </a:rPr>
              <a:t>(a </a:t>
            </a:r>
            <a:r>
              <a:rPr sz="3600" b="1" dirty="0">
                <a:latin typeface="Symbol"/>
                <a:cs typeface="Symbol"/>
              </a:rPr>
              <a:t>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Calibri"/>
                <a:cs typeface="Calibri"/>
              </a:rPr>
              <a:t>b)*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0"/>
              </a:spcBef>
            </a:pPr>
            <a:r>
              <a:rPr sz="4000" b="1" spc="-390" dirty="0">
                <a:latin typeface="Arial Narrow"/>
                <a:cs typeface="Arial Narrow"/>
              </a:rPr>
              <a:t>= </a:t>
            </a:r>
            <a:r>
              <a:rPr sz="4000" b="1" spc="-5" dirty="0">
                <a:latin typeface="Calibri"/>
                <a:cs typeface="Calibri"/>
              </a:rPr>
              <a:t>(some beginning of </a:t>
            </a:r>
            <a:r>
              <a:rPr sz="4000" b="1" spc="-114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4000" b="1" spc="-114" dirty="0">
                <a:latin typeface="Arial Narrow"/>
                <a:cs typeface="Arial Narrow"/>
              </a:rPr>
              <a:t>’</a:t>
            </a:r>
            <a:r>
              <a:rPr sz="4000" b="1" spc="-114" dirty="0">
                <a:latin typeface="Calibri"/>
                <a:cs typeface="Calibri"/>
              </a:rPr>
              <a:t>s </a:t>
            </a:r>
            <a:r>
              <a:rPr sz="2400" b="1" spc="-5" dirty="0">
                <a:latin typeface="Calibri"/>
                <a:cs typeface="Calibri"/>
              </a:rPr>
              <a:t>(if </a:t>
            </a:r>
            <a:r>
              <a:rPr sz="2400" b="1" spc="-10" dirty="0">
                <a:latin typeface="Calibri"/>
                <a:cs typeface="Calibri"/>
              </a:rPr>
              <a:t>any)</a:t>
            </a:r>
            <a:r>
              <a:rPr sz="4000" b="1" spc="-10" dirty="0">
                <a:latin typeface="Calibri"/>
                <a:cs typeface="Calibri"/>
              </a:rPr>
              <a:t>)(the</a:t>
            </a:r>
            <a:r>
              <a:rPr sz="4000" b="1" spc="20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first</a:t>
            </a:r>
            <a:endParaRPr sz="4000">
              <a:latin typeface="Calibri"/>
              <a:cs typeface="Calibri"/>
            </a:endParaRPr>
          </a:p>
          <a:p>
            <a:pPr marL="878840" lvl="1" indent="-523875">
              <a:lnSpc>
                <a:spcPct val="100000"/>
              </a:lnSpc>
              <a:buClr>
                <a:srgbClr val="0000CC"/>
              </a:buClr>
              <a:buAutoNum type="alphaLcParenR"/>
              <a:tabLst>
                <a:tab pos="879475" algn="l"/>
              </a:tabLst>
            </a:pPr>
            <a:r>
              <a:rPr sz="4000" b="1" spc="-5" dirty="0">
                <a:latin typeface="Calibri"/>
                <a:cs typeface="Calibri"/>
              </a:rPr>
              <a:t>(some middle of </a:t>
            </a:r>
            <a:r>
              <a:rPr sz="4000" b="1" spc="-4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4000" b="1" spc="-45" dirty="0">
                <a:latin typeface="Arial Narrow"/>
                <a:cs typeface="Arial Narrow"/>
              </a:rPr>
              <a:t>’</a:t>
            </a:r>
            <a:r>
              <a:rPr sz="4000" b="1" spc="-45" dirty="0">
                <a:latin typeface="Calibri"/>
                <a:cs typeface="Calibri"/>
              </a:rPr>
              <a:t>s)(the</a:t>
            </a:r>
            <a:r>
              <a:rPr sz="4000" b="1" spc="2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second</a:t>
            </a:r>
            <a:endParaRPr sz="4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4000" b="1" spc="-114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4000" b="1" spc="-114" dirty="0">
                <a:latin typeface="Arial Narrow"/>
                <a:cs typeface="Arial Narrow"/>
              </a:rPr>
              <a:t>) </a:t>
            </a:r>
            <a:r>
              <a:rPr sz="4000" b="1" spc="-5" dirty="0">
                <a:latin typeface="Calibri"/>
                <a:cs typeface="Calibri"/>
              </a:rPr>
              <a:t>(some</a:t>
            </a:r>
            <a:r>
              <a:rPr sz="4000" b="1" spc="114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end)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60598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461594"/>
            <a:ext cx="530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Equivalent</a:t>
            </a:r>
            <a:r>
              <a:rPr spc="-80" dirty="0"/>
              <a:t> </a:t>
            </a:r>
            <a:r>
              <a:rPr spc="-15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6974"/>
            <a:ext cx="7618730" cy="4390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7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400" b="1" dirty="0">
                <a:solidFill>
                  <a:srgbClr val="0000CC"/>
                </a:solidFill>
                <a:latin typeface="Calibri"/>
                <a:cs typeface="Calibri"/>
              </a:rPr>
              <a:t>b)*a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7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b)*a </a:t>
            </a:r>
            <a:r>
              <a:rPr sz="34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7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400" b="1" dirty="0">
                <a:solidFill>
                  <a:srgbClr val="0000CC"/>
                </a:solidFill>
                <a:latin typeface="Calibri"/>
                <a:cs typeface="Calibri"/>
              </a:rPr>
              <a:t>b)*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3400" b="1" spc="-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b*ab*a(a</a:t>
            </a:r>
            <a:r>
              <a:rPr sz="27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endParaRPr sz="3400">
              <a:latin typeface="Calibri"/>
              <a:cs typeface="Calibri"/>
            </a:endParaRPr>
          </a:p>
          <a:p>
            <a:pPr marL="355600" marR="5080">
              <a:lnSpc>
                <a:spcPct val="107800"/>
              </a:lnSpc>
              <a:spcBef>
                <a:spcPts val="1675"/>
              </a:spcBef>
            </a:pPr>
            <a:r>
              <a:rPr sz="2700" b="1" dirty="0">
                <a:latin typeface="Calibri"/>
                <a:cs typeface="Calibri"/>
              </a:rPr>
              <a:t>Both </a:t>
            </a:r>
            <a:r>
              <a:rPr sz="2700" b="1" spc="-15" dirty="0">
                <a:latin typeface="Calibri"/>
                <a:cs typeface="Calibri"/>
              </a:rPr>
              <a:t>expressions are </a:t>
            </a:r>
            <a:r>
              <a:rPr sz="2700" b="1" spc="-10" dirty="0">
                <a:latin typeface="Calibri"/>
                <a:cs typeface="Calibri"/>
              </a:rPr>
              <a:t>equivalent </a:t>
            </a:r>
            <a:r>
              <a:rPr sz="2700" b="1" dirty="0">
                <a:latin typeface="Calibri"/>
                <a:cs typeface="Calibri"/>
              </a:rPr>
              <a:t>because </a:t>
            </a:r>
            <a:r>
              <a:rPr sz="2700" b="1" spc="-10" dirty="0">
                <a:latin typeface="Calibri"/>
                <a:cs typeface="Calibri"/>
              </a:rPr>
              <a:t>they </a:t>
            </a:r>
            <a:r>
              <a:rPr sz="2700" b="1" dirty="0">
                <a:latin typeface="Calibri"/>
                <a:cs typeface="Calibri"/>
              </a:rPr>
              <a:t>both  describe the same </a:t>
            </a:r>
            <a:r>
              <a:rPr sz="2700" b="1" spc="-10" dirty="0">
                <a:latin typeface="Calibri"/>
                <a:cs typeface="Calibri"/>
              </a:rPr>
              <a:t>item. </a:t>
            </a:r>
            <a:r>
              <a:rPr sz="2700" b="1" spc="-50" dirty="0">
                <a:latin typeface="Calibri"/>
                <a:cs typeface="Calibri"/>
              </a:rPr>
              <a:t>We </a:t>
            </a:r>
            <a:r>
              <a:rPr sz="2700" b="1" spc="-5" dirty="0">
                <a:latin typeface="Calibri"/>
                <a:cs typeface="Calibri"/>
              </a:rPr>
              <a:t>could</a:t>
            </a:r>
            <a:r>
              <a:rPr sz="2700" b="1" spc="7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write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805"/>
              </a:spcBef>
            </a:pP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((a</a:t>
            </a:r>
            <a:r>
              <a:rPr sz="3200" b="1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b)*a (a</a:t>
            </a:r>
            <a:r>
              <a:rPr sz="3200" b="1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b)*a</a:t>
            </a:r>
            <a:r>
              <a:rPr sz="3200" b="1" spc="-45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(a</a:t>
            </a:r>
            <a:r>
              <a:rPr sz="3200" b="1" spc="-5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b)*)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ts val="3825"/>
              </a:lnSpc>
              <a:spcBef>
                <a:spcPts val="625"/>
              </a:spcBef>
            </a:pP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=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(b*ab*a(a</a:t>
            </a:r>
            <a:r>
              <a:rPr sz="3200" b="1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b)*)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ts val="3825"/>
              </a:lnSpc>
            </a:pP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= all </a:t>
            </a:r>
            <a:r>
              <a:rPr sz="3200" b="1" spc="-10" dirty="0">
                <a:solidFill>
                  <a:srgbClr val="990033"/>
                </a:solidFill>
                <a:latin typeface="Calibri"/>
                <a:cs typeface="Calibri"/>
              </a:rPr>
              <a:t>words 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with </a:t>
            </a:r>
            <a:r>
              <a:rPr sz="3200" b="1" spc="-15" dirty="0">
                <a:solidFill>
                  <a:srgbClr val="990033"/>
                </a:solidFill>
                <a:latin typeface="Calibri"/>
                <a:cs typeface="Calibri"/>
              </a:rPr>
              <a:t>at 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least two</a:t>
            </a:r>
            <a:r>
              <a:rPr sz="3200" b="1" spc="-70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3200" b="1" spc="-90" dirty="0">
                <a:solidFill>
                  <a:srgbClr val="990033"/>
                </a:solidFill>
                <a:latin typeface="Calibri"/>
                <a:cs typeface="Calibri"/>
              </a:rPr>
              <a:t>a</a:t>
            </a:r>
            <a:r>
              <a:rPr sz="3200" b="1" spc="-90" dirty="0">
                <a:solidFill>
                  <a:srgbClr val="990033"/>
                </a:solidFill>
                <a:latin typeface="Arial Narrow"/>
                <a:cs typeface="Arial Narrow"/>
              </a:rPr>
              <a:t>’</a:t>
            </a:r>
            <a:r>
              <a:rPr sz="3200" b="1" spc="-90" dirty="0">
                <a:solidFill>
                  <a:srgbClr val="990033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35"/>
              </a:spcBef>
            </a:pP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=</a:t>
            </a:r>
            <a:r>
              <a:rPr sz="3200" b="1" spc="-5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(a</a:t>
            </a:r>
            <a:r>
              <a:rPr sz="3200" b="1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b)*ab*ab*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= b*a(a</a:t>
            </a:r>
            <a:r>
              <a:rPr sz="3200" b="1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b)*</a:t>
            </a:r>
            <a:r>
              <a:rPr sz="3200" b="1" spc="-25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990033"/>
                </a:solidFill>
                <a:latin typeface="Calibri"/>
                <a:cs typeface="Calibri"/>
              </a:rPr>
              <a:t>ab*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82626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69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773"/>
            <a:ext cx="8072120" cy="447929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355600" marR="593725" indent="-342900">
              <a:lnSpc>
                <a:spcPct val="75100"/>
              </a:lnSpc>
              <a:spcBef>
                <a:spcPts val="11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400" b="1" spc="-5" dirty="0">
                <a:latin typeface="Calibri"/>
                <a:cs typeface="Calibri"/>
              </a:rPr>
              <a:t>If </a:t>
            </a:r>
            <a:r>
              <a:rPr sz="3400" b="1" spc="-15" dirty="0">
                <a:latin typeface="Calibri"/>
                <a:cs typeface="Calibri"/>
              </a:rPr>
              <a:t>we </a:t>
            </a:r>
            <a:r>
              <a:rPr sz="3400" b="1" spc="-25" dirty="0">
                <a:latin typeface="Calibri"/>
                <a:cs typeface="Calibri"/>
              </a:rPr>
              <a:t>wanted </a:t>
            </a:r>
            <a:r>
              <a:rPr sz="3400" b="1" spc="-5" dirty="0">
                <a:latin typeface="Calibri"/>
                <a:cs typeface="Calibri"/>
              </a:rPr>
              <a:t>all </a:t>
            </a:r>
            <a:r>
              <a:rPr sz="3400" b="1" spc="-15" dirty="0">
                <a:latin typeface="Calibri"/>
                <a:cs typeface="Calibri"/>
              </a:rPr>
              <a:t>words </a:t>
            </a:r>
            <a:r>
              <a:rPr sz="3400" b="1" spc="-5" dirty="0">
                <a:latin typeface="Calibri"/>
                <a:cs typeface="Calibri"/>
              </a:rPr>
              <a:t>with </a:t>
            </a:r>
            <a:r>
              <a:rPr sz="3400" b="1" spc="-20" dirty="0">
                <a:solidFill>
                  <a:srgbClr val="C00000"/>
                </a:solidFill>
                <a:latin typeface="Calibri"/>
                <a:cs typeface="Calibri"/>
              </a:rPr>
              <a:t>exactly </a:t>
            </a:r>
            <a:r>
              <a:rPr sz="3400" b="1" spc="-15" dirty="0">
                <a:solidFill>
                  <a:srgbClr val="C00000"/>
                </a:solidFill>
                <a:latin typeface="Calibri"/>
                <a:cs typeface="Calibri"/>
              </a:rPr>
              <a:t>two  </a:t>
            </a:r>
            <a:r>
              <a:rPr sz="3400" b="1" spc="-7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400" b="1" spc="-75" dirty="0">
                <a:solidFill>
                  <a:srgbClr val="C00000"/>
                </a:solidFill>
                <a:latin typeface="Arial Narrow"/>
                <a:cs typeface="Arial Narrow"/>
              </a:rPr>
              <a:t>’</a:t>
            </a:r>
            <a:r>
              <a:rPr sz="3400" b="1" spc="-7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3400" b="1" spc="-75" dirty="0">
                <a:latin typeface="Calibri"/>
                <a:cs typeface="Calibri"/>
              </a:rPr>
              <a:t>, </a:t>
            </a:r>
            <a:r>
              <a:rPr sz="3400" b="1" spc="-15" dirty="0">
                <a:latin typeface="Calibri"/>
                <a:cs typeface="Calibri"/>
              </a:rPr>
              <a:t>we </a:t>
            </a:r>
            <a:r>
              <a:rPr sz="3400" b="1" spc="-10" dirty="0">
                <a:latin typeface="Calibri"/>
                <a:cs typeface="Calibri"/>
              </a:rPr>
              <a:t>could </a:t>
            </a:r>
            <a:r>
              <a:rPr sz="3400" b="1" spc="-5" dirty="0">
                <a:latin typeface="Calibri"/>
                <a:cs typeface="Calibri"/>
              </a:rPr>
              <a:t>use the</a:t>
            </a:r>
            <a:r>
              <a:rPr sz="3400" b="1" spc="100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expression</a:t>
            </a:r>
            <a:endParaRPr sz="3400">
              <a:latin typeface="Calibri"/>
              <a:cs typeface="Calibri"/>
            </a:endParaRPr>
          </a:p>
          <a:p>
            <a:pPr marL="3152775">
              <a:lnSpc>
                <a:spcPct val="100000"/>
              </a:lnSpc>
              <a:spcBef>
                <a:spcPts val="1220"/>
              </a:spcBef>
            </a:pPr>
            <a:r>
              <a:rPr sz="3400" b="1" spc="-5" dirty="0">
                <a:latin typeface="Calibri"/>
                <a:cs typeface="Calibri"/>
              </a:rPr>
              <a:t>b*</a:t>
            </a:r>
            <a:r>
              <a:rPr sz="34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400" b="1" spc="-5" dirty="0">
                <a:latin typeface="Calibri"/>
                <a:cs typeface="Calibri"/>
              </a:rPr>
              <a:t>b*</a:t>
            </a:r>
            <a:r>
              <a:rPr sz="34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400" b="1" spc="-5" dirty="0">
                <a:latin typeface="Calibri"/>
                <a:cs typeface="Calibri"/>
              </a:rPr>
              <a:t>b*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00" b="1" spc="-5" dirty="0">
                <a:latin typeface="Calibri"/>
                <a:cs typeface="Calibri"/>
              </a:rPr>
              <a:t>it </a:t>
            </a:r>
            <a:r>
              <a:rPr sz="3400" b="1" spc="-15" dirty="0">
                <a:latin typeface="Calibri"/>
                <a:cs typeface="Calibri"/>
              </a:rPr>
              <a:t>can </a:t>
            </a:r>
            <a:r>
              <a:rPr sz="3400" b="1" spc="-5" dirty="0">
                <a:latin typeface="Calibri"/>
                <a:cs typeface="Calibri"/>
              </a:rPr>
              <a:t>describes such </a:t>
            </a:r>
            <a:r>
              <a:rPr sz="3400" b="1" spc="-15" dirty="0">
                <a:latin typeface="Calibri"/>
                <a:cs typeface="Calibri"/>
              </a:rPr>
              <a:t>words</a:t>
            </a:r>
            <a:r>
              <a:rPr sz="3400" b="1" spc="40" dirty="0">
                <a:latin typeface="Calibri"/>
                <a:cs typeface="Calibri"/>
              </a:rPr>
              <a:t> </a:t>
            </a:r>
            <a:r>
              <a:rPr sz="3400" b="1" spc="-5" dirty="0">
                <a:latin typeface="Calibri"/>
                <a:cs typeface="Calibri"/>
              </a:rPr>
              <a:t>as</a:t>
            </a:r>
            <a:endParaRPr sz="3400">
              <a:latin typeface="Calibri"/>
              <a:cs typeface="Calibri"/>
            </a:endParaRPr>
          </a:p>
          <a:p>
            <a:pPr marL="3408679">
              <a:lnSpc>
                <a:spcPct val="100000"/>
              </a:lnSpc>
              <a:spcBef>
                <a:spcPts val="25"/>
              </a:spcBef>
            </a:pPr>
            <a:r>
              <a:rPr sz="3400" b="1" spc="-5" dirty="0">
                <a:solidFill>
                  <a:srgbClr val="0000CC"/>
                </a:solidFill>
                <a:latin typeface="Calibri"/>
                <a:cs typeface="Calibri"/>
              </a:rPr>
              <a:t>aab, baba, bbbabbbab,</a:t>
            </a:r>
            <a:r>
              <a:rPr sz="3400" b="1" spc="-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4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400" b="1" spc="-10" dirty="0">
                <a:solidFill>
                  <a:srgbClr val="990033"/>
                </a:solidFill>
                <a:latin typeface="Calibri"/>
                <a:cs typeface="Calibri"/>
              </a:rPr>
              <a:t>Question: </a:t>
            </a:r>
            <a:r>
              <a:rPr sz="3400" b="1" spc="-5" dirty="0">
                <a:latin typeface="Calibri"/>
                <a:cs typeface="Calibri"/>
              </a:rPr>
              <a:t>Can it </a:t>
            </a:r>
            <a:r>
              <a:rPr sz="3400" b="1" spc="-30" dirty="0">
                <a:latin typeface="Calibri"/>
                <a:cs typeface="Calibri"/>
              </a:rPr>
              <a:t>make </a:t>
            </a:r>
            <a:r>
              <a:rPr sz="3400" b="1" spc="-5" dirty="0">
                <a:latin typeface="Calibri"/>
                <a:cs typeface="Calibri"/>
              </a:rPr>
              <a:t>the </a:t>
            </a:r>
            <a:r>
              <a:rPr sz="3400" b="1" spc="-20" dirty="0">
                <a:latin typeface="Calibri"/>
                <a:cs typeface="Calibri"/>
              </a:rPr>
              <a:t>word </a:t>
            </a:r>
            <a:r>
              <a:rPr sz="3400" b="1" spc="-5" dirty="0">
                <a:solidFill>
                  <a:srgbClr val="C00000"/>
                </a:solidFill>
                <a:latin typeface="Calibri"/>
                <a:cs typeface="Calibri"/>
              </a:rPr>
              <a:t>aab</a:t>
            </a:r>
            <a:r>
              <a:rPr sz="34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400" b="1" spc="-465" dirty="0">
                <a:latin typeface="Arial Narrow"/>
                <a:cs typeface="Arial Narrow"/>
              </a:rPr>
              <a:t>?</a:t>
            </a:r>
            <a:endParaRPr sz="3400">
              <a:latin typeface="Arial Narrow"/>
              <a:cs typeface="Arial Narrow"/>
            </a:endParaRPr>
          </a:p>
          <a:p>
            <a:pPr marL="12700">
              <a:lnSpc>
                <a:spcPts val="4040"/>
              </a:lnSpc>
            </a:pPr>
            <a:r>
              <a:rPr sz="3400" b="1" spc="-10" dirty="0">
                <a:solidFill>
                  <a:srgbClr val="990033"/>
                </a:solidFill>
                <a:latin typeface="Calibri"/>
                <a:cs typeface="Calibri"/>
              </a:rPr>
              <a:t>Answer </a:t>
            </a:r>
            <a:r>
              <a:rPr sz="3400" b="1" spc="-310" dirty="0">
                <a:solidFill>
                  <a:srgbClr val="990033"/>
                </a:solidFill>
                <a:latin typeface="Arial Narrow"/>
                <a:cs typeface="Arial Narrow"/>
              </a:rPr>
              <a:t>: </a:t>
            </a:r>
            <a:r>
              <a:rPr sz="3400" b="1" spc="-75" dirty="0">
                <a:latin typeface="Calibri"/>
                <a:cs typeface="Calibri"/>
              </a:rPr>
              <a:t>Yes, </a:t>
            </a:r>
            <a:r>
              <a:rPr sz="3400" b="1" spc="-15" dirty="0">
                <a:latin typeface="Calibri"/>
                <a:cs typeface="Calibri"/>
              </a:rPr>
              <a:t>by having </a:t>
            </a:r>
            <a:r>
              <a:rPr sz="3400" b="1" spc="-5" dirty="0">
                <a:latin typeface="Calibri"/>
                <a:cs typeface="Calibri"/>
              </a:rPr>
              <a:t>the </a:t>
            </a:r>
            <a:r>
              <a:rPr sz="3400" b="1" spc="-20" dirty="0">
                <a:latin typeface="Calibri"/>
                <a:cs typeface="Calibri"/>
              </a:rPr>
              <a:t>first </a:t>
            </a:r>
            <a:r>
              <a:rPr sz="3400" b="1" spc="-5" dirty="0">
                <a:latin typeface="Calibri"/>
                <a:cs typeface="Calibri"/>
              </a:rPr>
              <a:t>and</a:t>
            </a:r>
            <a:r>
              <a:rPr sz="3400" b="1" spc="-3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second</a:t>
            </a:r>
            <a:endParaRPr sz="3400">
              <a:latin typeface="Calibri"/>
              <a:cs typeface="Calibri"/>
            </a:endParaRPr>
          </a:p>
          <a:p>
            <a:pPr marR="1410970" algn="ctr">
              <a:lnSpc>
                <a:spcPts val="5480"/>
              </a:lnSpc>
            </a:pPr>
            <a:r>
              <a:rPr sz="3400" b="1" spc="-5" dirty="0">
                <a:latin typeface="Calibri"/>
                <a:cs typeface="Calibri"/>
              </a:rPr>
              <a:t>b* =</a:t>
            </a:r>
            <a:r>
              <a:rPr sz="3400" b="1" spc="-35" dirty="0">
                <a:latin typeface="Calibri"/>
                <a:cs typeface="Calibri"/>
              </a:rPr>
              <a:t> </a:t>
            </a:r>
            <a:r>
              <a:rPr sz="4600" b="1" spc="-5" dirty="0">
                <a:latin typeface="Times New Roman"/>
                <a:cs typeface="Times New Roman"/>
              </a:rPr>
              <a:t>λ</a:t>
            </a:r>
            <a:endParaRPr sz="4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74839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70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441"/>
            <a:ext cx="7875905" cy="41871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marR="405130" indent="-342900">
              <a:lnSpc>
                <a:spcPts val="298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5" dirty="0">
                <a:latin typeface="Calibri"/>
                <a:cs typeface="Calibri"/>
              </a:rPr>
              <a:t>How </a:t>
            </a:r>
            <a:r>
              <a:rPr sz="3100" b="1" spc="-10" dirty="0">
                <a:latin typeface="Calibri"/>
                <a:cs typeface="Calibri"/>
              </a:rPr>
              <a:t>about the </a:t>
            </a:r>
            <a:r>
              <a:rPr sz="3100" b="1" spc="-15" dirty="0">
                <a:latin typeface="Calibri"/>
                <a:cs typeface="Calibri"/>
              </a:rPr>
              <a:t>language </a:t>
            </a:r>
            <a:r>
              <a:rPr sz="3100" b="1" spc="-5" dirty="0">
                <a:latin typeface="Calibri"/>
                <a:cs typeface="Calibri"/>
              </a:rPr>
              <a:t>with </a:t>
            </a:r>
            <a:r>
              <a:rPr sz="3100" b="1" spc="-20" dirty="0">
                <a:latin typeface="Calibri"/>
                <a:cs typeface="Calibri"/>
              </a:rPr>
              <a:t>at </a:t>
            </a:r>
            <a:r>
              <a:rPr sz="3100" b="1" spc="-15" dirty="0">
                <a:latin typeface="Calibri"/>
                <a:cs typeface="Calibri"/>
              </a:rPr>
              <a:t>least </a:t>
            </a:r>
            <a:r>
              <a:rPr sz="3100" b="1" spc="-5" dirty="0">
                <a:latin typeface="Calibri"/>
                <a:cs typeface="Calibri"/>
              </a:rPr>
              <a:t>one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100" b="1" spc="-5" dirty="0"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and </a:t>
            </a:r>
            <a:r>
              <a:rPr sz="3100" b="1" spc="-20" dirty="0">
                <a:latin typeface="Calibri"/>
                <a:cs typeface="Calibri"/>
              </a:rPr>
              <a:t>at </a:t>
            </a:r>
            <a:r>
              <a:rPr sz="3100" b="1" spc="-10" dirty="0">
                <a:latin typeface="Calibri"/>
                <a:cs typeface="Calibri"/>
              </a:rPr>
              <a:t>least </a:t>
            </a:r>
            <a:r>
              <a:rPr sz="3100" b="1" spc="-5" dirty="0">
                <a:latin typeface="Calibri"/>
                <a:cs typeface="Calibri"/>
              </a:rPr>
              <a:t>one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100" b="1" spc="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100" b="1" spc="-5" dirty="0">
                <a:latin typeface="Calibri"/>
                <a:cs typeface="Calibri"/>
              </a:rPr>
              <a:t>?</a:t>
            </a:r>
            <a:endParaRPr sz="3100">
              <a:latin typeface="Calibri"/>
              <a:cs typeface="Calibri"/>
            </a:endParaRPr>
          </a:p>
          <a:p>
            <a:pPr marL="2111375">
              <a:lnSpc>
                <a:spcPct val="100000"/>
              </a:lnSpc>
              <a:spcBef>
                <a:spcPts val="20"/>
              </a:spcBef>
            </a:pPr>
            <a:r>
              <a:rPr sz="3100" b="1" spc="-5" dirty="0">
                <a:latin typeface="Calibri"/>
                <a:cs typeface="Calibri"/>
              </a:rPr>
              <a:t>(a</a:t>
            </a:r>
            <a:r>
              <a:rPr sz="3100" b="1" spc="-5" dirty="0">
                <a:latin typeface="Symbol"/>
                <a:cs typeface="Symbol"/>
              </a:rPr>
              <a:t></a:t>
            </a:r>
            <a:r>
              <a:rPr sz="3100" b="1" spc="-5" dirty="0">
                <a:latin typeface="Calibri"/>
                <a:cs typeface="Calibri"/>
              </a:rPr>
              <a:t>b)*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100" b="1" spc="-5" dirty="0">
                <a:latin typeface="Calibri"/>
                <a:cs typeface="Calibri"/>
              </a:rPr>
              <a:t>(a</a:t>
            </a:r>
            <a:r>
              <a:rPr sz="3100" b="1" spc="-5" dirty="0">
                <a:latin typeface="Symbol"/>
                <a:cs typeface="Symbol"/>
              </a:rPr>
              <a:t></a:t>
            </a:r>
            <a:r>
              <a:rPr sz="3100" b="1" spc="-5" dirty="0">
                <a:latin typeface="Calibri"/>
                <a:cs typeface="Calibri"/>
              </a:rPr>
              <a:t>b)*</a:t>
            </a:r>
            <a:r>
              <a:rPr sz="3100" b="1" spc="-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100" b="1" spc="-5" dirty="0">
                <a:latin typeface="Calibri"/>
                <a:cs typeface="Calibri"/>
              </a:rPr>
              <a:t>(a</a:t>
            </a:r>
            <a:r>
              <a:rPr sz="3100" b="1" spc="-5" dirty="0">
                <a:latin typeface="Symbol"/>
                <a:cs typeface="Symbol"/>
              </a:rPr>
              <a:t></a:t>
            </a:r>
            <a:r>
              <a:rPr sz="3100" b="1" spc="-5" dirty="0">
                <a:latin typeface="Calibri"/>
                <a:cs typeface="Calibri"/>
              </a:rPr>
              <a:t>b)*</a:t>
            </a:r>
            <a:endParaRPr sz="3100">
              <a:latin typeface="Calibri"/>
              <a:cs typeface="Calibri"/>
            </a:endParaRPr>
          </a:p>
          <a:p>
            <a:pPr marL="355600" marR="5080" algn="just">
              <a:lnSpc>
                <a:spcPct val="80000"/>
              </a:lnSpc>
              <a:spcBef>
                <a:spcPts val="745"/>
              </a:spcBef>
            </a:pPr>
            <a:r>
              <a:rPr sz="3100" b="1" spc="-5" dirty="0">
                <a:latin typeface="Calibri"/>
                <a:cs typeface="Calibri"/>
              </a:rPr>
              <a:t>It </a:t>
            </a:r>
            <a:r>
              <a:rPr sz="3100" b="1" spc="-10" dirty="0">
                <a:latin typeface="Calibri"/>
                <a:cs typeface="Calibri"/>
              </a:rPr>
              <a:t>can </a:t>
            </a:r>
            <a:r>
              <a:rPr sz="3100" b="1" spc="-5" dirty="0">
                <a:latin typeface="Calibri"/>
                <a:cs typeface="Calibri"/>
              </a:rPr>
              <a:t>only </a:t>
            </a:r>
            <a:r>
              <a:rPr sz="3100" b="1" spc="-10" dirty="0">
                <a:latin typeface="Calibri"/>
                <a:cs typeface="Calibri"/>
              </a:rPr>
              <a:t>produce </a:t>
            </a:r>
            <a:r>
              <a:rPr sz="3100" b="1" spc="-15" dirty="0">
                <a:latin typeface="Calibri"/>
                <a:cs typeface="Calibri"/>
              </a:rPr>
              <a:t>words </a:t>
            </a:r>
            <a:r>
              <a:rPr sz="3100" b="1" spc="-10" dirty="0">
                <a:latin typeface="Calibri"/>
                <a:cs typeface="Calibri"/>
              </a:rPr>
              <a:t>which </a:t>
            </a:r>
            <a:r>
              <a:rPr sz="3100" b="1" spc="-5" dirty="0">
                <a:latin typeface="Calibri"/>
                <a:cs typeface="Calibri"/>
              </a:rPr>
              <a:t>an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100" b="1" spc="-15" dirty="0">
                <a:latin typeface="Calibri"/>
                <a:cs typeface="Calibri"/>
              </a:rPr>
              <a:t>precede  </a:t>
            </a:r>
            <a:r>
              <a:rPr sz="3100" b="1" spc="-5" dirty="0">
                <a:latin typeface="Calibri"/>
                <a:cs typeface="Calibri"/>
              </a:rPr>
              <a:t>a 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100" b="1" spc="-10" dirty="0">
                <a:latin typeface="Calibri"/>
                <a:cs typeface="Calibri"/>
              </a:rPr>
              <a:t>. </a:t>
            </a:r>
            <a:r>
              <a:rPr sz="3100" b="1" spc="-135" dirty="0">
                <a:latin typeface="Calibri"/>
                <a:cs typeface="Calibri"/>
              </a:rPr>
              <a:t>To </a:t>
            </a:r>
            <a:r>
              <a:rPr sz="3100" b="1" spc="-10" dirty="0">
                <a:latin typeface="Calibri"/>
                <a:cs typeface="Calibri"/>
              </a:rPr>
              <a:t>produce </a:t>
            </a:r>
            <a:r>
              <a:rPr sz="3100" b="1" spc="-15" dirty="0">
                <a:latin typeface="Calibri"/>
                <a:cs typeface="Calibri"/>
              </a:rPr>
              <a:t>words </a:t>
            </a:r>
            <a:r>
              <a:rPr sz="3100" b="1" spc="-10" dirty="0">
                <a:latin typeface="Calibri"/>
                <a:cs typeface="Calibri"/>
              </a:rPr>
              <a:t>which </a:t>
            </a:r>
            <a:r>
              <a:rPr sz="3100" b="1" spc="-25" dirty="0">
                <a:latin typeface="Calibri"/>
                <a:cs typeface="Calibri"/>
              </a:rPr>
              <a:t>have </a:t>
            </a:r>
            <a:r>
              <a:rPr sz="3100" b="1" spc="-5" dirty="0">
                <a:latin typeface="Calibri"/>
                <a:cs typeface="Calibri"/>
              </a:rPr>
              <a:t>a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b </a:t>
            </a:r>
            <a:r>
              <a:rPr sz="3100" b="1" spc="-15" dirty="0">
                <a:latin typeface="Calibri"/>
                <a:cs typeface="Calibri"/>
              </a:rPr>
              <a:t>precede  </a:t>
            </a:r>
            <a:r>
              <a:rPr sz="3100" b="1" spc="-5" dirty="0">
                <a:latin typeface="Calibri"/>
                <a:cs typeface="Calibri"/>
              </a:rPr>
              <a:t>an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100" b="1" spc="-5" dirty="0">
                <a:latin typeface="Calibri"/>
                <a:cs typeface="Calibri"/>
              </a:rPr>
              <a:t>, </a:t>
            </a:r>
            <a:r>
              <a:rPr sz="3100" b="1" spc="-20" dirty="0">
                <a:latin typeface="Calibri"/>
                <a:cs typeface="Calibri"/>
              </a:rPr>
              <a:t>we </a:t>
            </a:r>
            <a:r>
              <a:rPr sz="3100" b="1" spc="-10" dirty="0">
                <a:latin typeface="Calibri"/>
                <a:cs typeface="Calibri"/>
              </a:rPr>
              <a:t>can </a:t>
            </a:r>
            <a:r>
              <a:rPr sz="3100" b="1" spc="-5" dirty="0">
                <a:latin typeface="Calibri"/>
                <a:cs typeface="Calibri"/>
              </a:rPr>
              <a:t>describe</a:t>
            </a:r>
            <a:r>
              <a:rPr sz="3100" b="1" spc="40" dirty="0">
                <a:latin typeface="Calibri"/>
                <a:cs typeface="Calibri"/>
              </a:rPr>
              <a:t> </a:t>
            </a:r>
            <a:r>
              <a:rPr sz="3100" b="1" spc="-15" dirty="0">
                <a:latin typeface="Calibri"/>
                <a:cs typeface="Calibri"/>
              </a:rPr>
              <a:t>by</a:t>
            </a:r>
            <a:endParaRPr sz="3100">
              <a:latin typeface="Calibri"/>
              <a:cs typeface="Calibri"/>
            </a:endParaRPr>
          </a:p>
          <a:p>
            <a:pPr marL="12700" marR="1910080" indent="2098675" algn="just">
              <a:lnSpc>
                <a:spcPts val="4670"/>
              </a:lnSpc>
              <a:spcBef>
                <a:spcPts val="204"/>
              </a:spcBef>
            </a:pPr>
            <a:r>
              <a:rPr sz="3100" b="1" spc="-10" dirty="0">
                <a:latin typeface="Calibri"/>
                <a:cs typeface="Calibri"/>
              </a:rPr>
              <a:t>(a</a:t>
            </a:r>
            <a:r>
              <a:rPr sz="3100" b="1" spc="5" dirty="0">
                <a:latin typeface="Symbol"/>
                <a:cs typeface="Symbol"/>
              </a:rPr>
              <a:t></a:t>
            </a:r>
            <a:r>
              <a:rPr sz="3100" b="1" spc="-15" dirty="0">
                <a:latin typeface="Calibri"/>
                <a:cs typeface="Calibri"/>
              </a:rPr>
              <a:t>b</a:t>
            </a:r>
            <a:r>
              <a:rPr sz="3100" b="1" spc="-10" dirty="0">
                <a:latin typeface="Calibri"/>
                <a:cs typeface="Calibri"/>
              </a:rPr>
              <a:t>)</a:t>
            </a:r>
            <a:r>
              <a:rPr sz="3100" b="1" dirty="0">
                <a:latin typeface="Calibri"/>
                <a:cs typeface="Calibri"/>
              </a:rPr>
              <a:t>*</a:t>
            </a:r>
            <a:r>
              <a:rPr sz="31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3100" b="1" spc="-10" dirty="0">
                <a:latin typeface="Calibri"/>
                <a:cs typeface="Calibri"/>
              </a:rPr>
              <a:t>(a</a:t>
            </a:r>
            <a:r>
              <a:rPr sz="3100" b="1" spc="5" dirty="0">
                <a:latin typeface="Symbol"/>
                <a:cs typeface="Symbol"/>
              </a:rPr>
              <a:t></a:t>
            </a:r>
            <a:r>
              <a:rPr sz="3100" b="1" spc="-10" dirty="0">
                <a:latin typeface="Calibri"/>
                <a:cs typeface="Calibri"/>
              </a:rPr>
              <a:t>b)</a:t>
            </a:r>
            <a:r>
              <a:rPr sz="3100" b="1" dirty="0">
                <a:latin typeface="Calibri"/>
                <a:cs typeface="Calibri"/>
              </a:rPr>
              <a:t>*</a:t>
            </a:r>
            <a:r>
              <a:rPr sz="31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100" b="1" spc="-10" dirty="0">
                <a:latin typeface="Calibri"/>
                <a:cs typeface="Calibri"/>
              </a:rPr>
              <a:t>(a</a:t>
            </a:r>
            <a:r>
              <a:rPr sz="3100" b="1" spc="5" dirty="0">
                <a:latin typeface="Symbol"/>
                <a:cs typeface="Symbol"/>
              </a:rPr>
              <a:t></a:t>
            </a:r>
            <a:r>
              <a:rPr sz="3100" b="1" spc="-15" dirty="0">
                <a:latin typeface="Calibri"/>
                <a:cs typeface="Calibri"/>
              </a:rPr>
              <a:t>b</a:t>
            </a:r>
            <a:r>
              <a:rPr sz="3100" b="1" spc="-10" dirty="0">
                <a:latin typeface="Calibri"/>
                <a:cs typeface="Calibri"/>
              </a:rPr>
              <a:t>)*  Thus, the set </a:t>
            </a:r>
            <a:r>
              <a:rPr sz="3100" b="1" spc="-5" dirty="0">
                <a:latin typeface="Calibri"/>
                <a:cs typeface="Calibri"/>
              </a:rPr>
              <a:t>of </a:t>
            </a:r>
            <a:r>
              <a:rPr sz="3100" b="1" spc="-10" dirty="0">
                <a:latin typeface="Calibri"/>
                <a:cs typeface="Calibri"/>
              </a:rPr>
              <a:t>all </a:t>
            </a:r>
            <a:r>
              <a:rPr sz="3100" b="1" spc="-15" dirty="0">
                <a:latin typeface="Calibri"/>
                <a:cs typeface="Calibri"/>
              </a:rPr>
              <a:t>words</a:t>
            </a:r>
            <a:r>
              <a:rPr sz="3100" b="1" spc="50" dirty="0">
                <a:latin typeface="Calibri"/>
                <a:cs typeface="Calibri"/>
              </a:rPr>
              <a:t> </a:t>
            </a:r>
            <a:r>
              <a:rPr sz="3100" b="1" spc="-5" dirty="0">
                <a:latin typeface="Calibri"/>
                <a:cs typeface="Calibri"/>
              </a:rPr>
              <a:t>:</a:t>
            </a:r>
            <a:endParaRPr sz="3100">
              <a:latin typeface="Calibri"/>
              <a:cs typeface="Calibri"/>
            </a:endParaRPr>
          </a:p>
          <a:p>
            <a:pPr marL="208915" algn="just">
              <a:lnSpc>
                <a:spcPts val="3130"/>
              </a:lnSpc>
            </a:pP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b)*a (a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b)*b (a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b)*</a:t>
            </a:r>
            <a:r>
              <a:rPr sz="2800" b="1" spc="-5" dirty="0">
                <a:latin typeface="Symbol"/>
                <a:cs typeface="Symbol"/>
              </a:rPr>
              <a:t>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990033"/>
                </a:solidFill>
                <a:latin typeface="Calibri"/>
                <a:cs typeface="Calibri"/>
              </a:rPr>
              <a:t>b)*b (a</a:t>
            </a:r>
            <a:r>
              <a:rPr sz="2800" b="1" spc="-5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990033"/>
                </a:solidFill>
                <a:latin typeface="Calibri"/>
                <a:cs typeface="Calibri"/>
              </a:rPr>
              <a:t>b)*a</a:t>
            </a:r>
            <a:r>
              <a:rPr sz="2800" b="1" spc="55" dirty="0">
                <a:solidFill>
                  <a:srgbClr val="990033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990033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990033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990033"/>
                </a:solidFill>
                <a:latin typeface="Calibri"/>
                <a:cs typeface="Calibri"/>
              </a:rPr>
              <a:t>b)*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90013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71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2214"/>
            <a:ext cx="8058784" cy="41700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5600" marR="5080" indent="-342900">
              <a:lnSpc>
                <a:spcPts val="3700"/>
              </a:lnSpc>
              <a:spcBef>
                <a:spcPts val="2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3100" b="1" spc="-1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b)*a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b)*b (a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b)* </a:t>
            </a:r>
            <a:r>
              <a:rPr sz="3100" b="1" spc="-10" dirty="0">
                <a:latin typeface="Calibri"/>
                <a:cs typeface="Calibri"/>
              </a:rPr>
              <a:t>can produce all </a:t>
            </a:r>
            <a:r>
              <a:rPr sz="3100" b="1" spc="-15" dirty="0">
                <a:latin typeface="Calibri"/>
                <a:cs typeface="Calibri"/>
              </a:rPr>
              <a:t>words  </a:t>
            </a:r>
            <a:r>
              <a:rPr sz="3100" b="1" spc="-10" dirty="0">
                <a:latin typeface="Calibri"/>
                <a:cs typeface="Calibri"/>
              </a:rPr>
              <a:t>with </a:t>
            </a:r>
            <a:r>
              <a:rPr sz="3100" b="1" spc="-20" dirty="0">
                <a:latin typeface="Calibri"/>
                <a:cs typeface="Calibri"/>
              </a:rPr>
              <a:t>at </a:t>
            </a:r>
            <a:r>
              <a:rPr sz="3100" b="1" spc="-15" dirty="0">
                <a:latin typeface="Calibri"/>
                <a:cs typeface="Calibri"/>
              </a:rPr>
              <a:t>least </a:t>
            </a:r>
            <a:r>
              <a:rPr sz="3100" b="1" spc="-5" dirty="0">
                <a:latin typeface="Calibri"/>
                <a:cs typeface="Calibri"/>
              </a:rPr>
              <a:t>one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100" b="1" spc="-10" dirty="0">
                <a:latin typeface="Calibri"/>
                <a:cs typeface="Calibri"/>
              </a:rPr>
              <a:t>and </a:t>
            </a:r>
            <a:r>
              <a:rPr sz="3100" b="1" spc="-20" dirty="0">
                <a:latin typeface="Calibri"/>
                <a:cs typeface="Calibri"/>
              </a:rPr>
              <a:t>at </a:t>
            </a:r>
            <a:r>
              <a:rPr sz="3100" b="1" spc="-15" dirty="0">
                <a:latin typeface="Calibri"/>
                <a:cs typeface="Calibri"/>
              </a:rPr>
              <a:t>least </a:t>
            </a:r>
            <a:r>
              <a:rPr sz="3100" b="1" spc="-5" dirty="0">
                <a:latin typeface="Calibri"/>
                <a:cs typeface="Calibri"/>
              </a:rPr>
              <a:t>one</a:t>
            </a:r>
            <a:r>
              <a:rPr sz="3100" b="1" spc="130" dirty="0"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100" b="1" spc="-10" dirty="0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355600" marR="396875" indent="-342900">
              <a:lnSpc>
                <a:spcPts val="3410"/>
              </a:lnSpc>
              <a:spcBef>
                <a:spcPts val="10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40" dirty="0">
                <a:latin typeface="Calibri"/>
                <a:cs typeface="Calibri"/>
              </a:rPr>
              <a:t>However, </a:t>
            </a:r>
            <a:r>
              <a:rPr sz="3100" b="1" spc="-5" dirty="0">
                <a:latin typeface="Calibri"/>
                <a:cs typeface="Calibri"/>
              </a:rPr>
              <a:t>it doesn</a:t>
            </a:r>
            <a:r>
              <a:rPr sz="3100" b="1" spc="-5" dirty="0">
                <a:latin typeface="Times New Roman"/>
                <a:cs typeface="Times New Roman"/>
              </a:rPr>
              <a:t>’</a:t>
            </a:r>
            <a:r>
              <a:rPr sz="3100" b="1" spc="-5" dirty="0">
                <a:latin typeface="Calibri"/>
                <a:cs typeface="Calibri"/>
              </a:rPr>
              <a:t>t </a:t>
            </a:r>
            <a:r>
              <a:rPr sz="3100" b="1" spc="-20" dirty="0">
                <a:latin typeface="Calibri"/>
                <a:cs typeface="Calibri"/>
              </a:rPr>
              <a:t>contain </a:t>
            </a:r>
            <a:r>
              <a:rPr sz="3100" b="1" spc="-10" dirty="0">
                <a:latin typeface="Calibri"/>
                <a:cs typeface="Calibri"/>
              </a:rPr>
              <a:t>the </a:t>
            </a:r>
            <a:r>
              <a:rPr sz="3100" b="1" spc="-15" dirty="0">
                <a:latin typeface="Calibri"/>
                <a:cs typeface="Calibri"/>
              </a:rPr>
              <a:t>words </a:t>
            </a:r>
            <a:r>
              <a:rPr sz="3100" b="1" spc="-5" dirty="0">
                <a:latin typeface="Calibri"/>
                <a:cs typeface="Calibri"/>
              </a:rPr>
              <a:t>of </a:t>
            </a:r>
            <a:r>
              <a:rPr sz="3100" b="1" spc="-10" dirty="0">
                <a:latin typeface="Calibri"/>
                <a:cs typeface="Calibri"/>
              </a:rPr>
              <a:t>the  forms </a:t>
            </a:r>
            <a:r>
              <a:rPr sz="3100" b="1" spc="-5" dirty="0">
                <a:latin typeface="Calibri"/>
                <a:cs typeface="Calibri"/>
              </a:rPr>
              <a:t>some </a:t>
            </a:r>
            <a:r>
              <a:rPr sz="3100" b="1" spc="-90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3100" b="1" spc="-90" dirty="0">
                <a:latin typeface="Arial Narrow"/>
                <a:cs typeface="Arial Narrow"/>
              </a:rPr>
              <a:t>’</a:t>
            </a:r>
            <a:r>
              <a:rPr sz="3100" b="1" spc="-90" dirty="0">
                <a:latin typeface="Calibri"/>
                <a:cs typeface="Calibri"/>
              </a:rPr>
              <a:t>s </a:t>
            </a:r>
            <a:r>
              <a:rPr sz="3100" b="1" spc="-15" dirty="0">
                <a:latin typeface="Calibri"/>
                <a:cs typeface="Calibri"/>
              </a:rPr>
              <a:t>followed by </a:t>
            </a:r>
            <a:r>
              <a:rPr sz="3100" b="1" spc="-5" dirty="0">
                <a:latin typeface="Calibri"/>
                <a:cs typeface="Calibri"/>
              </a:rPr>
              <a:t>some</a:t>
            </a:r>
            <a:r>
              <a:rPr sz="3100" b="1" spc="100" dirty="0">
                <a:latin typeface="Calibri"/>
                <a:cs typeface="Calibri"/>
              </a:rPr>
              <a:t> </a:t>
            </a:r>
            <a:r>
              <a:rPr sz="3100" b="1" spc="-7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100" b="1" spc="-70" dirty="0">
                <a:latin typeface="Arial Narrow"/>
                <a:cs typeface="Arial Narrow"/>
              </a:rPr>
              <a:t>’</a:t>
            </a:r>
            <a:r>
              <a:rPr sz="3100" b="1" spc="-70" dirty="0">
                <a:latin typeface="Calibri"/>
                <a:cs typeface="Calibri"/>
              </a:rPr>
              <a:t>s.</a:t>
            </a:r>
            <a:endParaRPr sz="3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10" dirty="0">
                <a:latin typeface="Calibri"/>
                <a:cs typeface="Calibri"/>
              </a:rPr>
              <a:t>These </a:t>
            </a:r>
            <a:r>
              <a:rPr sz="3100" b="1" spc="-20" dirty="0">
                <a:latin typeface="Calibri"/>
                <a:cs typeface="Calibri"/>
              </a:rPr>
              <a:t>exceptions are </a:t>
            </a:r>
            <a:r>
              <a:rPr sz="3100" b="1" spc="-10" dirty="0">
                <a:latin typeface="Calibri"/>
                <a:cs typeface="Calibri"/>
              </a:rPr>
              <a:t>all defined </a:t>
            </a:r>
            <a:r>
              <a:rPr sz="3100" b="1" spc="-15" dirty="0">
                <a:latin typeface="Calibri"/>
                <a:cs typeface="Calibri"/>
              </a:rPr>
              <a:t>by</a:t>
            </a:r>
            <a:r>
              <a:rPr sz="3100" b="1" spc="130" dirty="0"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0000CC"/>
                </a:solidFill>
                <a:latin typeface="Calibri"/>
                <a:cs typeface="Calibri"/>
              </a:rPr>
              <a:t>bb*aa*</a:t>
            </a:r>
            <a:endParaRPr sz="3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10" dirty="0">
                <a:latin typeface="Calibri"/>
                <a:cs typeface="Calibri"/>
              </a:rPr>
              <a:t>Thus, </a:t>
            </a:r>
            <a:r>
              <a:rPr sz="3100" b="1" spc="-20" dirty="0">
                <a:latin typeface="Calibri"/>
                <a:cs typeface="Calibri"/>
              </a:rPr>
              <a:t>we </a:t>
            </a:r>
            <a:r>
              <a:rPr sz="3100" b="1" spc="-25" dirty="0">
                <a:latin typeface="Calibri"/>
                <a:cs typeface="Calibri"/>
              </a:rPr>
              <a:t>have </a:t>
            </a:r>
            <a:r>
              <a:rPr sz="3100" b="1" spc="-10" dirty="0">
                <a:latin typeface="Calibri"/>
                <a:cs typeface="Calibri"/>
              </a:rPr>
              <a:t>all strings </a:t>
            </a:r>
            <a:r>
              <a:rPr sz="3100" b="1" spc="-15" dirty="0">
                <a:latin typeface="Calibri"/>
                <a:cs typeface="Calibri"/>
              </a:rPr>
              <a:t>over </a:t>
            </a:r>
            <a:r>
              <a:rPr sz="3100" b="1" spc="-5" dirty="0">
                <a:solidFill>
                  <a:srgbClr val="0000CC"/>
                </a:solidFill>
                <a:latin typeface="Symbol"/>
                <a:cs typeface="Symbol"/>
              </a:rPr>
              <a:t></a:t>
            </a:r>
            <a:r>
              <a:rPr sz="31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= {a,</a:t>
            </a:r>
            <a:r>
              <a:rPr sz="3100" b="1" spc="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100" b="1" spc="-5" dirty="0">
                <a:solidFill>
                  <a:srgbClr val="0000CC"/>
                </a:solidFill>
                <a:latin typeface="Calibri"/>
                <a:cs typeface="Calibri"/>
              </a:rPr>
              <a:t>b}</a:t>
            </a:r>
            <a:endParaRPr sz="3100">
              <a:latin typeface="Calibri"/>
              <a:cs typeface="Calibri"/>
            </a:endParaRPr>
          </a:p>
          <a:p>
            <a:pPr marL="381635">
              <a:lnSpc>
                <a:spcPct val="100000"/>
              </a:lnSpc>
              <a:spcBef>
                <a:spcPts val="985"/>
              </a:spcBef>
            </a:pP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b)*a 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b)*b 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b)*b 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b)*a</a:t>
            </a:r>
            <a:r>
              <a:rPr sz="2800" b="1" spc="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=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8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b)*a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b)*b (a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8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bb*aa*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1620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72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2182" y="467690"/>
            <a:ext cx="1660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(a</a:t>
            </a:r>
            <a:r>
              <a:rPr spc="10" dirty="0">
                <a:latin typeface="Symbol"/>
                <a:cs typeface="Symbol"/>
              </a:rPr>
              <a:t></a:t>
            </a:r>
            <a:r>
              <a:rPr dirty="0"/>
              <a:t>b)*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8375"/>
            <a:ext cx="7780020" cy="40227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91590">
              <a:lnSpc>
                <a:spcPct val="100000"/>
              </a:lnSpc>
              <a:spcBef>
                <a:spcPts val="860"/>
              </a:spcBef>
            </a:pPr>
            <a:r>
              <a:rPr sz="25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5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500" b="1" dirty="0">
                <a:solidFill>
                  <a:srgbClr val="0000CC"/>
                </a:solidFill>
                <a:latin typeface="Calibri"/>
                <a:cs typeface="Calibri"/>
              </a:rPr>
              <a:t>b)*a (a</a:t>
            </a:r>
            <a:r>
              <a:rPr sz="25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500" b="1" dirty="0">
                <a:solidFill>
                  <a:srgbClr val="0000CC"/>
                </a:solidFill>
                <a:latin typeface="Calibri"/>
                <a:cs typeface="Calibri"/>
              </a:rPr>
              <a:t>b)*b (a</a:t>
            </a:r>
            <a:r>
              <a:rPr sz="25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500" b="1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r>
              <a:rPr sz="25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500" b="1" spc="-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500" b="1" spc="-5" dirty="0">
                <a:solidFill>
                  <a:srgbClr val="0000CC"/>
                </a:solidFill>
                <a:latin typeface="Calibri"/>
                <a:cs typeface="Calibri"/>
              </a:rPr>
              <a:t>bb*aa*</a:t>
            </a:r>
            <a:endParaRPr sz="2500">
              <a:latin typeface="Calibri"/>
              <a:cs typeface="Calibri"/>
            </a:endParaRPr>
          </a:p>
          <a:p>
            <a:pPr marL="355600" marR="496570" indent="-342900">
              <a:lnSpc>
                <a:spcPts val="3100"/>
              </a:lnSpc>
              <a:spcBef>
                <a:spcPts val="11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25" dirty="0">
                <a:latin typeface="Calibri"/>
                <a:cs typeface="Calibri"/>
              </a:rPr>
              <a:t>generates </a:t>
            </a: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5" dirty="0">
                <a:latin typeface="Calibri"/>
                <a:cs typeface="Calibri"/>
              </a:rPr>
              <a:t>words </a:t>
            </a:r>
            <a:r>
              <a:rPr sz="2800" b="1" spc="-10" dirty="0">
                <a:latin typeface="Calibri"/>
                <a:cs typeface="Calibri"/>
              </a:rPr>
              <a:t>which </a:t>
            </a:r>
            <a:r>
              <a:rPr sz="2800" b="1" spc="-20" dirty="0">
                <a:latin typeface="Calibri"/>
                <a:cs typeface="Calibri"/>
              </a:rPr>
              <a:t>have </a:t>
            </a:r>
            <a:r>
              <a:rPr sz="2800" b="1" spc="-5" dirty="0">
                <a:latin typeface="Calibri"/>
                <a:cs typeface="Calibri"/>
              </a:rPr>
              <a:t>both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 </a:t>
            </a:r>
            <a:r>
              <a:rPr sz="2800" b="1" spc="-5" dirty="0">
                <a:latin typeface="Calibri"/>
                <a:cs typeface="Calibri"/>
              </a:rPr>
              <a:t>in  them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somewhere.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3130"/>
              </a:lnSpc>
              <a:spcBef>
                <a:spcPts val="11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35" dirty="0">
                <a:latin typeface="Calibri"/>
                <a:cs typeface="Calibri"/>
              </a:rPr>
              <a:t>Words </a:t>
            </a:r>
            <a:r>
              <a:rPr sz="2800" b="1" spc="-5" dirty="0">
                <a:latin typeface="Calibri"/>
                <a:cs typeface="Calibri"/>
              </a:rPr>
              <a:t>which </a:t>
            </a:r>
            <a:r>
              <a:rPr sz="2800" b="1" spc="-15" dirty="0">
                <a:latin typeface="Calibri"/>
                <a:cs typeface="Calibri"/>
              </a:rPr>
              <a:t>are </a:t>
            </a:r>
            <a:r>
              <a:rPr sz="2800" b="1" spc="-5" dirty="0">
                <a:latin typeface="Calibri"/>
                <a:cs typeface="Calibri"/>
              </a:rPr>
              <a:t>not included in the </a:t>
            </a:r>
            <a:r>
              <a:rPr sz="2800" b="1" spc="-15" dirty="0">
                <a:latin typeface="Calibri"/>
                <a:cs typeface="Calibri"/>
              </a:rPr>
              <a:t>above  expression are words </a:t>
            </a:r>
            <a:r>
              <a:rPr sz="2800" b="1" spc="-5" dirty="0">
                <a:latin typeface="Calibri"/>
                <a:cs typeface="Calibri"/>
              </a:rPr>
              <a:t>of all </a:t>
            </a:r>
            <a:r>
              <a:rPr sz="2800" b="1" spc="-6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800" b="1" spc="-65" dirty="0">
                <a:latin typeface="Arial Narrow"/>
                <a:cs typeface="Arial Narrow"/>
              </a:rPr>
              <a:t>’</a:t>
            </a:r>
            <a:r>
              <a:rPr sz="2800" b="1" spc="-65" dirty="0">
                <a:latin typeface="Calibri"/>
                <a:cs typeface="Calibri"/>
              </a:rPr>
              <a:t>s, </a:t>
            </a: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85" dirty="0">
                <a:solidFill>
                  <a:srgbClr val="0000CC"/>
                </a:solidFill>
                <a:latin typeface="Calibri"/>
                <a:cs typeface="Calibri"/>
              </a:rPr>
              <a:t>b</a:t>
            </a:r>
            <a:r>
              <a:rPr sz="2800" b="1" spc="-85" dirty="0">
                <a:latin typeface="Arial Narrow"/>
                <a:cs typeface="Arial Narrow"/>
              </a:rPr>
              <a:t>’</a:t>
            </a:r>
            <a:r>
              <a:rPr sz="2800" b="1" spc="-85" dirty="0">
                <a:latin typeface="Calibri"/>
                <a:cs typeface="Calibri"/>
              </a:rPr>
              <a:t>s </a:t>
            </a:r>
            <a:r>
              <a:rPr sz="2800" b="1" spc="-5" dirty="0">
                <a:latin typeface="Calibri"/>
                <a:cs typeface="Calibri"/>
              </a:rPr>
              <a:t>or </a:t>
            </a:r>
            <a:r>
              <a:rPr sz="2800" b="1" spc="-5" dirty="0">
                <a:solidFill>
                  <a:srgbClr val="0000CC"/>
                </a:solidFill>
                <a:latin typeface="Symbol"/>
                <a:cs typeface="Symbol"/>
              </a:rPr>
              <a:t></a:t>
            </a:r>
            <a:r>
              <a:rPr sz="28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Wingdings 3"/>
                <a:cs typeface="Wingdings 3"/>
              </a:rPr>
              <a:t>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a*,</a:t>
            </a:r>
            <a:r>
              <a:rPr sz="2800" b="1" spc="229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b*</a:t>
            </a:r>
            <a:endParaRPr sz="2800">
              <a:latin typeface="Calibri"/>
              <a:cs typeface="Calibri"/>
            </a:endParaRPr>
          </a:p>
          <a:p>
            <a:pPr marL="355600" marR="352425" indent="-34290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60" dirty="0">
                <a:latin typeface="Calibri"/>
                <a:cs typeface="Calibri"/>
              </a:rPr>
              <a:t>Now, </a:t>
            </a:r>
            <a:r>
              <a:rPr sz="2800" b="1" spc="-15" dirty="0">
                <a:latin typeface="Calibri"/>
                <a:cs typeface="Calibri"/>
              </a:rPr>
              <a:t>we </a:t>
            </a:r>
            <a:r>
              <a:rPr sz="2800" b="1" spc="-20" dirty="0">
                <a:latin typeface="Calibri"/>
                <a:cs typeface="Calibri"/>
              </a:rPr>
              <a:t>have </a:t>
            </a:r>
            <a:r>
              <a:rPr sz="2800" b="1" spc="-5" dirty="0">
                <a:latin typeface="Calibri"/>
                <a:cs typeface="Calibri"/>
              </a:rPr>
              <a:t>all </a:t>
            </a:r>
            <a:r>
              <a:rPr sz="2800" b="1" spc="-15" dirty="0">
                <a:latin typeface="Calibri"/>
                <a:cs typeface="Calibri"/>
              </a:rPr>
              <a:t>words </a:t>
            </a:r>
            <a:r>
              <a:rPr sz="2800" b="1" spc="-5" dirty="0">
                <a:latin typeface="Calibri"/>
                <a:cs typeface="Calibri"/>
              </a:rPr>
              <a:t>which </a:t>
            </a:r>
            <a:r>
              <a:rPr sz="2800" b="1" spc="-10" dirty="0">
                <a:latin typeface="Calibri"/>
                <a:cs typeface="Calibri"/>
              </a:rPr>
              <a:t>can </a:t>
            </a:r>
            <a:r>
              <a:rPr sz="2800" b="1" spc="-5" dirty="0">
                <a:latin typeface="Calibri"/>
                <a:cs typeface="Calibri"/>
              </a:rPr>
              <a:t>be </a:t>
            </a:r>
            <a:r>
              <a:rPr sz="2800" b="1" spc="-25" dirty="0">
                <a:latin typeface="Calibri"/>
                <a:cs typeface="Calibri"/>
              </a:rPr>
              <a:t>generated  </a:t>
            </a:r>
            <a:r>
              <a:rPr sz="2800" b="1" spc="-15" dirty="0">
                <a:latin typeface="Calibri"/>
                <a:cs typeface="Calibri"/>
              </a:rPr>
              <a:t>above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alphabet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465"/>
              </a:spcBef>
            </a:pP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4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b)* </a:t>
            </a:r>
            <a:r>
              <a:rPr sz="2400" b="1" spc="-235" dirty="0">
                <a:latin typeface="Arial Narrow"/>
                <a:cs typeface="Arial Narrow"/>
              </a:rPr>
              <a:t>=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4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b)*a (a</a:t>
            </a:r>
            <a:r>
              <a:rPr sz="24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b)*b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(a</a:t>
            </a:r>
            <a:r>
              <a:rPr sz="24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b)*</a:t>
            </a:r>
            <a:r>
              <a:rPr sz="2400" b="1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bb*aa* </a:t>
            </a:r>
            <a:r>
              <a:rPr sz="24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a* </a:t>
            </a:r>
            <a:r>
              <a:rPr sz="2400" b="1" spc="-5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2400" b="1" spc="-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CC"/>
                </a:solidFill>
                <a:latin typeface="Calibri"/>
                <a:cs typeface="Calibri"/>
              </a:rPr>
              <a:t>b*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87997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948" y="461594"/>
            <a:ext cx="462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</a:t>
            </a:r>
            <a:r>
              <a:rPr spc="-8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382" y="1413125"/>
            <a:ext cx="8894618" cy="426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021205">
              <a:lnSpc>
                <a:spcPct val="1201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n-US" sz="2400" b="1" dirty="0">
                <a:latin typeface="Calibri"/>
                <a:cs typeface="Calibri"/>
              </a:rPr>
              <a:t>Design Regex for the following languages over {</a:t>
            </a:r>
            <a:r>
              <a:rPr lang="en-US" sz="2400" b="1" dirty="0" err="1">
                <a:latin typeface="Calibri"/>
                <a:cs typeface="Calibri"/>
              </a:rPr>
              <a:t>a,b</a:t>
            </a:r>
            <a:r>
              <a:rPr lang="en-US" sz="2400" b="1" dirty="0">
                <a:latin typeface="Calibri"/>
                <a:cs typeface="Calibri"/>
              </a:rPr>
              <a:t>}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3" y="1995054"/>
            <a:ext cx="8174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Language accepting strings of length exactly 2</a:t>
            </a:r>
          </a:p>
          <a:p>
            <a:pPr marL="342900" indent="-342900">
              <a:buFontTx/>
              <a:buAutoNum type="arabicParenR"/>
            </a:pPr>
            <a:r>
              <a:rPr lang="en-US" dirty="0"/>
              <a:t>Language accepting strings of length </a:t>
            </a:r>
            <a:r>
              <a:rPr lang="en-US" dirty="0" err="1"/>
              <a:t>atleast</a:t>
            </a:r>
            <a:r>
              <a:rPr lang="en-US" dirty="0"/>
              <a:t> 2</a:t>
            </a:r>
          </a:p>
          <a:p>
            <a:pPr marL="342900" indent="-342900">
              <a:buFontTx/>
              <a:buAutoNum type="arabicParenR"/>
            </a:pPr>
            <a:r>
              <a:rPr lang="en-US" dirty="0"/>
              <a:t>Language accepting strings of length </a:t>
            </a:r>
            <a:r>
              <a:rPr lang="en-US" dirty="0" err="1"/>
              <a:t>atmost</a:t>
            </a:r>
            <a:r>
              <a:rPr lang="en-US" dirty="0"/>
              <a:t>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3" y="3073850"/>
            <a:ext cx="2900216" cy="1323439"/>
          </a:xfrm>
          <a:prstGeom prst="rec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L</a:t>
            </a:r>
            <a:r>
              <a:rPr lang="en-US" sz="2000" baseline="-25000" dirty="0"/>
              <a:t>1</a:t>
            </a:r>
            <a:r>
              <a:rPr lang="en-US" sz="2000" dirty="0"/>
              <a:t> = {aa, ab, </a:t>
            </a:r>
            <a:r>
              <a:rPr lang="en-US" sz="2000" dirty="0" err="1"/>
              <a:t>ba</a:t>
            </a:r>
            <a:r>
              <a:rPr lang="en-US" sz="2000" dirty="0"/>
              <a:t>, bb}</a:t>
            </a:r>
          </a:p>
          <a:p>
            <a:r>
              <a:rPr lang="en-US" sz="2000" dirty="0"/>
              <a:t>       R = aa + ab + </a:t>
            </a:r>
            <a:r>
              <a:rPr lang="en-US" sz="2000" dirty="0" err="1"/>
              <a:t>ba</a:t>
            </a:r>
            <a:r>
              <a:rPr lang="en-US" sz="2000" dirty="0"/>
              <a:t> + bb</a:t>
            </a:r>
          </a:p>
          <a:p>
            <a:r>
              <a:rPr lang="en-US" sz="2000" dirty="0"/>
              <a:t>          = a(</a:t>
            </a:r>
            <a:r>
              <a:rPr lang="en-US" sz="2000" dirty="0" err="1"/>
              <a:t>a+b</a:t>
            </a:r>
            <a:r>
              <a:rPr lang="en-US" sz="2000" dirty="0"/>
              <a:t>) + b(</a:t>
            </a:r>
            <a:r>
              <a:rPr lang="en-US" sz="2000" dirty="0" err="1"/>
              <a:t>a+b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= (</a:t>
            </a:r>
            <a:r>
              <a:rPr lang="en-US" sz="2000" dirty="0" err="1"/>
              <a:t>a+b</a:t>
            </a:r>
            <a:r>
              <a:rPr lang="en-US" sz="2000" dirty="0"/>
              <a:t>) (</a:t>
            </a:r>
            <a:r>
              <a:rPr lang="en-US" sz="2000" dirty="0" err="1"/>
              <a:t>a+b</a:t>
            </a:r>
            <a:r>
              <a:rPr lang="en-US" sz="20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7055" y="3427792"/>
            <a:ext cx="4682836" cy="707886"/>
          </a:xfrm>
          <a:prstGeom prst="rec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2)   L</a:t>
            </a:r>
            <a:r>
              <a:rPr lang="en-US" sz="2000" baseline="-25000" dirty="0"/>
              <a:t>1</a:t>
            </a:r>
            <a:r>
              <a:rPr lang="en-US" sz="2000" dirty="0"/>
              <a:t> = {aa, ab, </a:t>
            </a:r>
            <a:r>
              <a:rPr lang="en-US" sz="2000" dirty="0" err="1"/>
              <a:t>ba</a:t>
            </a:r>
            <a:r>
              <a:rPr lang="en-US" sz="2000" dirty="0"/>
              <a:t>, bb, </a:t>
            </a:r>
            <a:r>
              <a:rPr lang="en-US" sz="2000" dirty="0" err="1"/>
              <a:t>aaa</a:t>
            </a:r>
            <a:r>
              <a:rPr lang="en-US" sz="2000" dirty="0"/>
              <a:t>, aba, …..}</a:t>
            </a:r>
          </a:p>
          <a:p>
            <a:r>
              <a:rPr lang="en-US" sz="2000" dirty="0"/>
              <a:t>       R = (</a:t>
            </a:r>
            <a:r>
              <a:rPr lang="en-US" sz="2000" dirty="0" err="1"/>
              <a:t>a+b</a:t>
            </a:r>
            <a:r>
              <a:rPr lang="en-US" sz="2000" dirty="0"/>
              <a:t>) (</a:t>
            </a:r>
            <a:r>
              <a:rPr lang="en-US" sz="2000" dirty="0" err="1"/>
              <a:t>a+b</a:t>
            </a:r>
            <a:r>
              <a:rPr lang="en-US" sz="2000" dirty="0"/>
              <a:t>) (</a:t>
            </a:r>
            <a:r>
              <a:rPr lang="en-US" sz="2000" dirty="0" err="1"/>
              <a:t>a+b</a:t>
            </a:r>
            <a:r>
              <a:rPr lang="en-US" sz="2000" dirty="0"/>
              <a:t>)*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276" y="4769723"/>
            <a:ext cx="4438070" cy="1015663"/>
          </a:xfrm>
          <a:prstGeom prst="rect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3)   L</a:t>
            </a:r>
            <a:r>
              <a:rPr lang="en-US" sz="2000" baseline="-25000" dirty="0"/>
              <a:t>1</a:t>
            </a:r>
            <a:r>
              <a:rPr lang="en-US" sz="2000" dirty="0"/>
              <a:t> = {</a:t>
            </a:r>
            <a:r>
              <a:rPr lang="en-US" sz="2000" spc="5" dirty="0">
                <a:latin typeface="Symbol"/>
                <a:cs typeface="Symbol"/>
              </a:rPr>
              <a:t></a:t>
            </a:r>
            <a:r>
              <a:rPr lang="en-US" sz="2000" dirty="0"/>
              <a:t>, a, b, aa, </a:t>
            </a:r>
            <a:r>
              <a:rPr lang="en-US" sz="2000" dirty="0" err="1"/>
              <a:t>ba</a:t>
            </a:r>
            <a:r>
              <a:rPr lang="en-US" sz="2000" dirty="0"/>
              <a:t>, bb}</a:t>
            </a:r>
          </a:p>
          <a:p>
            <a:r>
              <a:rPr lang="en-US" sz="2000" dirty="0"/>
              <a:t>       R = </a:t>
            </a:r>
            <a:r>
              <a:rPr lang="en-US" sz="2000" spc="5" dirty="0">
                <a:latin typeface="Symbol"/>
                <a:cs typeface="Symbol"/>
              </a:rPr>
              <a:t> </a:t>
            </a:r>
            <a:r>
              <a:rPr lang="en-US" sz="2000" dirty="0"/>
              <a:t>+ a + b + aa + </a:t>
            </a:r>
            <a:r>
              <a:rPr lang="en-US" sz="2000" dirty="0" err="1"/>
              <a:t>ba</a:t>
            </a:r>
            <a:r>
              <a:rPr lang="en-US" sz="2000" dirty="0"/>
              <a:t> + bb</a:t>
            </a:r>
          </a:p>
          <a:p>
            <a:r>
              <a:rPr lang="en-US" sz="2000" dirty="0"/>
              <a:t>          = (</a:t>
            </a:r>
            <a:r>
              <a:rPr lang="en-US" sz="2000" spc="5" dirty="0">
                <a:latin typeface="Symbol"/>
                <a:cs typeface="Symbol"/>
              </a:rPr>
              <a:t></a:t>
            </a:r>
            <a:r>
              <a:rPr lang="en-US" sz="2000" dirty="0"/>
              <a:t> + a + b) (</a:t>
            </a:r>
            <a:r>
              <a:rPr lang="en-US" sz="2000" spc="5" dirty="0">
                <a:latin typeface="Symbol"/>
                <a:cs typeface="Symbol"/>
              </a:rPr>
              <a:t></a:t>
            </a:r>
            <a:r>
              <a:rPr lang="en-US" sz="2000" dirty="0"/>
              <a:t> + a + b)</a:t>
            </a:r>
          </a:p>
        </p:txBody>
      </p:sp>
    </p:spTree>
    <p:extLst>
      <p:ext uri="{BB962C8B-B14F-4D97-AF65-F5344CB8AC3E}">
        <p14:creationId xmlns:p14="http://schemas.microsoft.com/office/powerpoint/2010/main" val="157018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340"/>
              </a:lnSpc>
            </a:pPr>
            <a:r>
              <a:rPr dirty="0"/>
              <a:t>73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371850" y="461594"/>
            <a:ext cx="24028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solidFill>
                  <a:srgbClr val="C00000"/>
                </a:solidFill>
                <a:latin typeface="Calibri"/>
                <a:cs typeface="Calibri"/>
              </a:rPr>
              <a:t>Note</a:t>
            </a:r>
            <a:r>
              <a:rPr sz="44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10" dirty="0">
                <a:solidFill>
                  <a:srgbClr val="C00000"/>
                </a:solidFill>
                <a:latin typeface="Calibri"/>
                <a:cs typeface="Calibri"/>
              </a:rPr>
              <a:t>that: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32369"/>
            <a:ext cx="2476500" cy="298894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355600" algn="l"/>
              </a:tabLst>
            </a:pPr>
            <a:r>
              <a:rPr sz="5400" b="1" spc="-10" dirty="0">
                <a:latin typeface="Calibri"/>
                <a:cs typeface="Calibri"/>
              </a:rPr>
              <a:t>Sets</a:t>
            </a:r>
            <a:endParaRPr sz="5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5600" algn="l"/>
              </a:tabLst>
            </a:pPr>
            <a:r>
              <a:rPr sz="5400" b="1" spc="-10" dirty="0">
                <a:latin typeface="Calibri"/>
                <a:cs typeface="Calibri"/>
              </a:rPr>
              <a:t>Set</a:t>
            </a:r>
            <a:r>
              <a:rPr sz="5400" b="1" spc="-95" dirty="0">
                <a:latin typeface="Calibri"/>
                <a:cs typeface="Calibri"/>
              </a:rPr>
              <a:t> </a:t>
            </a:r>
            <a:r>
              <a:rPr sz="5400" b="1" spc="-25" dirty="0">
                <a:latin typeface="Calibri"/>
                <a:cs typeface="Calibri"/>
              </a:rPr>
              <a:t>size</a:t>
            </a:r>
            <a:endParaRPr sz="5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5600" algn="l"/>
              </a:tabLst>
            </a:pPr>
            <a:r>
              <a:rPr sz="5400" b="1" spc="-10" dirty="0">
                <a:latin typeface="Calibri"/>
                <a:cs typeface="Calibri"/>
              </a:rPr>
              <a:t>Set</a:t>
            </a:r>
            <a:r>
              <a:rPr sz="5400" b="1" spc="-95" dirty="0">
                <a:latin typeface="Calibri"/>
                <a:cs typeface="Calibri"/>
              </a:rPr>
              <a:t> </a:t>
            </a:r>
            <a:r>
              <a:rPr sz="5400" b="1" spc="-25" dirty="0">
                <a:latin typeface="Calibri"/>
                <a:cs typeface="Calibri"/>
              </a:rPr>
              <a:t>size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4175" y="1432369"/>
            <a:ext cx="3965575" cy="298894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5400" b="1" spc="-5" dirty="0">
                <a:latin typeface="Symbol"/>
                <a:cs typeface="Symbol"/>
              </a:rPr>
              <a:t></a:t>
            </a:r>
            <a:r>
              <a:rPr sz="5400" b="1" spc="-5" dirty="0">
                <a:latin typeface="Times New Roman"/>
                <a:cs typeface="Times New Roman"/>
              </a:rPr>
              <a:t> </a:t>
            </a:r>
            <a:r>
              <a:rPr sz="5400" b="1" dirty="0">
                <a:latin typeface="Calibri"/>
                <a:cs typeface="Calibri"/>
              </a:rPr>
              <a:t>= { } ≠</a:t>
            </a:r>
            <a:r>
              <a:rPr sz="5400" b="1" spc="-170" dirty="0">
                <a:latin typeface="Calibri"/>
                <a:cs typeface="Calibri"/>
              </a:rPr>
              <a:t> </a:t>
            </a:r>
            <a:r>
              <a:rPr sz="5400" b="1" spc="5" dirty="0">
                <a:latin typeface="Calibri"/>
                <a:cs typeface="Calibri"/>
              </a:rPr>
              <a:t>{</a:t>
            </a:r>
            <a:r>
              <a:rPr sz="5400" b="1" spc="5" dirty="0">
                <a:latin typeface="Symbol"/>
                <a:cs typeface="Symbol"/>
              </a:rPr>
              <a:t></a:t>
            </a:r>
            <a:r>
              <a:rPr sz="5400" b="1" spc="5" dirty="0">
                <a:latin typeface="Calibri"/>
                <a:cs typeface="Calibri"/>
              </a:rPr>
              <a:t>}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5400" b="1" spc="-5" dirty="0">
                <a:latin typeface="Calibri"/>
                <a:cs typeface="Calibri"/>
              </a:rPr>
              <a:t>|{ </a:t>
            </a:r>
            <a:r>
              <a:rPr sz="5400" b="1" dirty="0">
                <a:latin typeface="Calibri"/>
                <a:cs typeface="Calibri"/>
              </a:rPr>
              <a:t>}| = |</a:t>
            </a:r>
            <a:r>
              <a:rPr sz="5400" b="1" dirty="0">
                <a:latin typeface="Symbol"/>
                <a:cs typeface="Symbol"/>
              </a:rPr>
              <a:t></a:t>
            </a:r>
            <a:r>
              <a:rPr sz="5400" b="1" dirty="0">
                <a:latin typeface="Calibri"/>
                <a:cs typeface="Calibri"/>
              </a:rPr>
              <a:t>| =</a:t>
            </a:r>
            <a:r>
              <a:rPr sz="5400" b="1" spc="-105" dirty="0">
                <a:latin typeface="Calibri"/>
                <a:cs typeface="Calibri"/>
              </a:rPr>
              <a:t> </a:t>
            </a:r>
            <a:r>
              <a:rPr sz="5400" b="1" dirty="0">
                <a:latin typeface="Calibri"/>
                <a:cs typeface="Calibri"/>
              </a:rPr>
              <a:t>0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5400" b="1" dirty="0">
                <a:latin typeface="Calibri"/>
                <a:cs typeface="Calibri"/>
              </a:rPr>
              <a:t>|{</a:t>
            </a:r>
            <a:r>
              <a:rPr sz="5400" b="1" dirty="0">
                <a:latin typeface="Symbol"/>
                <a:cs typeface="Symbol"/>
              </a:rPr>
              <a:t></a:t>
            </a:r>
            <a:r>
              <a:rPr sz="5400" b="1" dirty="0">
                <a:latin typeface="Calibri"/>
                <a:cs typeface="Calibri"/>
              </a:rPr>
              <a:t>}| =</a:t>
            </a:r>
            <a:r>
              <a:rPr sz="5400" b="1" spc="-25" dirty="0">
                <a:latin typeface="Calibri"/>
                <a:cs typeface="Calibri"/>
              </a:rPr>
              <a:t> </a:t>
            </a:r>
            <a:r>
              <a:rPr sz="5400" b="1" dirty="0"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560265"/>
            <a:ext cx="6780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4740910" algn="l"/>
              </a:tabLst>
            </a:pPr>
            <a:r>
              <a:rPr sz="5400" b="1" dirty="0">
                <a:latin typeface="Calibri"/>
                <a:cs typeface="Calibri"/>
              </a:rPr>
              <a:t>String</a:t>
            </a:r>
            <a:r>
              <a:rPr sz="5400" b="1" spc="5" dirty="0">
                <a:latin typeface="Calibri"/>
                <a:cs typeface="Calibri"/>
              </a:rPr>
              <a:t> </a:t>
            </a:r>
            <a:r>
              <a:rPr sz="5400" b="1" spc="-10" dirty="0">
                <a:latin typeface="Calibri"/>
                <a:cs typeface="Calibri"/>
              </a:rPr>
              <a:t>length	</a:t>
            </a:r>
            <a:r>
              <a:rPr sz="5400" b="1" dirty="0">
                <a:latin typeface="Calibri"/>
                <a:cs typeface="Calibri"/>
              </a:rPr>
              <a:t>|</a:t>
            </a:r>
            <a:r>
              <a:rPr sz="5400" b="1" dirty="0">
                <a:latin typeface="Symbol"/>
                <a:cs typeface="Symbol"/>
              </a:rPr>
              <a:t></a:t>
            </a:r>
            <a:r>
              <a:rPr sz="5400" b="1" dirty="0">
                <a:latin typeface="Calibri"/>
                <a:cs typeface="Calibri"/>
              </a:rPr>
              <a:t>| =</a:t>
            </a:r>
            <a:r>
              <a:rPr sz="5400" b="1" spc="-110" dirty="0">
                <a:latin typeface="Calibri"/>
                <a:cs typeface="Calibri"/>
              </a:rPr>
              <a:t> </a:t>
            </a:r>
            <a:r>
              <a:rPr sz="5400" b="1" dirty="0">
                <a:latin typeface="Calibri"/>
                <a:cs typeface="Calibri"/>
              </a:rPr>
              <a:t>0</a:t>
            </a:r>
            <a:endParaRPr sz="5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8744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6505" y="461594"/>
            <a:ext cx="2573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662971" y="1548652"/>
            <a:ext cx="3453402" cy="4204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0610" y="1541890"/>
            <a:ext cx="3607534" cy="4524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Sept2011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pc="-5" dirty="0"/>
              <a:t>Theory </a:t>
            </a:r>
            <a:r>
              <a:rPr spc="5" dirty="0"/>
              <a:t>of </a:t>
            </a:r>
            <a:r>
              <a:rPr dirty="0"/>
              <a:t>Computer</a:t>
            </a:r>
            <a:r>
              <a:rPr spc="-10" dirty="0"/>
              <a:t> </a:t>
            </a:r>
            <a:r>
              <a:rPr spc="-5" dirty="0"/>
              <a:t>Science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98002" y="6443494"/>
            <a:ext cx="208279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40"/>
              </a:lnSpc>
            </a:pPr>
            <a:r>
              <a:rPr sz="1200" b="1" spc="-5" dirty="0">
                <a:solidFill>
                  <a:srgbClr val="888888"/>
                </a:solidFill>
                <a:latin typeface="Courier New"/>
                <a:cs typeface="Courier New"/>
              </a:rPr>
              <a:t>75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220343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292" y="1598325"/>
            <a:ext cx="8049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Convert the following Regex to their equivalent DFA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56" y="2372735"/>
            <a:ext cx="2677634" cy="26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719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Exercise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891" y="2462933"/>
            <a:ext cx="5800436" cy="3244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292" y="1598325"/>
            <a:ext cx="7639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 Find the Regular Expression for the following DFA</a:t>
            </a:r>
          </a:p>
        </p:txBody>
      </p:sp>
    </p:spTree>
    <p:extLst>
      <p:ext uri="{BB962C8B-B14F-4D97-AF65-F5344CB8AC3E}">
        <p14:creationId xmlns:p14="http://schemas.microsoft.com/office/powerpoint/2010/main" val="2483344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4E2F4E07-EA4C-5F40-996A-49164CDBC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4ED8BF02-B606-B145-8DFD-29AE37EE97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ctr" defTabSz="914400" eaLnBrk="1" hangingPunct="1">
              <a:spcBef>
                <a:spcPct val="0"/>
              </a:spcBef>
              <a:buFontTx/>
              <a:buNone/>
            </a:pPr>
            <a:endParaRPr lang="en-US" altLang="en-US" sz="6000"/>
          </a:p>
          <a:p>
            <a:pPr marL="0" indent="0" algn="ctr"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6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369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27798</TotalTime>
  <Words>4588</Words>
  <Application>Microsoft Office PowerPoint</Application>
  <PresentationFormat>On-screen Show (4:3)</PresentationFormat>
  <Paragraphs>526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Arial</vt:lpstr>
      <vt:lpstr>Arial Narrow</vt:lpstr>
      <vt:lpstr>Calibri</vt:lpstr>
      <vt:lpstr>Calibri Light</vt:lpstr>
      <vt:lpstr>Constantia</vt:lpstr>
      <vt:lpstr>Courier New</vt:lpstr>
      <vt:lpstr>Symbol</vt:lpstr>
      <vt:lpstr>Times New Roman</vt:lpstr>
      <vt:lpstr>Wingdings</vt:lpstr>
      <vt:lpstr>Wingdings 3</vt:lpstr>
      <vt:lpstr>Office Theme</vt:lpstr>
      <vt:lpstr>PowerPoint Presentation</vt:lpstr>
      <vt:lpstr>Aim in this Chapter</vt:lpstr>
      <vt:lpstr>What is Regular Expression (regex)?</vt:lpstr>
      <vt:lpstr>What is Regular Expression (regex)?</vt:lpstr>
      <vt:lpstr>Strings and Alphabet</vt:lpstr>
      <vt:lpstr>Strings and Alphabet</vt:lpstr>
      <vt:lpstr>Strings and Alphabet</vt:lpstr>
      <vt:lpstr>Strings and Alphabet</vt:lpstr>
      <vt:lpstr>Length of String</vt:lpstr>
      <vt:lpstr>Length of String (cont.)</vt:lpstr>
      <vt:lpstr>Concatenation of String</vt:lpstr>
      <vt:lpstr>Self Concatenation</vt:lpstr>
      <vt:lpstr>Concatenation</vt:lpstr>
      <vt:lpstr>Substring</vt:lpstr>
      <vt:lpstr>Prefix</vt:lpstr>
      <vt:lpstr>Suffix</vt:lpstr>
      <vt:lpstr>Reverse</vt:lpstr>
      <vt:lpstr>Finite Spec. of Languages</vt:lpstr>
      <vt:lpstr>PALINDROME language</vt:lpstr>
      <vt:lpstr>PALINDROME</vt:lpstr>
      <vt:lpstr>Kleene Closure / Star</vt:lpstr>
      <vt:lpstr>Kleene Closure / Star</vt:lpstr>
      <vt:lpstr>Kleene Closure / Star</vt:lpstr>
      <vt:lpstr>Kleene star (cont.)</vt:lpstr>
      <vt:lpstr>Definition of S*</vt:lpstr>
      <vt:lpstr>Example</vt:lpstr>
      <vt:lpstr>Example</vt:lpstr>
      <vt:lpstr>Example</vt:lpstr>
      <vt:lpstr>Kleene Plus / Positive closure +</vt:lpstr>
      <vt:lpstr>S+</vt:lpstr>
      <vt:lpstr>S* and S**</vt:lpstr>
      <vt:lpstr>Regular Expressions</vt:lpstr>
      <vt:lpstr>Regular Expressions</vt:lpstr>
      <vt:lpstr>Regular Expressions</vt:lpstr>
      <vt:lpstr>Formal definition of  regular expressions</vt:lpstr>
      <vt:lpstr>Regular Expression</vt:lpstr>
      <vt:lpstr>Regular Expressions</vt:lpstr>
      <vt:lpstr>Regular Expressions</vt:lpstr>
      <vt:lpstr>IN or NOT IN?</vt:lpstr>
      <vt:lpstr>Regular Expressions</vt:lpstr>
      <vt:lpstr>Regular Expressions</vt:lpstr>
      <vt:lpstr>Regular Expressions</vt:lpstr>
      <vt:lpstr>Language(x*)</vt:lpstr>
      <vt:lpstr>Example</vt:lpstr>
      <vt:lpstr>(ab)*</vt:lpstr>
      <vt:lpstr>(xx*) vs. (x+)</vt:lpstr>
      <vt:lpstr>L1 = (xx*) and L1 = (x+)</vt:lpstr>
      <vt:lpstr>Example</vt:lpstr>
      <vt:lpstr>Example</vt:lpstr>
      <vt:lpstr>a*b* vs. (ab)*</vt:lpstr>
      <vt:lpstr>Regular Operations</vt:lpstr>
      <vt:lpstr>Union ()</vt:lpstr>
      <vt:lpstr>Example</vt:lpstr>
      <vt:lpstr>Finite language L</vt:lpstr>
      <vt:lpstr>Finite language (cont.)</vt:lpstr>
      <vt:lpstr>Examples</vt:lpstr>
      <vt:lpstr>Null Language</vt:lpstr>
      <vt:lpstr>Example</vt:lpstr>
      <vt:lpstr>Union of two languages</vt:lpstr>
      <vt:lpstr>Example</vt:lpstr>
      <vt:lpstr>Example</vt:lpstr>
      <vt:lpstr>Equivalent expressions</vt:lpstr>
      <vt:lpstr>Example</vt:lpstr>
      <vt:lpstr>Example</vt:lpstr>
      <vt:lpstr>Example</vt:lpstr>
      <vt:lpstr>(ab)*</vt:lpstr>
      <vt:lpstr>Regular Expressions</vt:lpstr>
      <vt:lpstr>PowerPoint Presentation</vt:lpstr>
      <vt:lpstr>References</vt:lpstr>
      <vt:lpstr>Lab Exercise</vt:lpstr>
      <vt:lpstr>Lab 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User</cp:lastModifiedBy>
  <cp:revision>314</cp:revision>
  <cp:lastPrinted>2019-09-04T05:40:15Z</cp:lastPrinted>
  <dcterms:created xsi:type="dcterms:W3CDTF">2018-11-30T08:11:30Z</dcterms:created>
  <dcterms:modified xsi:type="dcterms:W3CDTF">2020-07-16T08:10:40Z</dcterms:modified>
</cp:coreProperties>
</file>